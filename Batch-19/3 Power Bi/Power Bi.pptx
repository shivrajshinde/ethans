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85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84" r:id="rId13"/>
    <p:sldId id="267" r:id="rId14"/>
    <p:sldId id="268" r:id="rId15"/>
    <p:sldId id="274" r:id="rId16"/>
    <p:sldId id="275" r:id="rId17"/>
    <p:sldId id="276" r:id="rId18"/>
    <p:sldId id="286" r:id="rId19"/>
    <p:sldId id="277" r:id="rId20"/>
    <p:sldId id="278" r:id="rId21"/>
    <p:sldId id="279" r:id="rId22"/>
    <p:sldId id="280" r:id="rId23"/>
    <p:sldId id="281" r:id="rId24"/>
    <p:sldId id="287" r:id="rId25"/>
    <p:sldId id="288" r:id="rId26"/>
    <p:sldId id="289" r:id="rId27"/>
    <p:sldId id="290" r:id="rId28"/>
    <p:sldId id="270" r:id="rId29"/>
    <p:sldId id="271" r:id="rId30"/>
    <p:sldId id="272" r:id="rId31"/>
    <p:sldId id="27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773B0-9C71-4C42-839B-CED3341CD23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19E2E-A086-4A91-BA90-9CB5CDABE9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9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19E2E-A086-4A91-BA90-9CB5CDABE96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951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7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78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62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43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8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7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36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2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44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0470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759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38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539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2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18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C8321A5-74C1-4574-A6AA-F1EDDDF12D9F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31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66580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ce Between Power BI and Tabl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54" y="553163"/>
            <a:ext cx="10770571" cy="444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36260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8335" y="391886"/>
            <a:ext cx="35549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Power Bi Desktop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Power query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Modelling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DAX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Visual 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Power Bi Services</a:t>
            </a:r>
          </a:p>
          <a:p>
            <a:endParaRPr lang="en-US" dirty="0" smtClean="0">
              <a:latin typeface="Candara" panose="020E0502030303020204" pitchFamily="34" charset="0"/>
            </a:endParaRPr>
          </a:p>
          <a:p>
            <a:r>
              <a:rPr lang="en-US" dirty="0" smtClean="0">
                <a:latin typeface="Candara" panose="020E0502030303020204" pitchFamily="34" charset="0"/>
              </a:rPr>
              <a:t>Power Bi Mobile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30569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2" y="251926"/>
            <a:ext cx="10470520" cy="34446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62" y="2996812"/>
            <a:ext cx="7535258" cy="32686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611333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43" y="243840"/>
            <a:ext cx="11796793" cy="6244810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5334" y="1162629"/>
            <a:ext cx="109541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Report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(Bar chart icon): Used to create and view your report visualizations.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Table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(Grid icon): Used to view and manage the data within your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Model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(Relationship diagram icon): Used to manage relationships between different data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DAX Query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(Document icon with "DAX"): Used to write and run DAX (Data Analysis Expressions)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TMDL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(Document icon with "TMDL"): Used for working with Tabular Model Definition Language files.</a:t>
            </a:r>
          </a:p>
        </p:txBody>
      </p:sp>
    </p:spTree>
    <p:extLst>
      <p:ext uri="{BB962C8B-B14F-4D97-AF65-F5344CB8AC3E}">
        <p14:creationId xmlns:p14="http://schemas.microsoft.com/office/powerpoint/2010/main" val="337047136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1" y="105312"/>
            <a:ext cx="9871787" cy="6457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334161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5" y="345232"/>
            <a:ext cx="13427604" cy="57688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615594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64" y="712060"/>
            <a:ext cx="11347673" cy="59313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70588" y="16795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Model View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4438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5" y="662473"/>
            <a:ext cx="11796782" cy="73767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33265" y="13452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Data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904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2" y="653143"/>
            <a:ext cx="11829127" cy="6137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7722" y="13452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DAX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6753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3" y="780243"/>
            <a:ext cx="14616427" cy="42447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287722" y="13452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Transform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47257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7812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27" y="810212"/>
            <a:ext cx="14364945" cy="35207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51927" y="177282"/>
            <a:ext cx="151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Power 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57053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886" y="475861"/>
            <a:ext cx="31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Modelling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1886" y="1583956"/>
            <a:ext cx="8265518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Relationships</a:t>
            </a:r>
            <a:r>
              <a:rPr lang="en-US" altLang="en-US" b="1" dirty="0">
                <a:latin typeface="Candara" panose="020E0502030303020204" pitchFamily="34" charset="0"/>
              </a:rPr>
              <a:t> Cardinality &amp; Cross Filter Direction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Star Schema vs. Snowflake Schema: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Structural organization of Fact and Dimension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Creating &amp; Managing Relationships: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Active vs. inactive relationship paths.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Date Table Creation: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Generating continuous calendar dimensions for Time Intelligence functions.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Hierarchies: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Parent-child drill-down paths (e.g., Year &gt; Quarter &gt; Month &gt; Day).</a:t>
            </a:r>
          </a:p>
        </p:txBody>
      </p:sp>
    </p:spTree>
    <p:extLst>
      <p:ext uri="{BB962C8B-B14F-4D97-AF65-F5344CB8AC3E}">
        <p14:creationId xmlns:p14="http://schemas.microsoft.com/office/powerpoint/2010/main" val="31707091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3793" y="17582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Candara" panose="020E0502030303020204" pitchFamily="34" charset="0"/>
              </a:rPr>
              <a:t>Relationships</a:t>
            </a:r>
            <a:r>
              <a:rPr lang="en-US" altLang="en-US" b="1" dirty="0" smtClean="0">
                <a:latin typeface="Candara" panose="020E0502030303020204" pitchFamily="34" charset="0"/>
              </a:rPr>
              <a:t>:</a:t>
            </a: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9823" y="750011"/>
            <a:ext cx="15824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One-to-many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One to One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Many to Many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488" y="1211676"/>
            <a:ext cx="6696269" cy="34258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719823" y="2654398"/>
            <a:ext cx="1451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Candara" panose="020E0502030303020204" pitchFamily="34" charset="0"/>
              </a:rPr>
              <a:t>One-to-many</a:t>
            </a:r>
          </a:p>
        </p:txBody>
      </p:sp>
    </p:spTree>
    <p:extLst>
      <p:ext uri="{BB962C8B-B14F-4D97-AF65-F5344CB8AC3E}">
        <p14:creationId xmlns:p14="http://schemas.microsoft.com/office/powerpoint/2010/main" val="368120211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54" y="1280501"/>
            <a:ext cx="9412617" cy="3822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454352" y="373314"/>
            <a:ext cx="1319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One-to-One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02006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807"/>
          <a:stretch/>
        </p:blipFill>
        <p:spPr>
          <a:xfrm>
            <a:off x="2143433" y="1392032"/>
            <a:ext cx="9674942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427958" y="225831"/>
            <a:ext cx="1582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Many to Many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9451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6644" y="1896468"/>
            <a:ext cx="1116944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Candara" panose="020E0502030303020204" pitchFamily="34" charset="0"/>
              </a:rPr>
              <a:t>Star Schema vs. Snowflake Schema</a:t>
            </a:r>
            <a:r>
              <a:rPr lang="en-US" altLang="en-US" sz="3200" b="1" dirty="0" smtClean="0">
                <a:latin typeface="Candara" panose="020E0502030303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Candara" panose="020E0502030303020204" pitchFamily="34" charset="0"/>
              </a:rPr>
              <a:t>Before we go for </a:t>
            </a:r>
            <a:r>
              <a:rPr lang="en-US" altLang="en-US" dirty="0">
                <a:latin typeface="Candara" panose="020E0502030303020204" pitchFamily="34" charset="0"/>
              </a:rPr>
              <a:t>Star Schema </a:t>
            </a:r>
            <a:r>
              <a:rPr lang="en-US" altLang="en-US" dirty="0" smtClean="0">
                <a:latin typeface="Candara" panose="020E0502030303020204" pitchFamily="34" charset="0"/>
              </a:rPr>
              <a:t>and  </a:t>
            </a:r>
            <a:r>
              <a:rPr lang="en-US" altLang="en-US" dirty="0">
                <a:latin typeface="Candara" panose="020E0502030303020204" pitchFamily="34" charset="0"/>
              </a:rPr>
              <a:t>Snowflake </a:t>
            </a:r>
            <a:r>
              <a:rPr lang="en-US" altLang="en-US" dirty="0" smtClean="0">
                <a:latin typeface="Candara" panose="020E0502030303020204" pitchFamily="34" charset="0"/>
              </a:rPr>
              <a:t>Schema 1</a:t>
            </a:r>
            <a:r>
              <a:rPr lang="en-US" altLang="en-US" baseline="30000" dirty="0" smtClean="0">
                <a:latin typeface="Candara" panose="020E0502030303020204" pitchFamily="34" charset="0"/>
              </a:rPr>
              <a:t>st</a:t>
            </a:r>
            <a:r>
              <a:rPr lang="en-US" altLang="en-US" dirty="0" smtClean="0">
                <a:latin typeface="Candara" panose="020E0502030303020204" pitchFamily="34" charset="0"/>
              </a:rPr>
              <a:t> we need to understand what is Fact Table and Dimension Table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96528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8372" y="156919"/>
            <a:ext cx="115135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Fact Table: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Stores quantitative, measurable metrics and foreign keys, recording specific business events or transactions (e.g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., sales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revenue, quantity sold).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Dimension Table: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Stores descriptive attributes and context about the facts, allowing users to filter, group, and label data (e.g., customer names, product categories, dates).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8" y="1674473"/>
            <a:ext cx="10599272" cy="4840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610523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tar Schema Still Matters | Modern Data Model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669" y="1314169"/>
            <a:ext cx="66294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08219" y="271146"/>
            <a:ext cx="1116944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Candara" panose="020E0502030303020204" pitchFamily="34" charset="0"/>
              </a:rPr>
              <a:t>Star </a:t>
            </a:r>
            <a:r>
              <a:rPr lang="en-US" altLang="en-US" sz="3200" b="1" dirty="0" smtClean="0">
                <a:latin typeface="Candara" panose="020E0502030303020204" pitchFamily="34" charset="0"/>
              </a:rPr>
              <a:t>Schema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ndara" panose="020E0502030303020204" pitchFamily="34" charset="0"/>
              </a:rPr>
              <a:t>Every Dimension table is connected to the Fact Table.</a:t>
            </a:r>
            <a:endParaRPr lang="en-US" altLang="en-US" sz="12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7840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7100" y="283530"/>
            <a:ext cx="5359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ndara" panose="020E0502030303020204" pitchFamily="34" charset="0"/>
              </a:rPr>
              <a:t>Every Dimension table is connected to the Fact Table.</a:t>
            </a:r>
            <a:endParaRPr lang="en-US" altLang="en-US" sz="1100" dirty="0">
              <a:latin typeface="Candara" panose="020E05020303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20" y="652862"/>
            <a:ext cx="6055360" cy="580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572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3425"/>
            <a:ext cx="9753600" cy="5391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22656" y="821803"/>
            <a:ext cx="2189544" cy="40583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866452" y="2825881"/>
            <a:ext cx="1694033" cy="3092370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45361" y="129167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andara" panose="020E0502030303020204" pitchFamily="34" charset="0"/>
              </a:rPr>
              <a:t>Snowflake Schema: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981692" y="857415"/>
            <a:ext cx="4715268" cy="4852506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622656" y="857414"/>
            <a:ext cx="2189544" cy="4058331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5647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068" y="428263"/>
            <a:ext cx="171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Dax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7950" y="1149411"/>
            <a:ext cx="627950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There are more than 200 DAX functions. Some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importat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as </a:t>
            </a:r>
            <a:r>
              <a:rPr lang="en-US" altLang="en-US" dirty="0" smtClean="0">
                <a:latin typeface="Candara" panose="020E0502030303020204" pitchFamily="34" charset="0"/>
              </a:rPr>
              <a:t>below.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 help creating calculations based on dates and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 manipulate table and filter contexts.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734175" y="1689627"/>
            <a:ext cx="51054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SUM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AVERAGE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MIN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MAX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COUNT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CALENDAR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DATEVALUE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DAY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MONTH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YEAR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CALCULATE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ALLEXCEPT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RELATED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ISBLANK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ISERROR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ISNUMBER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ISTEXT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USERNAME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AND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NOT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IF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SWITCH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9624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7293" y="2159238"/>
            <a:ext cx="90514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mtClean="0">
                <a:latin typeface="Courier New" panose="02070309020205020404" pitchFamily="49" charset="0"/>
                <a:cs typeface="Courier New" panose="02070309020205020404" pitchFamily="49" charset="0"/>
              </a:rPr>
              <a:t>Total_Sales 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mtClean="0">
                <a:latin typeface="Courier New" panose="02070309020205020404" pitchFamily="49" charset="0"/>
                <a:cs typeface="Courier New" panose="02070309020205020404" pitchFamily="49" charset="0"/>
              </a:rPr>
              <a:t>= SUM(Sales[Amount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Order_Count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IN" smtClean="0">
                <a:latin typeface="Courier New" panose="02070309020205020404" pitchFamily="49" charset="0"/>
                <a:cs typeface="Courier New" panose="02070309020205020404" pitchFamily="49" charset="0"/>
              </a:rPr>
              <a:t>= COUNT(Sales[OrderID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Average_Price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AVERAGE(Products[Price])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DistinctValue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DISTINCTCOUNT(Data[Beverage Brand])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Profit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Margin %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DIVIDE([Profit], [Total Revenue])</a:t>
            </a:r>
          </a:p>
          <a:p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484" y="636242"/>
            <a:ext cx="93701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lang="en-US" altLang="en-US" dirty="0">
                <a:latin typeface="Candara" panose="020E05020303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475212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4631" y="450277"/>
            <a:ext cx="8642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</a:t>
            </a: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 help creating calculations based on dates and time.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313123"/>
              </p:ext>
            </p:extLst>
          </p:nvPr>
        </p:nvGraphicFramePr>
        <p:xfrm>
          <a:off x="785196" y="1443235"/>
          <a:ext cx="8890649" cy="45262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641350">
                  <a:extLst>
                    <a:ext uri="{9D8B030D-6E8A-4147-A177-3AD203B41FA5}">
                      <a16:colId xmlns:a16="http://schemas.microsoft.com/office/drawing/2014/main" val="2391616480"/>
                    </a:ext>
                  </a:extLst>
                </a:gridCol>
                <a:gridCol w="7249299">
                  <a:extLst>
                    <a:ext uri="{9D8B030D-6E8A-4147-A177-3AD203B41FA5}">
                      <a16:colId xmlns:a16="http://schemas.microsoft.com/office/drawing/2014/main" val="300847146"/>
                    </a:ext>
                  </a:extLst>
                </a:gridCol>
              </a:tblGrid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TargetDate = DATE(2026, 06, 02)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676991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DATEDIFF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DaysPassed = DATEDIFF(OrderDate, ShipDate, DAY)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85482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ConvertedDate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DATEVALUE("2026-06-02")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6063242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DAY(Sales[InvoiceDate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8660780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TwoMonthsLater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017446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MonthEnd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9626328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OrderHour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3279193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OrderMinute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8599956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581052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NOW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CurrentTimestamp = NOW()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26398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CurrentQuarter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48723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OrderSecond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66069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ShiftStart = TIME(9, 0, 0)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38903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ConvertedTime = TIMEVALUE("13:30:00")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335888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CurrentDate = TODAY()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423979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DayOfWeek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976814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WeekOfYear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52867244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777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747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077181"/>
              </p:ext>
            </p:extLst>
          </p:nvPr>
        </p:nvGraphicFramePr>
        <p:xfrm>
          <a:off x="559414" y="1961537"/>
          <a:ext cx="10167580" cy="290527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960182">
                  <a:extLst>
                    <a:ext uri="{9D8B030D-6E8A-4147-A177-3AD203B41FA5}">
                      <a16:colId xmlns:a16="http://schemas.microsoft.com/office/drawing/2014/main" val="571751960"/>
                    </a:ext>
                  </a:extLst>
                </a:gridCol>
                <a:gridCol w="7207398">
                  <a:extLst>
                    <a:ext uri="{9D8B030D-6E8A-4147-A177-3AD203B41FA5}">
                      <a16:colId xmlns:a16="http://schemas.microsoft.com/office/drawing/2014/main" val="2217835914"/>
                    </a:ext>
                  </a:extLst>
                </a:gridCol>
              </a:tblGrid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ISBLANK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ISBLANK(Sales[Discount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119593"/>
                  </a:ext>
                </a:extLst>
              </a:tr>
              <a:tr h="40468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ISERROR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ISERROR(Sales[TotalAmount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Sales[Quantity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9105244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ISNUMBER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ISNUMBER(Sales[PostalCode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1129187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ISTEXT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ISTEXT(Sales[ProductCode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42217490"/>
                  </a:ext>
                </a:extLst>
              </a:tr>
              <a:tr h="28026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HASONEVALUE(Product[Category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911158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HASONEFILTER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HASONEFILTER(Product[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117437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NONBLANKROWCOUNT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RowCount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NONBLANKROWCOUNT(Customers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6788260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CurrentUser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USERNAME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00683929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USERPRINCIPALNAME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UserEmail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USERPRINCIPALNAME()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779321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2452" y="38145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</a:t>
            </a:r>
            <a:endParaRPr lang="en-US" altLang="en-US" dirty="0">
              <a:solidFill>
                <a:schemeClr val="bg2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</p:txBody>
      </p:sp>
    </p:spTree>
    <p:extLst>
      <p:ext uri="{BB962C8B-B14F-4D97-AF65-F5344CB8AC3E}">
        <p14:creationId xmlns:p14="http://schemas.microsoft.com/office/powerpoint/2010/main" val="38323201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6813" y="42078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</a:t>
            </a:r>
            <a:endParaRPr lang="en-US" altLang="en-US" dirty="0">
              <a:solidFill>
                <a:srgbClr val="00B0F0"/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664339"/>
              </p:ext>
            </p:extLst>
          </p:nvPr>
        </p:nvGraphicFramePr>
        <p:xfrm>
          <a:off x="283087" y="2013720"/>
          <a:ext cx="10394746" cy="239120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76746">
                  <a:extLst>
                    <a:ext uri="{9D8B030D-6E8A-4147-A177-3AD203B41FA5}">
                      <a16:colId xmlns:a16="http://schemas.microsoft.com/office/drawing/2014/main" val="56115187"/>
                    </a:ext>
                  </a:extLst>
                </a:gridCol>
                <a:gridCol w="9318000">
                  <a:extLst>
                    <a:ext uri="{9D8B030D-6E8A-4147-A177-3AD203B41FA5}">
                      <a16:colId xmlns:a16="http://schemas.microsoft.com/office/drawing/2014/main" val="1675222765"/>
                    </a:ext>
                  </a:extLst>
                </a:gridCol>
              </a:tblGrid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Sales[Region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9615441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OR(Sales[Quantity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Sales[Discount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0.1)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1279770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NOT(Sales[Status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"Cancelled")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1206019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&gt;= 500, "High Value", "Standard")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9078976"/>
                  </a:ext>
                </a:extLst>
              </a:tr>
              <a:tr h="37952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SWITCH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SWITCH(Sales[RegionCode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1, "North", 2, "South", 3, "East", 4, "West", "Unknown")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747507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IFERROR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IFERROR(Sales[Revenue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Sales[Units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8176249"/>
                  </a:ext>
                </a:extLst>
              </a:tr>
              <a:tr h="20760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COALESCE(Sales[AltPhone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Sales[HomePhone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"No Number")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3635867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SetFalse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FALSE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0343742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SetTrue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TRUE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6350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0050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355035"/>
              </p:ext>
            </p:extLst>
          </p:nvPr>
        </p:nvGraphicFramePr>
        <p:xfrm>
          <a:off x="175134" y="1795409"/>
          <a:ext cx="11830053" cy="192532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816991">
                  <a:extLst>
                    <a:ext uri="{9D8B030D-6E8A-4147-A177-3AD203B41FA5}">
                      <a16:colId xmlns:a16="http://schemas.microsoft.com/office/drawing/2014/main" val="2230006388"/>
                    </a:ext>
                  </a:extLst>
                </a:gridCol>
                <a:gridCol w="10013062">
                  <a:extLst>
                    <a:ext uri="{9D8B030D-6E8A-4147-A177-3AD203B41FA5}">
                      <a16:colId xmlns:a16="http://schemas.microsoft.com/office/drawing/2014/main" val="229815961"/>
                    </a:ext>
                  </a:extLst>
                </a:gridCol>
              </a:tblGrid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Orders[Region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63549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US" sz="1500" b="1" i="0" u="none" strike="noStrike" dirty="0" smtClean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FILTER(Orders, 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1000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FILTER(Orders, Orders[Category] = “</a:t>
                      </a:r>
                      <a:r>
                        <a:rPr lang="en-IN" sz="13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Furntiture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22911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 /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ALL(Sales))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81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ALLEXCEPT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ALLEXCEPT(Geography, Geography[State]))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910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ALLSELECTED(Orders))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821517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RELATED(Product[Price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378999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44129" y="41179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</a:t>
            </a:r>
            <a:r>
              <a:rPr lang="en-US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&amp; Calculate functions</a:t>
            </a:r>
            <a:endParaRPr lang="en-US" altLang="en-US" dirty="0">
              <a:solidFill>
                <a:schemeClr val="accent1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functions manipulate table and filter contexts.</a:t>
            </a:r>
          </a:p>
        </p:txBody>
      </p:sp>
    </p:spTree>
    <p:extLst>
      <p:ext uri="{BB962C8B-B14F-4D97-AF65-F5344CB8AC3E}">
        <p14:creationId xmlns:p14="http://schemas.microsoft.com/office/powerpoint/2010/main" val="22062409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2254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1129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29991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2949</TotalTime>
  <Words>888</Words>
  <Application>Microsoft Office PowerPoint</Application>
  <PresentationFormat>Widescreen</PresentationFormat>
  <Paragraphs>173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Candara</vt:lpstr>
      <vt:lpstr>Century Gothic</vt:lpstr>
      <vt:lpstr>Courier New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SHIVRAJ SHINDE</dc:creator>
  <cp:lastModifiedBy>SHIVRAJ SHINDE</cp:lastModifiedBy>
  <cp:revision>58</cp:revision>
  <dcterms:created xsi:type="dcterms:W3CDTF">2026-05-12T10:34:27Z</dcterms:created>
  <dcterms:modified xsi:type="dcterms:W3CDTF">2026-08-05T14:59:33Z</dcterms:modified>
</cp:coreProperties>
</file>