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78" r:id="rId6"/>
    <p:sldId id="268" r:id="rId7"/>
    <p:sldId id="267" r:id="rId8"/>
    <p:sldId id="273" r:id="rId9"/>
    <p:sldId id="270" r:id="rId10"/>
    <p:sldId id="269" r:id="rId11"/>
    <p:sldId id="271" r:id="rId12"/>
    <p:sldId id="274" r:id="rId13"/>
    <p:sldId id="275" r:id="rId14"/>
    <p:sldId id="276" r:id="rId15"/>
    <p:sldId id="262" r:id="rId16"/>
    <p:sldId id="259" r:id="rId17"/>
    <p:sldId id="260" r:id="rId18"/>
    <p:sldId id="26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8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9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7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2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7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71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1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9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76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8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19BC4-BE16-4027-BBED-9CBD30743CE1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B6E05-B934-475E-B522-FE2081844E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81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55875" y="444400"/>
            <a:ext cx="537488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Create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different type of </a:t>
            </a:r>
            <a:r>
              <a:rPr kumimoji="0" lang="en-US" altLang="en-US" sz="20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Repors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Tableau Desktop: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Tableau Online: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Candara" panose="020E0502030303020204" pitchFamily="34" charset="0"/>
              </a:rPr>
              <a:t>Publishing </a:t>
            </a:r>
            <a:r>
              <a:rPr lang="en-US" altLang="en-US" sz="2000" b="1" dirty="0">
                <a:latin typeface="Candara" panose="020E0502030303020204" pitchFamily="34" charset="0"/>
              </a:rPr>
              <a:t>different type of </a:t>
            </a:r>
            <a:r>
              <a:rPr lang="en-US" altLang="en-US" sz="2000" b="1" dirty="0" smtClean="0">
                <a:latin typeface="Candara" panose="020E0502030303020204" pitchFamily="34" charset="0"/>
              </a:rPr>
              <a:t>Reports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Tableau Server: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Tableau Reader: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Tableau Public: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80516" y="3470273"/>
            <a:ext cx="437535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Database Support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Spreadsheet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Database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BigData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Access Data warehouses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Cloud Applications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Cloud Databases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50 + Different databases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73422" y="3817946"/>
            <a:ext cx="437535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Publish Report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Desktop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2000" b="1" dirty="0" smtClean="0">
                <a:latin typeface="Candara" panose="020E0502030303020204" pitchFamily="34" charset="0"/>
              </a:rPr>
              <a:t>Tablet</a:t>
            </a:r>
            <a:endParaRPr lang="en-US" altLang="en-US" sz="2000" b="1" dirty="0">
              <a:latin typeface="Candara" panose="020E0502030303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Mobile</a:t>
            </a:r>
          </a:p>
        </p:txBody>
      </p:sp>
    </p:spTree>
    <p:extLst>
      <p:ext uri="{BB962C8B-B14F-4D97-AF65-F5344CB8AC3E}">
        <p14:creationId xmlns:p14="http://schemas.microsoft.com/office/powerpoint/2010/main" val="405513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s.tblsft.com/sites/default/files/blog/wordle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31" y="373223"/>
            <a:ext cx="9851405" cy="599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4129" y="373223"/>
            <a:ext cx="24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Different type of charts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33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084" y="1130480"/>
            <a:ext cx="3362794" cy="45631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0" y="412955"/>
            <a:ext cx="41338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702552" y="5920482"/>
            <a:ext cx="3816220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ndara" panose="020E0502030303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102" y="841975"/>
            <a:ext cx="950789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500" dirty="0" smtClean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Column Formatting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R</a:t>
            </a:r>
            <a:r>
              <a:rPr lang="en-US" sz="1500" dirty="0" smtClean="0">
                <a:latin typeface="Candara" panose="020E0502030303020204" pitchFamily="34" charset="0"/>
              </a:rPr>
              <a:t>enaming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Copy and Paste column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Candara" panose="020E0502030303020204" pitchFamily="34" charset="0"/>
                <a:cs typeface="Courier New" panose="02070309020205020404" pitchFamily="49" charset="0"/>
              </a:rPr>
              <a:t>Splitting </a:t>
            </a:r>
            <a:r>
              <a:rPr lang="en-US" altLang="en-US" sz="1500" dirty="0" smtClean="0">
                <a:latin typeface="Candara" panose="020E0502030303020204" pitchFamily="34" charset="0"/>
                <a:cs typeface="Courier New" panose="02070309020205020404" pitchFamily="49" charset="0"/>
              </a:rPr>
              <a:t>(</a:t>
            </a:r>
            <a:r>
              <a:rPr lang="en-US" sz="1500" dirty="0" smtClean="0">
                <a:latin typeface="Candara" panose="020E0502030303020204" pitchFamily="34" charset="0"/>
              </a:rPr>
              <a:t>Split and Custom Split)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Hide and Unhide</a:t>
            </a:r>
            <a:endParaRPr lang="en-US" sz="1500" dirty="0" smtClean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Sorting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 smtClean="0">
                <a:latin typeface="Candara" panose="020E0502030303020204" pitchFamily="34" charset="0"/>
                <a:cs typeface="Courier New" panose="02070309020205020404" pitchFamily="49" charset="0"/>
              </a:rPr>
              <a:t>Grouping </a:t>
            </a:r>
            <a:r>
              <a:rPr lang="en-US" altLang="en-US" sz="1500" dirty="0">
                <a:latin typeface="Candara" panose="020E0502030303020204" pitchFamily="34" charset="0"/>
                <a:cs typeface="Courier New" panose="02070309020205020404" pitchFamily="49" charset="0"/>
              </a:rPr>
              <a:t>data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Candara" panose="020E0502030303020204" pitchFamily="34" charset="0"/>
                <a:cs typeface="Courier New" panose="02070309020205020404" pitchFamily="49" charset="0"/>
              </a:rPr>
              <a:t>Pivoting data </a:t>
            </a:r>
            <a:endParaRPr lang="en-US" altLang="en-US" sz="1500" dirty="0" smtClean="0"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Combine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latin typeface="Candara" panose="020E0502030303020204" pitchFamily="34" charset="0"/>
                <a:cs typeface="Courier New" panose="02070309020205020404" pitchFamily="49" charset="0"/>
              </a:rPr>
              <a:t>Handling N</a:t>
            </a:r>
            <a:r>
              <a:rPr lang="en-US" altLang="en-US" sz="1500" dirty="0" smtClean="0">
                <a:latin typeface="Candara" panose="020E0502030303020204" pitchFamily="34" charset="0"/>
                <a:cs typeface="Courier New" panose="02070309020205020404" pitchFamily="49" charset="0"/>
              </a:rPr>
              <a:t>ull Values</a:t>
            </a:r>
            <a:endParaRPr lang="en-US" sz="1500" dirty="0" smtClean="0">
              <a:latin typeface="Candara" panose="020E05020303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3102" y="127910"/>
            <a:ext cx="14323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ndara" panose="020E0502030303020204" pitchFamily="34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420847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01" y="796925"/>
            <a:ext cx="10515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Chart Type	</a:t>
            </a:r>
            <a:r>
              <a:rPr lang="en-IN" sz="1600" dirty="0" smtClean="0">
                <a:latin typeface="Candara" panose="020E0502030303020204" pitchFamily="34" charset="0"/>
              </a:rPr>
              <a:t>Best </a:t>
            </a:r>
            <a:r>
              <a:rPr lang="en-IN" sz="1600" dirty="0">
                <a:latin typeface="Candara" panose="020E0502030303020204" pitchFamily="34" charset="0"/>
              </a:rPr>
              <a:t>For	</a:t>
            </a:r>
            <a:r>
              <a:rPr lang="en-IN" sz="1600" dirty="0" smtClean="0">
                <a:latin typeface="Candara" panose="020E0502030303020204" pitchFamily="34" charset="0"/>
              </a:rPr>
              <a:t>		Example </a:t>
            </a:r>
            <a:r>
              <a:rPr lang="en-IN" sz="1600" dirty="0">
                <a:latin typeface="Candara" panose="020E0502030303020204" pitchFamily="34" charset="0"/>
              </a:rPr>
              <a:t>Use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Bar Chart	</a:t>
            </a:r>
            <a:r>
              <a:rPr lang="en-IN" sz="1600" dirty="0" smtClean="0">
                <a:latin typeface="Candara" panose="020E0502030303020204" pitchFamily="34" charset="0"/>
              </a:rPr>
              <a:t>	Comparing </a:t>
            </a:r>
            <a:r>
              <a:rPr lang="en-IN" sz="1600" dirty="0">
                <a:latin typeface="Candara" panose="020E0502030303020204" pitchFamily="34" charset="0"/>
              </a:rPr>
              <a:t>categories	Sales by region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Line Chart	</a:t>
            </a:r>
            <a:r>
              <a:rPr lang="en-IN" sz="1600" dirty="0" smtClean="0">
                <a:latin typeface="Candara" panose="020E0502030303020204" pitchFamily="34" charset="0"/>
              </a:rPr>
              <a:t>	Trends </a:t>
            </a:r>
            <a:r>
              <a:rPr lang="en-IN" sz="1600" dirty="0">
                <a:latin typeface="Candara" panose="020E0502030303020204" pitchFamily="34" charset="0"/>
              </a:rPr>
              <a:t>over time	</a:t>
            </a:r>
            <a:r>
              <a:rPr lang="en-IN" sz="1600" dirty="0" smtClean="0">
                <a:latin typeface="Candara" panose="020E0502030303020204" pitchFamily="34" charset="0"/>
              </a:rPr>
              <a:t>	Monthly </a:t>
            </a:r>
            <a:r>
              <a:rPr lang="en-IN" sz="1600" dirty="0">
                <a:latin typeface="Candara" panose="020E0502030303020204" pitchFamily="34" charset="0"/>
              </a:rPr>
              <a:t>revenue growth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Pie Chart	</a:t>
            </a:r>
            <a:r>
              <a:rPr lang="en-IN" sz="1600" dirty="0" smtClean="0">
                <a:latin typeface="Candara" panose="020E0502030303020204" pitchFamily="34" charset="0"/>
              </a:rPr>
              <a:t>	Part-to-whole </a:t>
            </a:r>
            <a:r>
              <a:rPr lang="en-IN" sz="1600" dirty="0">
                <a:latin typeface="Candara" panose="020E0502030303020204" pitchFamily="34" charset="0"/>
              </a:rPr>
              <a:t>comparison 	Market share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 smtClean="0">
                <a:latin typeface="Candara" panose="020E0502030303020204" pitchFamily="34" charset="0"/>
              </a:rPr>
              <a:t>Area </a:t>
            </a:r>
            <a:r>
              <a:rPr lang="en-IN" sz="1600" dirty="0">
                <a:latin typeface="Candara" panose="020E0502030303020204" pitchFamily="34" charset="0"/>
              </a:rPr>
              <a:t>Chart	</a:t>
            </a:r>
            <a:r>
              <a:rPr lang="en-IN" sz="1600" dirty="0" smtClean="0">
                <a:latin typeface="Candara" panose="020E0502030303020204" pitchFamily="34" charset="0"/>
              </a:rPr>
              <a:t>	Cumulative </a:t>
            </a:r>
            <a:r>
              <a:rPr lang="en-IN" sz="1600" dirty="0">
                <a:latin typeface="Candara" panose="020E0502030303020204" pitchFamily="34" charset="0"/>
              </a:rPr>
              <a:t>trends	</a:t>
            </a:r>
            <a:r>
              <a:rPr lang="en-IN" sz="1600" dirty="0" smtClean="0">
                <a:latin typeface="Candara" panose="020E0502030303020204" pitchFamily="34" charset="0"/>
              </a:rPr>
              <a:t>	Traffic </a:t>
            </a:r>
            <a:r>
              <a:rPr lang="en-IN" sz="1600" dirty="0">
                <a:latin typeface="Candara" panose="020E0502030303020204" pitchFamily="34" charset="0"/>
              </a:rPr>
              <a:t>growth over time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Dual Axis Chart	</a:t>
            </a:r>
            <a:r>
              <a:rPr lang="en-IN" sz="1600" dirty="0" smtClean="0">
                <a:latin typeface="Candara" panose="020E0502030303020204" pitchFamily="34" charset="0"/>
              </a:rPr>
              <a:t>Comparing </a:t>
            </a:r>
            <a:r>
              <a:rPr lang="en-IN" sz="1600" dirty="0">
                <a:latin typeface="Candara" panose="020E0502030303020204" pitchFamily="34" charset="0"/>
              </a:rPr>
              <a:t>two measures	Revenue and profit margin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Waterfall Chart	</a:t>
            </a:r>
            <a:r>
              <a:rPr lang="en-IN" sz="1600" dirty="0" smtClean="0">
                <a:latin typeface="Candara" panose="020E0502030303020204" pitchFamily="34" charset="0"/>
              </a:rPr>
              <a:t>Incremental </a:t>
            </a:r>
            <a:r>
              <a:rPr lang="en-IN" sz="1600" dirty="0">
                <a:latin typeface="Candara" panose="020E0502030303020204" pitchFamily="34" charset="0"/>
              </a:rPr>
              <a:t>changes	</a:t>
            </a:r>
            <a:r>
              <a:rPr lang="en-IN" sz="1600" dirty="0" smtClean="0">
                <a:latin typeface="Candara" panose="020E0502030303020204" pitchFamily="34" charset="0"/>
              </a:rPr>
              <a:t>	Profit </a:t>
            </a:r>
            <a:r>
              <a:rPr lang="en-IN" sz="1600" dirty="0">
                <a:latin typeface="Candara" panose="020E0502030303020204" pitchFamily="34" charset="0"/>
              </a:rPr>
              <a:t>breakdown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Funnel Chart	</a:t>
            </a:r>
            <a:r>
              <a:rPr lang="en-IN" sz="1600" dirty="0" smtClean="0">
                <a:latin typeface="Candara" panose="020E0502030303020204" pitchFamily="34" charset="0"/>
              </a:rPr>
              <a:t>Stage </a:t>
            </a:r>
            <a:r>
              <a:rPr lang="en-IN" sz="1600" dirty="0">
                <a:latin typeface="Candara" panose="020E0502030303020204" pitchFamily="34" charset="0"/>
              </a:rPr>
              <a:t>conversion analysis	Sales pipeline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Scatter Plot	Relationship between variables	Profit vs Sales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 smtClean="0">
                <a:latin typeface="Candara" panose="020E0502030303020204" pitchFamily="34" charset="0"/>
              </a:rPr>
              <a:t>Donut </a:t>
            </a:r>
            <a:r>
              <a:rPr lang="en-IN" sz="1600" dirty="0">
                <a:latin typeface="Candara" panose="020E0502030303020204" pitchFamily="34" charset="0"/>
              </a:rPr>
              <a:t>Chart	</a:t>
            </a:r>
            <a:r>
              <a:rPr lang="en-IN" sz="1600" dirty="0" smtClean="0">
                <a:latin typeface="Candara" panose="020E0502030303020204" pitchFamily="34" charset="0"/>
              </a:rPr>
              <a:t>Styled </a:t>
            </a:r>
            <a:r>
              <a:rPr lang="en-IN" sz="1600" dirty="0">
                <a:latin typeface="Candara" panose="020E0502030303020204" pitchFamily="34" charset="0"/>
              </a:rPr>
              <a:t>part-to-whole view	Expense allocation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latin typeface="Candara" panose="020E0502030303020204" pitchFamily="34" charset="0"/>
              </a:rPr>
              <a:t>Heat Map	</a:t>
            </a:r>
            <a:r>
              <a:rPr lang="en-IN" sz="1600" dirty="0" smtClean="0">
                <a:latin typeface="Candara" panose="020E0502030303020204" pitchFamily="34" charset="0"/>
              </a:rPr>
              <a:t>	Density/intensity comparison</a:t>
            </a:r>
            <a:r>
              <a:rPr lang="en-IN" sz="1600" dirty="0">
                <a:latin typeface="Candara" panose="020E0502030303020204" pitchFamily="34" charset="0"/>
              </a:rPr>
              <a:t>	Website clicks by hour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 smtClean="0">
                <a:latin typeface="Candara" panose="020E0502030303020204" pitchFamily="34" charset="0"/>
              </a:rPr>
              <a:t>Map </a:t>
            </a:r>
            <a:r>
              <a:rPr lang="en-IN" sz="1600" dirty="0">
                <a:latin typeface="Candara" panose="020E0502030303020204" pitchFamily="34" charset="0"/>
              </a:rPr>
              <a:t>Chart		Geographic analysis		Sales by state/country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>
                <a:solidFill>
                  <a:schemeClr val="bg1"/>
                </a:solidFill>
                <a:latin typeface="Candara" panose="020E0502030303020204" pitchFamily="34" charset="0"/>
              </a:rPr>
              <a:t>Box Plot		Spread and outliers		Salary distribution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smtClean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600" dirty="0" smtClean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Histogram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	Distribution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of 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values	Customer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age distribution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Highlight Table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Color-coded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comparison	Regional performance matrix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Bullet Chart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Performance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vs target	KPI dashboards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Packed Bubbles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Relative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size comparison	Brand popularity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Gantt Chart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Project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timelines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	Task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schedules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Tree Map	</a:t>
            </a:r>
            <a:r>
              <a:rPr lang="en-IN" sz="1600" dirty="0" smtClean="0">
                <a:solidFill>
                  <a:schemeClr val="bg1"/>
                </a:solidFill>
                <a:latin typeface="Candara" panose="020E0502030303020204" pitchFamily="34" charset="0"/>
              </a:rPr>
              <a:t>	Hierarchical </a:t>
            </a:r>
            <a:r>
              <a:rPr lang="en-IN" sz="1600" dirty="0">
                <a:solidFill>
                  <a:schemeClr val="bg1"/>
                </a:solidFill>
                <a:latin typeface="Candara" panose="020E0502030303020204" pitchFamily="34" charset="0"/>
              </a:rPr>
              <a:t>proportions	Product category contribution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3101" y="127910"/>
            <a:ext cx="26906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Candara" panose="020E0502030303020204" pitchFamily="34" charset="0"/>
              </a:rPr>
              <a:t>Different Charts</a:t>
            </a:r>
            <a:endParaRPr lang="en-US" sz="28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95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8528" y="908532"/>
            <a:ext cx="8557275" cy="5020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500" dirty="0" smtClean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500" dirty="0" smtClean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Sorting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Quick Sort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Sort from tool bar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Sort from </a:t>
            </a:r>
            <a:r>
              <a:rPr lang="en-US" sz="1500" dirty="0" err="1">
                <a:latin typeface="Candara" panose="020E0502030303020204" pitchFamily="34" charset="0"/>
              </a:rPr>
              <a:t>pil</a:t>
            </a:r>
            <a:endParaRPr lang="en-US" sz="1500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Hierarchy(Drill </a:t>
            </a:r>
            <a:r>
              <a:rPr lang="en-US" sz="1500" dirty="0" err="1" smtClean="0">
                <a:latin typeface="Candara" panose="020E0502030303020204" pitchFamily="34" charset="0"/>
              </a:rPr>
              <a:t>Up,Drill</a:t>
            </a:r>
            <a:r>
              <a:rPr lang="en-US" sz="1500" dirty="0" smtClean="0">
                <a:latin typeface="Candara" panose="020E0502030303020204" pitchFamily="34" charset="0"/>
              </a:rPr>
              <a:t> Down)</a:t>
            </a:r>
            <a:endParaRPr lang="en-US" sz="1500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Pivot in View</a:t>
            </a:r>
            <a:endParaRPr lang="en-US" sz="1500" dirty="0"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Filtering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sz="15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Source </a:t>
            </a:r>
            <a:r>
              <a:rPr lang="en-IN" sz="15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endParaRPr lang="en-IN" sz="1500" b="1" dirty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  <a:cs typeface="Times New Roman" panose="02020603050405020304" pitchFamily="18" charset="0"/>
              </a:rPr>
              <a:t>Filter Shelf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  <a:cs typeface="Times New Roman" panose="02020603050405020304" pitchFamily="18" charset="0"/>
              </a:rPr>
              <a:t>Interactive Filters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Headers Filters</a:t>
            </a:r>
            <a:endParaRPr lang="en-US" sz="1500" dirty="0"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  <a:cs typeface="Times New Roman" panose="02020603050405020304" pitchFamily="18" charset="0"/>
              </a:rPr>
              <a:t>Legends Filters</a:t>
            </a:r>
            <a:endParaRPr lang="en-US" sz="1500" dirty="0">
              <a:latin typeface="Candara" panose="020E0502030303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500" dirty="0" smtClean="0">
                <a:latin typeface="Candara" panose="020E0502030303020204" pitchFamily="34" charset="0"/>
              </a:rPr>
              <a:t>Advance Filters </a:t>
            </a:r>
            <a:endParaRPr lang="en-US" sz="1500" dirty="0">
              <a:latin typeface="Candara" panose="020E0502030303020204" pitchFamily="34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Sets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Parameters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500" dirty="0">
                <a:latin typeface="Candara" panose="020E0502030303020204" pitchFamily="34" charset="0"/>
              </a:rPr>
              <a:t>Sets with Parameters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500" dirty="0" smtClean="0">
              <a:solidFill>
                <a:srgbClr val="000000"/>
              </a:solidFill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 smtClean="0">
                <a:solidFill>
                  <a:srgbClr val="000000"/>
                </a:solidFill>
                <a:latin typeface="Candara" panose="020E0502030303020204" pitchFamily="34" charset="0"/>
                <a:cs typeface="Courier New" panose="02070309020205020404" pitchFamily="49" charset="0"/>
              </a:rPr>
              <a:t>Table Calculations</a:t>
            </a:r>
            <a:endParaRPr lang="en-US" altLang="en-US" sz="1500" dirty="0">
              <a:solidFill>
                <a:srgbClr val="000000"/>
              </a:solidFill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rgbClr val="000000"/>
                </a:solidFill>
                <a:latin typeface="Candara" panose="020E0502030303020204" pitchFamily="34" charset="0"/>
                <a:cs typeface="Courier New" panose="02070309020205020404" pitchFamily="49" charset="0"/>
              </a:rPr>
              <a:t>Creating calculated fields (basic) </a:t>
            </a:r>
          </a:p>
        </p:txBody>
      </p:sp>
      <p:sp>
        <p:nvSpPr>
          <p:cNvPr id="3" name="Rectangle 2"/>
          <p:cNvSpPr/>
          <p:nvPr/>
        </p:nvSpPr>
        <p:spPr>
          <a:xfrm>
            <a:off x="443102" y="127910"/>
            <a:ext cx="2337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Candara" panose="020E0502030303020204" pitchFamily="34" charset="0"/>
              </a:rPr>
              <a:t>Dashboard</a:t>
            </a:r>
            <a:endParaRPr lang="en-US" sz="28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5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034" y="267517"/>
            <a:ext cx="2664512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Modelling and Joins</a:t>
            </a:r>
            <a:endParaRPr lang="en-IN" b="1" dirty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8396" y="1267589"/>
            <a:ext cx="11620811" cy="4071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7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Joins 		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Inner, </a:t>
            </a:r>
            <a:r>
              <a:rPr lang="en-US" altLang="en-US" sz="1700" dirty="0" smtClean="0">
                <a:latin typeface="Candara" panose="020E0502030303020204" pitchFamily="34" charset="0"/>
              </a:rPr>
              <a:t>L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eft, </a:t>
            </a:r>
            <a:r>
              <a:rPr lang="en-US" altLang="en-US" sz="1700" dirty="0" smtClean="0">
                <a:latin typeface="Candara" panose="020E0502030303020204" pitchFamily="34" charset="0"/>
              </a:rPr>
              <a:t>R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ight, </a:t>
            </a:r>
            <a:r>
              <a:rPr lang="en-US" altLang="en-US" sz="1700" dirty="0" smtClean="0">
                <a:latin typeface="Candara" panose="020E0502030303020204" pitchFamily="34" charset="0"/>
              </a:rPr>
              <a:t>F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ull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N" sz="17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Relationships </a:t>
            </a: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(Logical Layer):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700" dirty="0" smtClean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modern "Noodle" approach. It doesn't merge tables into a single flat file; instead, it keeps tables separate and joins them only at the time of analysis based on the context of your viz</a:t>
            </a: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Relationships vs. </a:t>
            </a:r>
            <a:r>
              <a:rPr lang="en-IN" sz="17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700" dirty="0" smtClean="0">
                <a:latin typeface="Candara" panose="020E0502030303020204" pitchFamily="34" charset="0"/>
              </a:rPr>
              <a:t>Joins </a:t>
            </a:r>
            <a:r>
              <a:rPr lang="en-US" sz="1700" dirty="0">
                <a:latin typeface="Candara" panose="020E0502030303020204" pitchFamily="34" charset="0"/>
              </a:rPr>
              <a:t>merge tables into a single fixed physical table upfront, while Relationships describe how separate tables connect dynamically based on the context of your analysis.</a:t>
            </a:r>
            <a:endParaRPr lang="en-IN" sz="1700" b="1" dirty="0" smtClean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Blending	: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700" dirty="0" smtClean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data resides in two different data </a:t>
            </a: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sources.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mimics a left join but aggregates the data before combining it.</a:t>
            </a:r>
            <a:endParaRPr lang="en-IN" sz="1700" b="1" dirty="0" smtClean="0">
              <a:latin typeface="Candara" panose="020E0502030303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IN" sz="17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7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:</a:t>
            </a: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Appends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 from one table to another (stacking data vertically).</a:t>
            </a:r>
            <a:r>
              <a:rPr lang="en-US" altLang="en-US" sz="1700" dirty="0">
                <a:latin typeface="Candara" panose="020E0502030303020204" pitchFamily="34" charset="0"/>
              </a:rPr>
              <a:t> </a:t>
            </a:r>
          </a:p>
          <a:p>
            <a:pPr marL="285750" indent="-285750">
              <a:lnSpc>
                <a:spcPct val="107000"/>
              </a:lnSpc>
              <a:spcAft>
                <a:spcPts val="0"/>
              </a:spcAft>
              <a:buFontTx/>
              <a:buChar char="-"/>
            </a:pPr>
            <a:r>
              <a:rPr lang="en-IN" sz="1700" b="1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Cross-Database Joins:</a:t>
            </a:r>
            <a:endParaRPr lang="en-IN" sz="1700" dirty="0">
              <a:latin typeface="Candara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 you to join tables from different platforms for example, </a:t>
            </a: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joining 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table from a </a:t>
            </a: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a sheet from an </a:t>
            </a:r>
            <a:r>
              <a:rPr lang="en-IN" sz="1700" b="1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IN" sz="1700" dirty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 into a single integrated data source</a:t>
            </a:r>
            <a:r>
              <a:rPr lang="en-IN" sz="1700" dirty="0" smtClean="0"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009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33946"/>
            <a:ext cx="975360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0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948" r="748" b="10135"/>
          <a:stretch/>
        </p:blipFill>
        <p:spPr>
          <a:xfrm>
            <a:off x="264683" y="485193"/>
            <a:ext cx="4951130" cy="25565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8767"/>
          <a:stretch/>
        </p:blipFill>
        <p:spPr>
          <a:xfrm>
            <a:off x="264683" y="2677886"/>
            <a:ext cx="4988453" cy="36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6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67" y="3797559"/>
            <a:ext cx="7122650" cy="28924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836" y="111967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12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939" t="41642" r="27360" b="7792"/>
          <a:stretch/>
        </p:blipFill>
        <p:spPr>
          <a:xfrm>
            <a:off x="1763486" y="1343610"/>
            <a:ext cx="5383763" cy="16430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9260" t="22812" r="18272" b="34450"/>
          <a:stretch/>
        </p:blipFill>
        <p:spPr>
          <a:xfrm>
            <a:off x="1763486" y="3564294"/>
            <a:ext cx="5542383" cy="17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934" y="286073"/>
            <a:ext cx="6831563" cy="607740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Calculations (Intermediate)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Calculated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fields deep dive </a:t>
            </a:r>
            <a:endParaRPr lang="en-US" altLang="en-US" sz="1400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Aggregate Functions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non-aggregate functions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String, date, and logical </a:t>
            </a: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functions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Table calculations (running total, percent of total)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Quick table </a:t>
            </a: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calculations</a:t>
            </a:r>
            <a:endParaRPr lang="en-US" altLang="en-US" sz="1400" dirty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b="1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Advanced </a:t>
            </a:r>
            <a:r>
              <a:rPr lang="en-US" altLang="en-US" sz="1400" b="1" dirty="0">
                <a:latin typeface="Candara" panose="020E0502030303020204" pitchFamily="34" charset="0"/>
                <a:ea typeface="Cambria Math" panose="02040503050406030204" pitchFamily="18" charset="0"/>
              </a:rPr>
              <a:t>Calculations </a:t>
            </a:r>
            <a:endParaRPr lang="en-US" altLang="en-US" sz="1400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Nested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calculations </a:t>
            </a:r>
            <a:endParaRPr lang="en-US" altLang="en-US" sz="1400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Conditional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calculations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Level of Detail (LOD) expressions :</a:t>
            </a:r>
            <a:endParaRPr lang="en-US" altLang="en-US" sz="1400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FIXED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EXCLUDE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INCLUDE </a:t>
            </a:r>
            <a:endParaRPr lang="en-US" altLang="en-US" sz="1400" dirty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Window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Functions	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	WINDOW_SUM, WINDOW_AVG, WINDOW_MIN, WINDOW_MAX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Ranking Functions	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	RANK, DENSE_RANK, RANK_MODIFIED, RANK_UNIQUE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Positional/Table </a:t>
            </a:r>
            <a:r>
              <a:rPr lang="en-US" altLang="en-US" sz="1400" dirty="0" err="1">
                <a:latin typeface="Candara" panose="020E0502030303020204" pitchFamily="34" charset="0"/>
                <a:ea typeface="Cambria Math" panose="02040503050406030204" pitchFamily="18" charset="0"/>
              </a:rPr>
              <a:t>Calc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 Functions	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	FIRST, LAST, INDEX, </a:t>
            </a: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LOOKUP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Cohort analysis basics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b="1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Candara" panose="020E0502030303020204" pitchFamily="34" charset="0"/>
                <a:ea typeface="Cambria Math" panose="02040503050406030204" pitchFamily="18" charset="0"/>
              </a:rPr>
              <a:t>Advanced Visualizations</a:t>
            </a:r>
            <a:endParaRPr lang="en-US" altLang="en-US" sz="1400" b="1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Dual axis charts OR Combo charts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Maps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(symbol, filled maps) </a:t>
            </a:r>
            <a:endParaRPr lang="en-US" altLang="en-US" sz="1400" dirty="0" smtClean="0">
              <a:latin typeface="Candara" panose="020E0502030303020204" pitchFamily="34" charset="0"/>
              <a:ea typeface="Cambria Math" panose="020405030504060302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Highlight table OR heat maps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smtClean="0">
                <a:latin typeface="Candara" panose="020E0502030303020204" pitchFamily="34" charset="0"/>
                <a:ea typeface="Cambria Math" panose="02040503050406030204" pitchFamily="18" charset="0"/>
              </a:rPr>
              <a:t>Parameters </a:t>
            </a:r>
            <a:r>
              <a:rPr lang="en-US" altLang="en-US" sz="1400" dirty="0">
                <a:latin typeface="Candara" panose="020E0502030303020204" pitchFamily="34" charset="0"/>
                <a:ea typeface="Cambria Math" panose="02040503050406030204" pitchFamily="18" charset="0"/>
              </a:rPr>
              <a:t>(dynamic control) </a:t>
            </a:r>
          </a:p>
        </p:txBody>
      </p:sp>
    </p:spTree>
    <p:extLst>
      <p:ext uri="{BB962C8B-B14F-4D97-AF65-F5344CB8AC3E}">
        <p14:creationId xmlns:p14="http://schemas.microsoft.com/office/powerpoint/2010/main" val="308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2" y="280209"/>
            <a:ext cx="975360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0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131" y="33464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LOD: </a:t>
            </a:r>
            <a:endParaRPr lang="en-US" b="1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Visualization </a:t>
            </a:r>
            <a:r>
              <a:rPr lang="en-US" dirty="0">
                <a:latin typeface="Candara" panose="020E0502030303020204" pitchFamily="34" charset="0"/>
              </a:rPr>
              <a:t>will send query to the data source and data source will send the answer </a:t>
            </a:r>
            <a:r>
              <a:rPr lang="en-US" dirty="0" smtClean="0">
                <a:latin typeface="Candara" panose="020E0502030303020204" pitchFamily="34" charset="0"/>
              </a:rPr>
              <a:t>back.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10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3" y="363540"/>
            <a:ext cx="3639058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8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7123" y="786581"/>
            <a:ext cx="250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Live Vs Extract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80479" y="3499332"/>
            <a:ext cx="468998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smtClean="0">
                <a:latin typeface="Candara" panose="020E0502030303020204" pitchFamily="34" charset="0"/>
              </a:rPr>
              <a:t>Why to use Tableau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User-friendly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Beautiful and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Direct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Easy publishing and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Growing Market</a:t>
            </a:r>
          </a:p>
        </p:txBody>
      </p:sp>
    </p:spTree>
    <p:extLst>
      <p:ext uri="{BB962C8B-B14F-4D97-AF65-F5344CB8AC3E}">
        <p14:creationId xmlns:p14="http://schemas.microsoft.com/office/powerpoint/2010/main" val="140563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1805" y="2964600"/>
            <a:ext cx="5324669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andara" panose="020E0502030303020204" pitchFamily="34" charset="0"/>
                <a:cs typeface="Courier New" panose="02070309020205020404" pitchFamily="49" charset="0"/>
              </a:rPr>
              <a:t>Data Preparation &amp; Cleaning </a:t>
            </a:r>
            <a:endParaRPr lang="en-US" altLang="en-US" sz="1600" dirty="0" smtClean="0">
              <a:solidFill>
                <a:srgbClr val="000000"/>
              </a:solidFill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andara" panose="020E0502030303020204" pitchFamily="34" charset="0"/>
                <a:cs typeface="Courier New" panose="02070309020205020404" pitchFamily="49" charset="0"/>
              </a:rPr>
              <a:t>Data Interpreter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  <a:cs typeface="Courier New" panose="02070309020205020404" pitchFamily="49" charset="0"/>
              </a:rPr>
              <a:t>Drill down</a:t>
            </a:r>
            <a:r>
              <a:rPr kumimoji="0" lang="en-US" altLang="en-US" sz="1600" i="0" u="none" strike="noStrike" cap="none" normalizeH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  <a:cs typeface="Courier New" panose="02070309020205020404" pitchFamily="49" charset="0"/>
              </a:rPr>
              <a:t> and hierarchies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B0F0"/>
                </a:solidFill>
                <a:latin typeface="Candara" panose="020E0502030303020204" pitchFamily="34" charset="0"/>
              </a:rPr>
              <a:t>Measure Name and Measure Values</a:t>
            </a:r>
            <a:endParaRPr lang="en-IN" sz="1600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  <a:cs typeface="Courier New" panose="02070309020205020404" pitchFamily="49" charset="0"/>
              </a:rPr>
              <a:t>Usage of </a:t>
            </a:r>
            <a:r>
              <a:rPr lang="en-US" sz="1600" dirty="0">
                <a:solidFill>
                  <a:srgbClr val="00B0F0"/>
                </a:solidFill>
                <a:latin typeface="Candara" panose="020E0502030303020204" pitchFamily="34" charset="0"/>
              </a:rPr>
              <a:t>Measure Name and Measure </a:t>
            </a:r>
            <a:r>
              <a:rPr lang="en-US" sz="1600" dirty="0" smtClean="0">
                <a:solidFill>
                  <a:srgbClr val="00B0F0"/>
                </a:solidFill>
                <a:latin typeface="Candara" panose="020E0502030303020204" pitchFamily="34" charset="0"/>
              </a:rPr>
              <a:t>Values</a:t>
            </a:r>
            <a:endParaRPr lang="en-IN" sz="1600" dirty="0" smtClean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rgbClr val="00B0F0"/>
                </a:solidFill>
                <a:latin typeface="Candara" panose="020E0502030303020204" pitchFamily="34" charset="0"/>
              </a:rPr>
              <a:t>Discrete Vs </a:t>
            </a:r>
            <a:r>
              <a:rPr lang="en-IN" sz="1600" dirty="0" err="1">
                <a:solidFill>
                  <a:srgbClr val="00B0F0"/>
                </a:solidFill>
                <a:latin typeface="Candara" panose="020E0502030303020204" pitchFamily="34" charset="0"/>
              </a:rPr>
              <a:t>Continous</a:t>
            </a:r>
            <a:endParaRPr lang="en-IN" sz="1600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aseline="0" dirty="0">
              <a:solidFill>
                <a:srgbClr val="00B0F0"/>
              </a:solidFill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457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44180"/>
              </p:ext>
            </p:extLst>
          </p:nvPr>
        </p:nvGraphicFramePr>
        <p:xfrm>
          <a:off x="3962400" y="1978025"/>
          <a:ext cx="4267198" cy="2903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579">
                  <a:extLst>
                    <a:ext uri="{9D8B030D-6E8A-4147-A177-3AD203B41FA5}">
                      <a16:colId xmlns:a16="http://schemas.microsoft.com/office/drawing/2014/main" val="2444520718"/>
                    </a:ext>
                  </a:extLst>
                </a:gridCol>
                <a:gridCol w="588579">
                  <a:extLst>
                    <a:ext uri="{9D8B030D-6E8A-4147-A177-3AD203B41FA5}">
                      <a16:colId xmlns:a16="http://schemas.microsoft.com/office/drawing/2014/main" val="168429281"/>
                    </a:ext>
                  </a:extLst>
                </a:gridCol>
                <a:gridCol w="588579">
                  <a:extLst>
                    <a:ext uri="{9D8B030D-6E8A-4147-A177-3AD203B41FA5}">
                      <a16:colId xmlns:a16="http://schemas.microsoft.com/office/drawing/2014/main" val="2702299493"/>
                    </a:ext>
                  </a:extLst>
                </a:gridCol>
                <a:gridCol w="735724">
                  <a:extLst>
                    <a:ext uri="{9D8B030D-6E8A-4147-A177-3AD203B41FA5}">
                      <a16:colId xmlns:a16="http://schemas.microsoft.com/office/drawing/2014/main" val="3983749827"/>
                    </a:ext>
                  </a:extLst>
                </a:gridCol>
                <a:gridCol w="588579">
                  <a:extLst>
                    <a:ext uri="{9D8B030D-6E8A-4147-A177-3AD203B41FA5}">
                      <a16:colId xmlns:a16="http://schemas.microsoft.com/office/drawing/2014/main" val="1636056083"/>
                    </a:ext>
                  </a:extLst>
                </a:gridCol>
                <a:gridCol w="588579">
                  <a:extLst>
                    <a:ext uri="{9D8B030D-6E8A-4147-A177-3AD203B41FA5}">
                      <a16:colId xmlns:a16="http://schemas.microsoft.com/office/drawing/2014/main" val="1084346333"/>
                    </a:ext>
                  </a:extLst>
                </a:gridCol>
                <a:gridCol w="588579">
                  <a:extLst>
                    <a:ext uri="{9D8B030D-6E8A-4147-A177-3AD203B41FA5}">
                      <a16:colId xmlns:a16="http://schemas.microsoft.com/office/drawing/2014/main" val="779398038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Table One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Table Two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19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Sr No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Office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Sr No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Orders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61750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Sanjay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301A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Sanjay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Shoes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834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Rajesh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302A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Rajesh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Cupboards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649323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Sunil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303A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Amol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Tea Cups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75919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Pankaj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304A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Rakesh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4965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92989543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Outer Join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57443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Sr No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Office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Orders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51839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Sanjay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301A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Shoes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86755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Rajesh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302A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Cupboards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01737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Sunil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303A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36881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Pankaj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304A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36970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Amol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Tea Cups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14533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Rakesh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NA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Pen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651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60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2793</TotalTime>
  <Words>316</Words>
  <Application>Microsoft Office PowerPoint</Application>
  <PresentationFormat>Widescreen</PresentationFormat>
  <Paragraphs>196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Candara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65</cp:revision>
  <dcterms:created xsi:type="dcterms:W3CDTF">2026-04-29T11:43:12Z</dcterms:created>
  <dcterms:modified xsi:type="dcterms:W3CDTF">2026-06-01T07:52:23Z</dcterms:modified>
</cp:coreProperties>
</file>