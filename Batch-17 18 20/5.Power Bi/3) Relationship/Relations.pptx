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74" r:id="rId2"/>
    <p:sldId id="275" r:id="rId3"/>
    <p:sldId id="276" r:id="rId4"/>
    <p:sldId id="286" r:id="rId5"/>
    <p:sldId id="291" r:id="rId6"/>
    <p:sldId id="277" r:id="rId7"/>
    <p:sldId id="278" r:id="rId8"/>
    <p:sldId id="279" r:id="rId9"/>
    <p:sldId id="292" r:id="rId10"/>
    <p:sldId id="280" r:id="rId11"/>
    <p:sldId id="293" r:id="rId12"/>
    <p:sldId id="281" r:id="rId13"/>
    <p:sldId id="287" r:id="rId14"/>
    <p:sldId id="288" r:id="rId15"/>
    <p:sldId id="289" r:id="rId16"/>
    <p:sldId id="290" r:id="rId17"/>
    <p:sldId id="270" r:id="rId18"/>
    <p:sldId id="271" r:id="rId19"/>
    <p:sldId id="272" r:id="rId20"/>
    <p:sldId id="273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773B0-9C71-4C42-839B-CED3341CD23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19E2E-A086-4A91-BA90-9CB5CDABE9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9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19E2E-A086-4A91-BA90-9CB5CDABE96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95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173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819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8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2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71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43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882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57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36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82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4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04701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759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8389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539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20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18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C8321A5-74C1-4574-A6AA-F1EDDDF12D9F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C1EA-9C60-4E2D-A88B-766F2F0EDD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431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793" y="17582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Candara" panose="020E0502030303020204" pitchFamily="34" charset="0"/>
              </a:rPr>
              <a:t>Relationships</a:t>
            </a:r>
            <a:r>
              <a:rPr lang="en-US" altLang="en-US" b="1" dirty="0" smtClean="0">
                <a:latin typeface="Candara" panose="020E0502030303020204" pitchFamily="34" charset="0"/>
              </a:rPr>
              <a:t>:</a:t>
            </a:r>
            <a:endParaRPr lang="en-US" altLang="en-US" dirty="0">
              <a:latin typeface="Candara" panose="020E0502030303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9823" y="750011"/>
            <a:ext cx="158248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One-to-many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One to One</a:t>
            </a:r>
          </a:p>
          <a:p>
            <a:r>
              <a:rPr lang="en-US" dirty="0" smtClean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88" y="1211676"/>
            <a:ext cx="6696269" cy="34258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719823" y="2654398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latin typeface="Candara" panose="020E0502030303020204" pitchFamily="34" charset="0"/>
              </a:rPr>
              <a:t>One-to-many</a:t>
            </a:r>
          </a:p>
        </p:txBody>
      </p:sp>
    </p:spTree>
    <p:extLst>
      <p:ext uri="{BB962C8B-B14F-4D97-AF65-F5344CB8AC3E}">
        <p14:creationId xmlns:p14="http://schemas.microsoft.com/office/powerpoint/2010/main" val="36812021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54" y="1280501"/>
            <a:ext cx="9412617" cy="3822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454352" y="373314"/>
            <a:ext cx="1319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smtClean="0">
                <a:latin typeface="Candara" panose="020E0502030303020204" pitchFamily="34" charset="0"/>
              </a:rPr>
              <a:t>One-to-One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02006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807"/>
          <a:stretch/>
        </p:blipFill>
        <p:spPr>
          <a:xfrm>
            <a:off x="2143433" y="1392032"/>
            <a:ext cx="9674942" cy="5076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27958" y="225831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Many to Many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994514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6644" y="1896468"/>
            <a:ext cx="11169445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Schema vs. Snowflake Schema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smtClean="0">
                <a:latin typeface="Candara" panose="020E0502030303020204" pitchFamily="34" charset="0"/>
              </a:rPr>
              <a:t>Before we go for </a:t>
            </a:r>
            <a:r>
              <a:rPr lang="en-US" altLang="en-US" dirty="0">
                <a:latin typeface="Candara" panose="020E0502030303020204" pitchFamily="34" charset="0"/>
              </a:rPr>
              <a:t>Star Schema </a:t>
            </a:r>
            <a:r>
              <a:rPr lang="en-US" altLang="en-US" dirty="0" smtClean="0">
                <a:latin typeface="Candara" panose="020E0502030303020204" pitchFamily="34" charset="0"/>
              </a:rPr>
              <a:t>and  </a:t>
            </a:r>
            <a:r>
              <a:rPr lang="en-US" altLang="en-US" dirty="0">
                <a:latin typeface="Candara" panose="020E0502030303020204" pitchFamily="34" charset="0"/>
              </a:rPr>
              <a:t>Snowflake </a:t>
            </a:r>
            <a:r>
              <a:rPr lang="en-US" altLang="en-US" dirty="0" smtClean="0">
                <a:latin typeface="Candara" panose="020E0502030303020204" pitchFamily="34" charset="0"/>
              </a:rPr>
              <a:t>Schema 1</a:t>
            </a:r>
            <a:r>
              <a:rPr lang="en-US" altLang="en-US" baseline="30000" dirty="0" smtClean="0">
                <a:latin typeface="Candara" panose="020E0502030303020204" pitchFamily="34" charset="0"/>
              </a:rPr>
              <a:t>st</a:t>
            </a:r>
            <a:r>
              <a:rPr lang="en-US" altLang="en-US" dirty="0" smtClean="0">
                <a:latin typeface="Candara" panose="020E0502030303020204" pitchFamily="34" charset="0"/>
              </a:rPr>
              <a:t> we need to understand what is Fact Table and Dimension Table</a:t>
            </a:r>
            <a:endParaRPr lang="en-US" alt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96528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00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8372" y="156919"/>
            <a:ext cx="115135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Fact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quantitative, measurable metrics and foreign keys, recording specific business events or transactions (e.g., sales revenue, quantity sold).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Stores descriptive attributes and context about the facts, allowing users to filter, group, and label data (e.g., customer names, product categories, dates).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8" y="1908499"/>
            <a:ext cx="97536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0523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tar Schema Still Matters | Modern Data Mode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4669" y="1314169"/>
            <a:ext cx="6629400" cy="537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219" y="271146"/>
            <a:ext cx="11169445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latin typeface="Candara" panose="020E0502030303020204" pitchFamily="34" charset="0"/>
              </a:rPr>
              <a:t>Star </a:t>
            </a:r>
            <a:r>
              <a:rPr lang="en-US" altLang="en-US" sz="3200" b="1" dirty="0" smtClean="0">
                <a:latin typeface="Candara" panose="020E0502030303020204" pitchFamily="34" charset="0"/>
              </a:rPr>
              <a:t>Schema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 smtClean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78408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27100" y="283530"/>
            <a:ext cx="5359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Candara" panose="020E0502030303020204" pitchFamily="34" charset="0"/>
              </a:rPr>
              <a:t>Every Dimension table is connected to the Fact Table.</a:t>
            </a:r>
            <a:endParaRPr lang="en-US" altLang="en-US" sz="1100" dirty="0">
              <a:latin typeface="Candara" panose="020E0502030303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520" y="652862"/>
            <a:ext cx="6055360" cy="580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572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58869" y="51845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/>
              <a:t>A </a:t>
            </a:r>
            <a:r>
              <a:rPr lang="en-US" b="1"/>
              <a:t>snowflake</a:t>
            </a:r>
            <a:r>
              <a:rPr lang="en-US"/>
              <a:t> is a tiny crystal of ice that forms in clouds when water vapor freezes around a small particle, such as dust or pollen.</a:t>
            </a:r>
            <a:endParaRPr lang="en-IN"/>
          </a:p>
        </p:txBody>
      </p:sp>
      <p:pic>
        <p:nvPicPr>
          <p:cNvPr id="1028" name="Picture 4" descr="Snowfla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61" y="1772816"/>
            <a:ext cx="6764694" cy="487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45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3425"/>
            <a:ext cx="9753600" cy="5391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22656" y="821803"/>
            <a:ext cx="2189544" cy="40583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866452" y="2825881"/>
            <a:ext cx="1694033" cy="3092370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45361" y="129167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3981692" y="857415"/>
            <a:ext cx="4715268" cy="4852506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622656" y="857414"/>
            <a:ext cx="2189544" cy="4058331"/>
          </a:xfrm>
          <a:prstGeom prst="rect">
            <a:avLst/>
          </a:prstGeom>
          <a:noFill/>
          <a:ln w="381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5647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202" y="813409"/>
            <a:ext cx="103507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Snowflake Schema</a:t>
            </a:r>
            <a:r>
              <a:rPr lang="en-US" dirty="0"/>
              <a:t> is a type of </a:t>
            </a:r>
            <a:r>
              <a:rPr lang="en-US" b="1" dirty="0"/>
              <a:t>database/data warehouse schema</a:t>
            </a:r>
            <a:r>
              <a:rPr lang="en-US" dirty="0"/>
              <a:t> where Dimensions table of Start Schema is further connected to the other Dimension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5203" y="201356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b="1" dirty="0">
                <a:latin typeface="Candara" panose="020E0502030303020204" pitchFamily="34" charset="0"/>
              </a:rPr>
              <a:t>Snowflake Schema: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004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068" y="428263"/>
            <a:ext cx="171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Dax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950" y="1018783"/>
            <a:ext cx="6279503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There are more than 200 DAX functions in power</a:t>
            </a:r>
            <a:r>
              <a:rPr kumimoji="0" lang="en-US" altLang="en-US" sz="18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BI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Some important as </a:t>
            </a:r>
            <a:r>
              <a:rPr lang="en-US" altLang="en-US" dirty="0" smtClean="0">
                <a:latin typeface="Candara" panose="020E0502030303020204" pitchFamily="34" charset="0"/>
              </a:rPr>
              <a:t>below.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 help creating calculations based on dates and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 manipulate table and filter contexts.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734175" y="1689627"/>
            <a:ext cx="510540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Aggregation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SUM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AVERAGE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MIN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MAX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COUNT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 and Time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CALENDAR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DATEVALUE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DAY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MONTH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YEAR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CALCULATE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FILTER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ALLEXCEPT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RELATED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Information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ISBLANK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ISERROR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ISNUMBER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ISTEXT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latin typeface="Candara" panose="020E0502030303020204" pitchFamily="34" charset="0"/>
              </a:rPr>
              <a:t>USERNAME</a:t>
            </a:r>
            <a:endParaRPr kumimoji="0" lang="en-US" altLang="en-US" sz="800" b="0" i="0" u="none" strike="noStrike" cap="none" normalizeH="0" baseline="0" dirty="0" smtClean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Logical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AND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OR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NOT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IF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, </a:t>
            </a:r>
            <a:r>
              <a:rPr kumimoji="0" lang="en-US" altLang="en-US" sz="1000" b="0" i="0" u="none" strike="noStrike" cap="none" normalizeH="0" baseline="0" dirty="0" smtClean="0">
                <a:ln>
                  <a:noFill/>
                </a:ln>
                <a:solidFill>
                  <a:srgbClr val="00B0F0"/>
                </a:solidFill>
                <a:effectLst/>
                <a:latin typeface="Candara" panose="020E0502030303020204" pitchFamily="34" charset="0"/>
              </a:rPr>
              <a:t>SWITCH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rgbClr val="00B0F0"/>
              </a:solidFill>
              <a:effectLst/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624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7293" y="2159238"/>
            <a:ext cx="90514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Total_Sales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		= SUM(Sales[Amount])</a:t>
            </a:r>
          </a:p>
          <a:p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Order_Count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		= COUNT(Sales[</a:t>
            </a:r>
            <a:r>
              <a:rPr lang="en-I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OrderID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-I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Average_Price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IN" dirty="0">
                <a:latin typeface="Courier New" panose="02070309020205020404" pitchFamily="49" charset="0"/>
                <a:cs typeface="Courier New" panose="02070309020205020404" pitchFamily="49" charset="0"/>
              </a:rPr>
              <a:t>AVERAGE(Products[Price])</a:t>
            </a:r>
          </a:p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DistinctValue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DISTINCTCOUNT(Data[Beverage Brand])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Profit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Margin %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=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DIVIDE([Profit], [Total Revenue])</a:t>
            </a:r>
          </a:p>
          <a:p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</a:p>
        </p:txBody>
      </p:sp>
      <p:sp>
        <p:nvSpPr>
          <p:cNvPr id="5" name="Rectangle 4"/>
          <p:cNvSpPr/>
          <p:nvPr/>
        </p:nvSpPr>
        <p:spPr>
          <a:xfrm>
            <a:off x="147484" y="636242"/>
            <a:ext cx="93701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</a:t>
            </a: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Aggregation functions return a scalar value applying an aggregation function to a column or to an expression evaluated by iterating a table expression.</a:t>
            </a:r>
            <a:r>
              <a:rPr lang="en-US" altLang="en-US" dirty="0">
                <a:latin typeface="Candara" panose="020E05020303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475212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4631" y="450277"/>
            <a:ext cx="86425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</a:t>
            </a:r>
            <a:endParaRPr lang="en-US" altLang="en-US" dirty="0">
              <a:solidFill>
                <a:schemeClr val="accent6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Date and time functions help creating calculations based on dates and time.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313123"/>
              </p:ext>
            </p:extLst>
          </p:nvPr>
        </p:nvGraphicFramePr>
        <p:xfrm>
          <a:off x="785196" y="1443235"/>
          <a:ext cx="8890649" cy="45262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641350">
                  <a:extLst>
                    <a:ext uri="{9D8B030D-6E8A-4147-A177-3AD203B41FA5}">
                      <a16:colId xmlns:a16="http://schemas.microsoft.com/office/drawing/2014/main" val="2391616480"/>
                    </a:ext>
                  </a:extLst>
                </a:gridCol>
                <a:gridCol w="7249299">
                  <a:extLst>
                    <a:ext uri="{9D8B030D-6E8A-4147-A177-3AD203B41FA5}">
                      <a16:colId xmlns:a16="http://schemas.microsoft.com/office/drawing/2014/main" val="300847146"/>
                    </a:ext>
                  </a:extLst>
                </a:gridCol>
              </a:tblGrid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TargetDate = DATE(2026, 06, 02)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676991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DATEDIFF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DaysPassed = DATEDIFF(OrderDate, ShipDate, DAY)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385482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ConvertedDate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DATEVALUE("2026-06-02")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6063242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DAY(Sales[InvoiceDate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8660780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TwoMonthsLater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EDATE(Sales[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017446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MonthEnd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EOMONTH(Sales[OrderDate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96263280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OrderHour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HOUR(Sales[Timestamp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3279193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OrderMinute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MINUTE(Sales[Timestamp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48599956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MonthNumber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MONTH(Sales[OrderDate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3581052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NOW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CurrentTimestamp = NOW()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26398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CurrentQuarter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QUARTER(Sales[OrderDate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487235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OrderSecond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SECOND(Sales[Timestamp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0660693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ShiftStart = TIME(9, 0, 0)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338903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TIMEVALUE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ConvertedTime = TIMEVALUE("13:30:00")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73358888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CurrentDate = TODAY()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4239795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DayOfWeek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WEEKDAY(Sales[OrderDate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2)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9768141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WeekOfYear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WEEKNUM(Sales[OrderDate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52867244"/>
                  </a:ext>
                </a:extLst>
              </a:tr>
              <a:tr h="24079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OrderYear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YEAR(Sales[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OrderDate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779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67472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077181"/>
              </p:ext>
            </p:extLst>
          </p:nvPr>
        </p:nvGraphicFramePr>
        <p:xfrm>
          <a:off x="559414" y="1961537"/>
          <a:ext cx="10167580" cy="290527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960182">
                  <a:extLst>
                    <a:ext uri="{9D8B030D-6E8A-4147-A177-3AD203B41FA5}">
                      <a16:colId xmlns:a16="http://schemas.microsoft.com/office/drawing/2014/main" val="571751960"/>
                    </a:ext>
                  </a:extLst>
                </a:gridCol>
                <a:gridCol w="7207398">
                  <a:extLst>
                    <a:ext uri="{9D8B030D-6E8A-4147-A177-3AD203B41FA5}">
                      <a16:colId xmlns:a16="http://schemas.microsoft.com/office/drawing/2014/main" val="2217835914"/>
                    </a:ext>
                  </a:extLst>
                </a:gridCol>
              </a:tblGrid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ISBLANK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ISBLANK(Sales[Discount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18119593"/>
                  </a:ext>
                </a:extLst>
              </a:tr>
              <a:tr h="40468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ISERROR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ISERROR(Sales[TotalAmount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4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Sales[Quantity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9105244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ISNUMBER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ISNUMBER(Sales[PostalCode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1129187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ISTEXT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ISTEXT(Sales[ProductCode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42217490"/>
                  </a:ext>
                </a:extLst>
              </a:tr>
              <a:tr h="280266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HASONEVALUE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HASONEVALUE(Product[Category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911158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HASONEFILTER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HASONEFILTER(Product[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SubCategory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1174376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NONBLANKROWCOUNT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RowCount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NONBLANKROWCOUNT(Customers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66788260"/>
                  </a:ext>
                </a:extLst>
              </a:tr>
              <a:tr h="234292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CurrentUser</a:t>
                      </a:r>
                      <a:r>
                        <a:rPr lang="en-IN" sz="14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USERNAME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00683929"/>
                  </a:ext>
                </a:extLst>
              </a:tr>
              <a:tr h="404829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USERPRINCIPALNAME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400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UserEmail</a:t>
                      </a:r>
                      <a:r>
                        <a:rPr lang="en-IN" sz="14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USERPRINCIPALNAME()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1779321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42452" y="38145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</a:t>
            </a:r>
            <a:endParaRPr lang="en-US" altLang="en-US" dirty="0">
              <a:solidFill>
                <a:schemeClr val="bg2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chemeClr val="bg2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Information functions provide information about data type or filter context of the argument provided.</a:t>
            </a:r>
          </a:p>
        </p:txBody>
      </p:sp>
    </p:spTree>
    <p:extLst>
      <p:ext uri="{BB962C8B-B14F-4D97-AF65-F5344CB8AC3E}">
        <p14:creationId xmlns:p14="http://schemas.microsoft.com/office/powerpoint/2010/main" val="38323201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86813" y="42078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</a:t>
            </a:r>
            <a:endParaRPr lang="en-US" altLang="en-US" dirty="0">
              <a:solidFill>
                <a:srgbClr val="00B0F0"/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0B0F0"/>
                </a:solidFill>
                <a:latin typeface="Candara" panose="020E0502030303020204" pitchFamily="34" charset="0"/>
              </a:rPr>
              <a:t>Logical functions act upon an expression to return information about the values or sets in the expression.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64339"/>
              </p:ext>
            </p:extLst>
          </p:nvPr>
        </p:nvGraphicFramePr>
        <p:xfrm>
          <a:off x="283087" y="2013720"/>
          <a:ext cx="10394746" cy="2391204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076746">
                  <a:extLst>
                    <a:ext uri="{9D8B030D-6E8A-4147-A177-3AD203B41FA5}">
                      <a16:colId xmlns:a16="http://schemas.microsoft.com/office/drawing/2014/main" val="56115187"/>
                    </a:ext>
                  </a:extLst>
                </a:gridCol>
                <a:gridCol w="9318000">
                  <a:extLst>
                    <a:ext uri="{9D8B030D-6E8A-4147-A177-3AD203B41FA5}">
                      <a16:colId xmlns:a16="http://schemas.microsoft.com/office/drawing/2014/main" val="1675222765"/>
                    </a:ext>
                  </a:extLst>
                </a:gridCol>
              </a:tblGrid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AND(Sales[Amount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Sales[Region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89615441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OR(Sales[Quantity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Sales[Discount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0.1)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279770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NOT(Sales[Status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"Cancelled")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91206019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IF(Sales[Amount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&gt;= 500, "High Value", "Standard")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79078976"/>
                  </a:ext>
                </a:extLst>
              </a:tr>
              <a:tr h="379524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SWITCH(Sales[RegionCode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1, "North", 2, "South", 3, "East", 4, "West", "Unknown")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5747507"/>
                  </a:ext>
                </a:extLst>
              </a:tr>
              <a:tr h="19556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IFERROR(Sales[Revenue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</a:t>
                      </a:r>
                      <a:r>
                        <a:rPr lang="en-IN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/ </a:t>
                      </a:r>
                      <a:r>
                        <a:rPr lang="en-IN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Sales[Units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0)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58176249"/>
                  </a:ext>
                </a:extLst>
              </a:tr>
              <a:tr h="207608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baseline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COALESCE(Sales[AltPhone</a:t>
                      </a:r>
                      <a:r>
                        <a:rPr lang="en-US" sz="12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</a:t>
                      </a:r>
                      <a:r>
                        <a:rPr lang="en-US" sz="1200" u="none" strike="noStrike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Sales[HomePhone</a:t>
                      </a:r>
                      <a:r>
                        <a:rPr lang="en-US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], "No Number")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83635867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SetFalse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FALSE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150343742"/>
                  </a:ext>
                </a:extLst>
              </a:tr>
              <a:tr h="19309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2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SetTrue</a:t>
                      </a:r>
                      <a:r>
                        <a:rPr lang="en-IN" sz="12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TRUE</a:t>
                      </a:r>
                      <a:r>
                        <a:rPr lang="en-IN" sz="12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6350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0508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355035"/>
              </p:ext>
            </p:extLst>
          </p:nvPr>
        </p:nvGraphicFramePr>
        <p:xfrm>
          <a:off x="175134" y="1795409"/>
          <a:ext cx="11830053" cy="192532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1816991">
                  <a:extLst>
                    <a:ext uri="{9D8B030D-6E8A-4147-A177-3AD203B41FA5}">
                      <a16:colId xmlns:a16="http://schemas.microsoft.com/office/drawing/2014/main" val="2230006388"/>
                    </a:ext>
                  </a:extLst>
                </a:gridCol>
                <a:gridCol w="10013062">
                  <a:extLst>
                    <a:ext uri="{9D8B030D-6E8A-4147-A177-3AD203B41FA5}">
                      <a16:colId xmlns:a16="http://schemas.microsoft.com/office/drawing/2014/main" val="229815961"/>
                    </a:ext>
                  </a:extLst>
                </a:gridCol>
              </a:tblGrid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Orders[Region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= "West")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63549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US" sz="1500" b="1" i="0" u="none" strike="noStrike" dirty="0" smtClean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FILTER(Orders, 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 &gt; 1000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FILTER(Orders, Orders[Category] = “</a:t>
                      </a:r>
                      <a:r>
                        <a:rPr lang="en-IN" sz="1300" u="none" strike="noStrike" dirty="0" err="1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Furntiture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”)</a:t>
                      </a:r>
                    </a:p>
                    <a:p>
                      <a:pPr algn="l" fontAlgn="b">
                        <a:spcBef>
                          <a:spcPts val="200"/>
                        </a:spcBef>
                      </a:pP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22911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 /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ALL(Sales))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581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ALLEXCEPT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ALLEXCEPT(Geography, Geography[State]))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8910001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CALCULATE(SUM(Orders[Amount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]),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ALLSELECTED(Orders))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821517"/>
                  </a:ext>
                </a:extLst>
              </a:tr>
              <a:tr h="211375"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5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>
                        <a:spcBef>
                          <a:spcPts val="200"/>
                        </a:spcBef>
                      </a:pPr>
                      <a:r>
                        <a:rPr lang="en-IN" sz="1300" u="none" strike="noStrike" baseline="0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IN" sz="1300" u="none" strike="noStrike" dirty="0" smtClean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RELATED(Product[Price</a:t>
                      </a:r>
                      <a:r>
                        <a:rPr lang="en-IN" sz="130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  <a:endParaRPr lang="en-IN" sz="13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" marR="7620" marT="762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84378999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44129" y="41179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</a:t>
            </a:r>
            <a:r>
              <a:rPr lang="en-US" altLang="en-US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&amp; Calculate functions</a:t>
            </a:r>
            <a:endParaRPr lang="en-US" altLang="en-US" dirty="0">
              <a:solidFill>
                <a:schemeClr val="accent1">
                  <a:lumMod val="60000"/>
                  <a:lumOff val="40000"/>
                </a:schemeClr>
              </a:solidFill>
              <a:latin typeface="Candara" panose="020E0502030303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andara" panose="020E0502030303020204" pitchFamily="34" charset="0"/>
              </a:rPr>
              <a:t>Filter functions manipulate table and filter contexts.</a:t>
            </a:r>
          </a:p>
        </p:txBody>
      </p:sp>
    </p:spTree>
    <p:extLst>
      <p:ext uri="{BB962C8B-B14F-4D97-AF65-F5344CB8AC3E}">
        <p14:creationId xmlns:p14="http://schemas.microsoft.com/office/powerpoint/2010/main" val="22062409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225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1129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29991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886" y="475861"/>
            <a:ext cx="31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Modelling</a:t>
            </a:r>
            <a:endParaRPr lang="en-IN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91886" y="1168459"/>
            <a:ext cx="8265518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Relationships</a:t>
            </a:r>
            <a:r>
              <a:rPr lang="en-US" altLang="en-US" b="1" dirty="0">
                <a:latin typeface="Candara" panose="020E0502030303020204" pitchFamily="34" charset="0"/>
              </a:rPr>
              <a:t> Cardinality &amp; Cross Filter Direction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Star Schema vs. Snowflake Schema: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Structural organization of Fact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Dimension tables.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Creating &amp; Managing Relationships: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Active vs. inactive relationship paths.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	Date Table Creation: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Generating continuous calendar dimensions for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Intelligence functions.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ndara" panose="020E0502030303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Hierarchies: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ndara" panose="020E0502030303020204" pitchFamily="34" charset="0"/>
              </a:rPr>
              <a:t>Parent-child drill-down paths (e.g., Year &gt; Quarter &gt; Month &gt; Day).</a:t>
            </a:r>
          </a:p>
        </p:txBody>
      </p:sp>
    </p:spTree>
    <p:extLst>
      <p:ext uri="{BB962C8B-B14F-4D97-AF65-F5344CB8AC3E}">
        <p14:creationId xmlns:p14="http://schemas.microsoft.com/office/powerpoint/2010/main" val="317070919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3256</TotalTime>
  <Words>788</Words>
  <Application>Microsoft Office PowerPoint</Application>
  <PresentationFormat>Widescreen</PresentationFormat>
  <Paragraphs>160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Candara</vt:lpstr>
      <vt:lpstr>Century Gothic</vt:lpstr>
      <vt:lpstr>Courier New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69</cp:revision>
  <dcterms:created xsi:type="dcterms:W3CDTF">2026-05-12T10:34:27Z</dcterms:created>
  <dcterms:modified xsi:type="dcterms:W3CDTF">2026-08-12T05:53:51Z</dcterms:modified>
</cp:coreProperties>
</file>