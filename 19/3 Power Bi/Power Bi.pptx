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85" r:id="rId3"/>
    <p:sldId id="257" r:id="rId4"/>
    <p:sldId id="262" r:id="rId5"/>
    <p:sldId id="258" r:id="rId6"/>
    <p:sldId id="259" r:id="rId7"/>
    <p:sldId id="260" r:id="rId8"/>
    <p:sldId id="261" r:id="rId9"/>
    <p:sldId id="263" r:id="rId10"/>
    <p:sldId id="264" r:id="rId11"/>
    <p:sldId id="265" r:id="rId12"/>
    <p:sldId id="266" r:id="rId13"/>
    <p:sldId id="284" r:id="rId14"/>
    <p:sldId id="267" r:id="rId15"/>
    <p:sldId id="268" r:id="rId16"/>
    <p:sldId id="274" r:id="rId17"/>
    <p:sldId id="275" r:id="rId18"/>
    <p:sldId id="276" r:id="rId19"/>
    <p:sldId id="286" r:id="rId20"/>
    <p:sldId id="277" r:id="rId21"/>
    <p:sldId id="278" r:id="rId22"/>
    <p:sldId id="279" r:id="rId23"/>
    <p:sldId id="280" r:id="rId24"/>
    <p:sldId id="281" r:id="rId25"/>
    <p:sldId id="287" r:id="rId26"/>
    <p:sldId id="288" r:id="rId27"/>
    <p:sldId id="289" r:id="rId28"/>
    <p:sldId id="290" r:id="rId29"/>
    <p:sldId id="270" r:id="rId30"/>
    <p:sldId id="271" r:id="rId31"/>
    <p:sldId id="272" r:id="rId32"/>
    <p:sldId id="27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773B0-9C71-4C42-839B-CED3341CD232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19E2E-A086-4A91-BA90-9CB5CDABE9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09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F19E2E-A086-4A91-BA90-9CB5CDABE961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951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173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819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781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621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198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433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882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57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363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824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044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0470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759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8389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539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120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184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C8321A5-74C1-4574-A6AA-F1EDDDF12D9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4317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18458" y="3104088"/>
            <a:ext cx="564502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Power Query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PowerPivot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Power View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Power BI Service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665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fference Between Power BI and Tablea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154" y="553163"/>
            <a:ext cx="10770571" cy="4441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1362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8335" y="391886"/>
            <a:ext cx="35549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andara" panose="020E0502030303020204" pitchFamily="34" charset="0"/>
              </a:rPr>
              <a:t>Power Bi Desktop</a:t>
            </a:r>
          </a:p>
          <a:p>
            <a:r>
              <a:rPr lang="en-US" dirty="0">
                <a:latin typeface="Candara" panose="020E0502030303020204" pitchFamily="34" charset="0"/>
              </a:rPr>
              <a:t>	</a:t>
            </a:r>
            <a:r>
              <a:rPr lang="en-US" dirty="0" smtClean="0">
                <a:latin typeface="Candara" panose="020E0502030303020204" pitchFamily="34" charset="0"/>
              </a:rPr>
              <a:t>Power query</a:t>
            </a:r>
          </a:p>
          <a:p>
            <a:r>
              <a:rPr lang="en-US" dirty="0">
                <a:latin typeface="Candara" panose="020E0502030303020204" pitchFamily="34" charset="0"/>
              </a:rPr>
              <a:t>	</a:t>
            </a:r>
            <a:r>
              <a:rPr lang="en-US" dirty="0" smtClean="0">
                <a:latin typeface="Candara" panose="020E0502030303020204" pitchFamily="34" charset="0"/>
              </a:rPr>
              <a:t>Modelling</a:t>
            </a:r>
          </a:p>
          <a:p>
            <a:r>
              <a:rPr lang="en-US" dirty="0">
                <a:latin typeface="Candara" panose="020E0502030303020204" pitchFamily="34" charset="0"/>
              </a:rPr>
              <a:t>	</a:t>
            </a:r>
            <a:r>
              <a:rPr lang="en-US" dirty="0" smtClean="0">
                <a:latin typeface="Candara" panose="020E0502030303020204" pitchFamily="34" charset="0"/>
              </a:rPr>
              <a:t>DAX</a:t>
            </a:r>
          </a:p>
          <a:p>
            <a:r>
              <a:rPr lang="en-US" dirty="0">
                <a:latin typeface="Candara" panose="020E0502030303020204" pitchFamily="34" charset="0"/>
              </a:rPr>
              <a:t>	</a:t>
            </a:r>
            <a:r>
              <a:rPr lang="en-US" dirty="0" smtClean="0">
                <a:latin typeface="Candara" panose="020E0502030303020204" pitchFamily="34" charset="0"/>
              </a:rPr>
              <a:t>Visual </a:t>
            </a:r>
          </a:p>
          <a:p>
            <a:r>
              <a:rPr lang="en-US" dirty="0" smtClean="0">
                <a:latin typeface="Candara" panose="020E0502030303020204" pitchFamily="34" charset="0"/>
              </a:rPr>
              <a:t>Power Bi Services</a:t>
            </a:r>
          </a:p>
          <a:p>
            <a:endParaRPr lang="en-US" dirty="0" smtClean="0">
              <a:latin typeface="Candara" panose="020E0502030303020204" pitchFamily="34" charset="0"/>
            </a:endParaRPr>
          </a:p>
          <a:p>
            <a:r>
              <a:rPr lang="en-US" dirty="0" smtClean="0">
                <a:latin typeface="Candara" panose="020E0502030303020204" pitchFamily="34" charset="0"/>
              </a:rPr>
              <a:t>Power Bi Mobile</a:t>
            </a:r>
            <a:endParaRPr lang="en-IN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305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42573"/>
          </a:xfrm>
        </p:spPr>
        <p:txBody>
          <a:bodyPr/>
          <a:lstStyle/>
          <a:p>
            <a:r>
              <a:rPr lang="en-US" dirty="0" smtClean="0"/>
              <a:t>Click on Blank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8994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2" y="251926"/>
            <a:ext cx="10470520" cy="34446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262" y="2996812"/>
            <a:ext cx="7535258" cy="32686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6113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44841"/>
          <a:stretch/>
        </p:blipFill>
        <p:spPr>
          <a:xfrm>
            <a:off x="93306" y="65314"/>
            <a:ext cx="1819275" cy="56636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363894" y="1985589"/>
            <a:ext cx="1095413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Report View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 (Bar chart icon): Used to create and view your report visualizations.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Table View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 (Grid icon): Used to view and manage the data within your tables.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Model View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 (Relationship diagram icon): Used to manage relationships between different data tables.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DAX Query View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 (Document icon with "DAX"): Used to write and run DAX (Data Analysis Expressions) queries.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TMDL View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 (Document icon with "TMDL"): Used for working with Tabular Model Definition Language files.</a:t>
            </a:r>
          </a:p>
        </p:txBody>
      </p:sp>
    </p:spTree>
    <p:extLst>
      <p:ext uri="{BB962C8B-B14F-4D97-AF65-F5344CB8AC3E}">
        <p14:creationId xmlns:p14="http://schemas.microsoft.com/office/powerpoint/2010/main" val="3370471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21" y="105312"/>
            <a:ext cx="9871787" cy="64578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3341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65" y="345232"/>
            <a:ext cx="13427604" cy="57688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76155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64" y="712060"/>
            <a:ext cx="11347673" cy="59313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270588" y="167951"/>
            <a:ext cx="2192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andara" panose="020E0502030303020204" pitchFamily="34" charset="0"/>
              </a:rPr>
              <a:t>Model View</a:t>
            </a:r>
            <a:endParaRPr lang="en-IN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443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65" y="662473"/>
            <a:ext cx="11796782" cy="73767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233265" y="134521"/>
            <a:ext cx="2192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andara" panose="020E0502030303020204" pitchFamily="34" charset="0"/>
              </a:rPr>
              <a:t>Data</a:t>
            </a:r>
            <a:endParaRPr lang="en-IN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90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22" y="653143"/>
            <a:ext cx="11829127" cy="6137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7722" y="134521"/>
            <a:ext cx="2192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andara" panose="020E0502030303020204" pitchFamily="34" charset="0"/>
              </a:rPr>
              <a:t>DAX</a:t>
            </a:r>
            <a:endParaRPr lang="en-IN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675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33" y="780243"/>
            <a:ext cx="14616427" cy="42447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287722" y="134521"/>
            <a:ext cx="2192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andara" panose="020E0502030303020204" pitchFamily="34" charset="0"/>
              </a:rPr>
              <a:t>Transform</a:t>
            </a:r>
            <a:endParaRPr lang="en-IN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472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781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27" y="810212"/>
            <a:ext cx="14364945" cy="35207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251927" y="177282"/>
            <a:ext cx="151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Power Query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4570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1886" y="475861"/>
            <a:ext cx="31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Modelling</a:t>
            </a:r>
            <a:endParaRPr lang="en-IN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91886" y="1583956"/>
            <a:ext cx="8265518" cy="1985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Relationships</a:t>
            </a:r>
            <a:r>
              <a:rPr lang="en-US" altLang="en-US" b="1" dirty="0">
                <a:latin typeface="Candara" panose="020E0502030303020204" pitchFamily="34" charset="0"/>
              </a:rPr>
              <a:t> Cardinality &amp; Cross Filter Direction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Star Schema vs. Snowflake Schema: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Structural organization of Fact and Dimension tables.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Creating &amp; Managing Relationships: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Active vs. inactive relationship paths.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Date Table Creation: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Generating continuous calendar dimensions for Time Intelligence functions.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Hierarchies: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Parent-child drill-down paths (e.g., Year &gt; Quarter &gt; Month &gt; Day).</a:t>
            </a:r>
          </a:p>
        </p:txBody>
      </p:sp>
    </p:spTree>
    <p:extLst>
      <p:ext uri="{BB962C8B-B14F-4D97-AF65-F5344CB8AC3E}">
        <p14:creationId xmlns:p14="http://schemas.microsoft.com/office/powerpoint/2010/main" val="3170709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3793" y="175823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Candara" panose="020E0502030303020204" pitchFamily="34" charset="0"/>
              </a:rPr>
              <a:t>Relationships</a:t>
            </a:r>
            <a:r>
              <a:rPr lang="en-US" altLang="en-US" b="1" dirty="0" smtClean="0">
                <a:latin typeface="Candara" panose="020E0502030303020204" pitchFamily="34" charset="0"/>
              </a:rPr>
              <a:t>:</a:t>
            </a:r>
            <a:endParaRPr lang="en-US" altLang="en-US" dirty="0">
              <a:latin typeface="Candara" panose="020E0502030303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9823" y="750011"/>
            <a:ext cx="158248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 smtClean="0">
                <a:latin typeface="Candara" panose="020E0502030303020204" pitchFamily="34" charset="0"/>
              </a:rPr>
              <a:t>One-to-many</a:t>
            </a:r>
          </a:p>
          <a:p>
            <a:r>
              <a:rPr lang="en-US" dirty="0" smtClean="0">
                <a:latin typeface="Candara" panose="020E0502030303020204" pitchFamily="34" charset="0"/>
              </a:rPr>
              <a:t>One to One</a:t>
            </a:r>
          </a:p>
          <a:p>
            <a:r>
              <a:rPr lang="en-US" dirty="0" smtClean="0">
                <a:latin typeface="Candara" panose="020E0502030303020204" pitchFamily="34" charset="0"/>
              </a:rPr>
              <a:t>Many to Many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488" y="1211676"/>
            <a:ext cx="6696269" cy="34258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719823" y="2654398"/>
            <a:ext cx="1451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latin typeface="Candara" panose="020E0502030303020204" pitchFamily="34" charset="0"/>
              </a:rPr>
              <a:t>One-to-many</a:t>
            </a:r>
          </a:p>
        </p:txBody>
      </p:sp>
    </p:spTree>
    <p:extLst>
      <p:ext uri="{BB962C8B-B14F-4D97-AF65-F5344CB8AC3E}">
        <p14:creationId xmlns:p14="http://schemas.microsoft.com/office/powerpoint/2010/main" val="368120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54" y="1280501"/>
            <a:ext cx="9412617" cy="38224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2"/>
          <p:cNvSpPr/>
          <p:nvPr/>
        </p:nvSpPr>
        <p:spPr>
          <a:xfrm>
            <a:off x="454352" y="373314"/>
            <a:ext cx="13195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 smtClean="0">
                <a:latin typeface="Candara" panose="020E0502030303020204" pitchFamily="34" charset="0"/>
              </a:rPr>
              <a:t>One-to-One</a:t>
            </a:r>
            <a:endParaRPr lang="en-US" altLang="en-US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020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807"/>
          <a:stretch/>
        </p:blipFill>
        <p:spPr>
          <a:xfrm>
            <a:off x="2143433" y="1392032"/>
            <a:ext cx="9674942" cy="5076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/>
          <p:cNvSpPr/>
          <p:nvPr/>
        </p:nvSpPr>
        <p:spPr>
          <a:xfrm>
            <a:off x="427958" y="225831"/>
            <a:ext cx="1582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Many to Many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9945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6644" y="1896468"/>
            <a:ext cx="1116944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latin typeface="Candara" panose="020E0502030303020204" pitchFamily="34" charset="0"/>
              </a:rPr>
              <a:t>Star Schema vs. Snowflake Schema</a:t>
            </a:r>
            <a:r>
              <a:rPr lang="en-US" altLang="en-US" sz="3200" b="1" dirty="0" smtClean="0">
                <a:latin typeface="Candara" panose="020E0502030303020204" pitchFamily="34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latin typeface="Candara" panose="020E0502030303020204" pitchFamily="34" charset="0"/>
              </a:rPr>
              <a:t>Before we go for </a:t>
            </a:r>
            <a:r>
              <a:rPr lang="en-US" altLang="en-US" dirty="0">
                <a:latin typeface="Candara" panose="020E0502030303020204" pitchFamily="34" charset="0"/>
              </a:rPr>
              <a:t>Star Schema </a:t>
            </a:r>
            <a:r>
              <a:rPr lang="en-US" altLang="en-US" dirty="0" smtClean="0">
                <a:latin typeface="Candara" panose="020E0502030303020204" pitchFamily="34" charset="0"/>
              </a:rPr>
              <a:t>and  </a:t>
            </a:r>
            <a:r>
              <a:rPr lang="en-US" altLang="en-US" dirty="0">
                <a:latin typeface="Candara" panose="020E0502030303020204" pitchFamily="34" charset="0"/>
              </a:rPr>
              <a:t>Snowflake </a:t>
            </a:r>
            <a:r>
              <a:rPr lang="en-US" altLang="en-US" dirty="0" smtClean="0">
                <a:latin typeface="Candara" panose="020E0502030303020204" pitchFamily="34" charset="0"/>
              </a:rPr>
              <a:t>Schema 1</a:t>
            </a:r>
            <a:r>
              <a:rPr lang="en-US" altLang="en-US" baseline="30000" dirty="0" smtClean="0">
                <a:latin typeface="Candara" panose="020E0502030303020204" pitchFamily="34" charset="0"/>
              </a:rPr>
              <a:t>st</a:t>
            </a:r>
            <a:r>
              <a:rPr lang="en-US" altLang="en-US" dirty="0" smtClean="0">
                <a:latin typeface="Candara" panose="020E0502030303020204" pitchFamily="34" charset="0"/>
              </a:rPr>
              <a:t> we need to understand what is Fact Table and Dimension Table</a:t>
            </a:r>
            <a:endParaRPr lang="en-US" altLang="en-US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965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8372" y="156919"/>
            <a:ext cx="115135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Fact Table: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Stores quantitative, measurable metrics and foreign keys, recording specific business events or transactions (e.g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., sales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revenue, quantity sold).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Dimension Table: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Stores descriptive attributes and context about the facts, allowing users to filter, group, and label data (e.g., customer names, product categories, dates).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28" y="1674473"/>
            <a:ext cx="10599272" cy="48407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6105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tar Schema Still Matters | Modern Data Model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669" y="1314169"/>
            <a:ext cx="6629400" cy="537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208219" y="271146"/>
            <a:ext cx="11169445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latin typeface="Candara" panose="020E0502030303020204" pitchFamily="34" charset="0"/>
              </a:rPr>
              <a:t>Star </a:t>
            </a:r>
            <a:r>
              <a:rPr lang="en-US" altLang="en-US" sz="3200" b="1" dirty="0" smtClean="0">
                <a:latin typeface="Candara" panose="020E0502030303020204" pitchFamily="34" charset="0"/>
              </a:rPr>
              <a:t>Schema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Candara" panose="020E0502030303020204" pitchFamily="34" charset="0"/>
              </a:rPr>
              <a:t>Every Dimension table is connected to the Fact Table.</a:t>
            </a:r>
            <a:endParaRPr lang="en-US" altLang="en-US" sz="12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784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809" y="1110103"/>
            <a:ext cx="5125165" cy="491558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16940" y="466410"/>
            <a:ext cx="53597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andara" panose="020E0502030303020204" pitchFamily="34" charset="0"/>
              </a:rPr>
              <a:t>Every Dimension table is connected to the Fact Table.</a:t>
            </a:r>
            <a:endParaRPr lang="en-US" altLang="en-US" sz="11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557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4602"/>
          <a:stretch/>
        </p:blipFill>
        <p:spPr>
          <a:xfrm>
            <a:off x="1138334" y="706091"/>
            <a:ext cx="10784814" cy="58914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/>
          <p:cNvSpPr/>
          <p:nvPr/>
        </p:nvSpPr>
        <p:spPr>
          <a:xfrm>
            <a:off x="3981692" y="821803"/>
            <a:ext cx="5451558" cy="54763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622656" y="821803"/>
            <a:ext cx="2189544" cy="405833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9770927" y="3205793"/>
            <a:ext cx="1694033" cy="30923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345361" y="129167"/>
            <a:ext cx="2114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latin typeface="Candara" panose="020E0502030303020204" pitchFamily="34" charset="0"/>
              </a:rPr>
              <a:t>Snowflake Schema: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3564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068" y="428263"/>
            <a:ext cx="1713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Dax</a:t>
            </a:r>
            <a:endParaRPr lang="en-IN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67950" y="1149411"/>
            <a:ext cx="6279503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There are more than 200 DAX functions. Some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importat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as </a:t>
            </a:r>
            <a:r>
              <a:rPr lang="en-US" altLang="en-US" dirty="0" smtClean="0">
                <a:latin typeface="Candara" panose="020E0502030303020204" pitchFamily="34" charset="0"/>
              </a:rPr>
              <a:t>below.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Aggregation functions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Aggregation functions return a scalar value applying an aggregation function to a column or to an expression evaluated by iterating a table expression.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Date and Time functions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Date and time functions help creating calculations based on dates and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Filter functions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Filter functions manipulate table and filter contexts.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Information functions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Information functions provide information about data type or filter context of the argument provided.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Logical functions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B0F0"/>
              </a:solidFill>
              <a:effectLst/>
              <a:latin typeface="Candara" panose="020E0502030303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Logical functions act upon an expression to return information about the values or sets in the expression.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734175" y="1689627"/>
            <a:ext cx="5105400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Aggregation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SUM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AVERAGE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MIN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MAX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COUNT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Date and Time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CALENDAR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DATEVALUE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DAY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MONTH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YEAR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Filter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CALCULATE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FILTER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ALL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ALLEXCEPT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RELATED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Information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ISBLANK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ISERROR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ISNUMBER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ISTEXT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USERNAME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Logical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AND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OR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NOT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IF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SWITCH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B0F0"/>
              </a:solidFill>
              <a:effectLst/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962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7293" y="2159238"/>
            <a:ext cx="90514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mtClean="0">
                <a:latin typeface="Courier New" panose="02070309020205020404" pitchFamily="49" charset="0"/>
                <a:cs typeface="Courier New" panose="02070309020205020404" pitchFamily="49" charset="0"/>
              </a:rPr>
              <a:t>Total_Sales  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mtClean="0">
                <a:latin typeface="Courier New" panose="02070309020205020404" pitchFamily="49" charset="0"/>
                <a:cs typeface="Courier New" panose="02070309020205020404" pitchFamily="49" charset="0"/>
              </a:rPr>
              <a:t>= SUM(Sales[Amount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I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Order_Count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IN" smtClean="0">
                <a:latin typeface="Courier New" panose="02070309020205020404" pitchFamily="49" charset="0"/>
                <a:cs typeface="Courier New" panose="02070309020205020404" pitchFamily="49" charset="0"/>
              </a:rPr>
              <a:t>= COUNT(Sales[OrderID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Average_Price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= 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AVERAGE(Products[Price])</a:t>
            </a:r>
          </a:p>
          <a:p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DistinctValue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DISTINCTCOUNT(Data[Beverage Brand])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Profit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Margin %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DIVIDE([Profit], [Total Revenue])</a:t>
            </a:r>
          </a:p>
          <a:p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</a:p>
        </p:txBody>
      </p:sp>
      <p:sp>
        <p:nvSpPr>
          <p:cNvPr id="5" name="Rectangle 4"/>
          <p:cNvSpPr/>
          <p:nvPr/>
        </p:nvSpPr>
        <p:spPr>
          <a:xfrm>
            <a:off x="147484" y="636242"/>
            <a:ext cx="937014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Aggregation functions</a:t>
            </a:r>
            <a:r>
              <a:rPr lang="en-US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Aggregation functions return a scalar value applying an aggregation function to a column or to an expression evaluated by iterating a table expression.</a:t>
            </a:r>
            <a:r>
              <a:rPr lang="en-US" altLang="en-US" dirty="0">
                <a:latin typeface="Candara" panose="020E0502030303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4752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4631" y="450277"/>
            <a:ext cx="86425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Date and Time functions</a:t>
            </a:r>
            <a:endParaRPr lang="en-US" altLang="en-US" dirty="0">
              <a:solidFill>
                <a:schemeClr val="accent6">
                  <a:lumMod val="60000"/>
                  <a:lumOff val="40000"/>
                </a:schemeClr>
              </a:solidFill>
              <a:latin typeface="Candara" panose="020E0502030303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Date and time functions help creating calculations based on dates and time.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313123"/>
              </p:ext>
            </p:extLst>
          </p:nvPr>
        </p:nvGraphicFramePr>
        <p:xfrm>
          <a:off x="785196" y="1443235"/>
          <a:ext cx="8890649" cy="452628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641350">
                  <a:extLst>
                    <a:ext uri="{9D8B030D-6E8A-4147-A177-3AD203B41FA5}">
                      <a16:colId xmlns:a16="http://schemas.microsoft.com/office/drawing/2014/main" val="2391616480"/>
                    </a:ext>
                  </a:extLst>
                </a:gridCol>
                <a:gridCol w="7249299">
                  <a:extLst>
                    <a:ext uri="{9D8B030D-6E8A-4147-A177-3AD203B41FA5}">
                      <a16:colId xmlns:a16="http://schemas.microsoft.com/office/drawing/2014/main" val="300847146"/>
                    </a:ext>
                  </a:extLst>
                </a:gridCol>
              </a:tblGrid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TargetDate = DATE(2026, 06, 02)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16769911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DATEDIFF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DaysPassed = DATEDIFF(OrderDate, ShipDate, DAY)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38548251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DATEVALUE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ConvertedDate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DATEVALUE("2026-06-02")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86063242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DAY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DayNumber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DAY(Sales[InvoiceDate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86607805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EDATE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TwoMonthsLater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EDATE(Sales[OrderDate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2)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90174460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EOMONTH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MonthEnd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EOMONTH(Sales[OrderDate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0)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96263280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HOUR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OrderHour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HOUR(Sales[Timestamp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93279193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MINUTE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OrderMinute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MINUTE(Sales[Timestamp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48599956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MONTH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MonthNumber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MONTH(Sales[OrderDate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35810528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NOW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CurrentTimestamp = NOW()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12639838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QUARTER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CurrentQuarter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QUARTER(Sales[OrderDate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04872351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SECOND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OrderSecond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SECOND(Sales[Timestamp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06606938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ShiftStart = TIME(9, 0, 0)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3389035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TIMEVALUE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ConvertedTime = TIMEVALUE("13:30:00")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73358888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TODAY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CurrentDate = TODAY()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14239795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WEEKDAY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DayOfWeek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WEEKDAY(Sales[OrderDate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2)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89768141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WEEKNUM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WeekOfYear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WEEKNUM(Sales[OrderDate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52867244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YEAR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OrderYear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YEAR(Sales[OrderDate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87779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674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077181"/>
              </p:ext>
            </p:extLst>
          </p:nvPr>
        </p:nvGraphicFramePr>
        <p:xfrm>
          <a:off x="559414" y="1961537"/>
          <a:ext cx="10167580" cy="2905279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960182">
                  <a:extLst>
                    <a:ext uri="{9D8B030D-6E8A-4147-A177-3AD203B41FA5}">
                      <a16:colId xmlns:a16="http://schemas.microsoft.com/office/drawing/2014/main" val="571751960"/>
                    </a:ext>
                  </a:extLst>
                </a:gridCol>
                <a:gridCol w="7207398">
                  <a:extLst>
                    <a:ext uri="{9D8B030D-6E8A-4147-A177-3AD203B41FA5}">
                      <a16:colId xmlns:a16="http://schemas.microsoft.com/office/drawing/2014/main" val="2217835914"/>
                    </a:ext>
                  </a:extLst>
                </a:gridCol>
              </a:tblGrid>
              <a:tr h="234292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ISBLANK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ISBLANK(Sales[Discount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18119593"/>
                  </a:ext>
                </a:extLst>
              </a:tr>
              <a:tr h="404686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ISERROR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ISERROR(Sales[TotalAmount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</a:t>
                      </a:r>
                      <a:r>
                        <a:rPr lang="en-IN" sz="14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 </a:t>
                      </a:r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Sales[Quantity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99105244"/>
                  </a:ext>
                </a:extLst>
              </a:tr>
              <a:tr h="234292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ISNUMBER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ISNUMBER(Sales[PostalCode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91129187"/>
                  </a:ext>
                </a:extLst>
              </a:tr>
              <a:tr h="234292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ISTEXT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ISTEXT(Sales[ProductCode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42217490"/>
                  </a:ext>
                </a:extLst>
              </a:tr>
              <a:tr h="280266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HASONEVALUE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HASONEVALUE(Product[Category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19111586"/>
                  </a:ext>
                </a:extLst>
              </a:tr>
              <a:tr h="404829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HASONEFILTER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HASONEFILTER(Product[</a:t>
                      </a:r>
                      <a:r>
                        <a:rPr lang="en-IN" sz="14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SubCategory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61174376"/>
                  </a:ext>
                </a:extLst>
              </a:tr>
              <a:tr h="404829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NONBLANKROWCOUNT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4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RowCount</a:t>
                      </a:r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NONBLANKROWCOUNT(Customers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66788260"/>
                  </a:ext>
                </a:extLst>
              </a:tr>
              <a:tr h="234292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USERNAME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4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CurrentUser</a:t>
                      </a:r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USERNAME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00683929"/>
                  </a:ext>
                </a:extLst>
              </a:tr>
              <a:tr h="404829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USERPRINCIPALNAME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4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UserEmail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USERPRINCIPALNAME()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17793219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42452" y="38145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Information functions</a:t>
            </a:r>
            <a:endParaRPr lang="en-US" altLang="en-US" dirty="0">
              <a:solidFill>
                <a:schemeClr val="bg2">
                  <a:lumMod val="60000"/>
                  <a:lumOff val="40000"/>
                </a:schemeClr>
              </a:solidFill>
              <a:latin typeface="Candara" panose="020E0502030303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Information functions provide information about data type or filter context of the argument provided.</a:t>
            </a:r>
          </a:p>
        </p:txBody>
      </p:sp>
    </p:spTree>
    <p:extLst>
      <p:ext uri="{BB962C8B-B14F-4D97-AF65-F5344CB8AC3E}">
        <p14:creationId xmlns:p14="http://schemas.microsoft.com/office/powerpoint/2010/main" val="3832320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6813" y="42078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B0F0"/>
                </a:solidFill>
                <a:latin typeface="Candara" panose="020E0502030303020204" pitchFamily="34" charset="0"/>
              </a:rPr>
              <a:t>Logical functions</a:t>
            </a:r>
            <a:endParaRPr lang="en-US" altLang="en-US" dirty="0">
              <a:solidFill>
                <a:srgbClr val="00B0F0"/>
              </a:solidFill>
              <a:latin typeface="Candara" panose="020E0502030303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B0F0"/>
                </a:solidFill>
                <a:latin typeface="Candara" panose="020E0502030303020204" pitchFamily="34" charset="0"/>
              </a:rPr>
              <a:t>Logical functions act upon an expression to return information about the values or sets in the expression.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664339"/>
              </p:ext>
            </p:extLst>
          </p:nvPr>
        </p:nvGraphicFramePr>
        <p:xfrm>
          <a:off x="283087" y="2013720"/>
          <a:ext cx="10394746" cy="2391204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076746">
                  <a:extLst>
                    <a:ext uri="{9D8B030D-6E8A-4147-A177-3AD203B41FA5}">
                      <a16:colId xmlns:a16="http://schemas.microsoft.com/office/drawing/2014/main" val="56115187"/>
                    </a:ext>
                  </a:extLst>
                </a:gridCol>
                <a:gridCol w="9318000">
                  <a:extLst>
                    <a:ext uri="{9D8B030D-6E8A-4147-A177-3AD203B41FA5}">
                      <a16:colId xmlns:a16="http://schemas.microsoft.com/office/drawing/2014/main" val="1675222765"/>
                    </a:ext>
                  </a:extLst>
                </a:gridCol>
              </a:tblGrid>
              <a:tr h="19556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AND(Sales[Amount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 100</a:t>
                      </a:r>
                      <a:r>
                        <a:rPr lang="en-US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Sales[Region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= "West")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89615441"/>
                  </a:ext>
                </a:extLst>
              </a:tr>
              <a:tr h="19556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OR(Sales[Quantity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 10</a:t>
                      </a:r>
                      <a:r>
                        <a:rPr lang="en-US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Sales[Discount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 0.1)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01279770"/>
                  </a:ext>
                </a:extLst>
              </a:tr>
              <a:tr h="193091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NOT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NOT(Sales[Status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= "Cancelled")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91206019"/>
                  </a:ext>
                </a:extLst>
              </a:tr>
              <a:tr h="19556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baseline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IF(Sales[Amount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&gt;= 500, "High Value", "Standard")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79078976"/>
                  </a:ext>
                </a:extLst>
              </a:tr>
              <a:tr h="379524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SWITCH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baseline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SWITCH(Sales[RegionCode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1, "North", 2, "South", 3, "East", 4, "West", "Unknown")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5747507"/>
                  </a:ext>
                </a:extLst>
              </a:tr>
              <a:tr h="19556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IFERROR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baseline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IFERROR(Sales[Revenue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Sales[Units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0)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58176249"/>
                  </a:ext>
                </a:extLst>
              </a:tr>
              <a:tr h="20760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COALESCE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baseline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COALESCE(Sales[AltPhone</a:t>
                      </a:r>
                      <a:r>
                        <a:rPr lang="en-US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Sales[HomePhone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"No Number")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83635867"/>
                  </a:ext>
                </a:extLst>
              </a:tr>
              <a:tr h="193091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SetFalse</a:t>
                      </a:r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FALSE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50343742"/>
                  </a:ext>
                </a:extLst>
              </a:tr>
              <a:tr h="193091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SetTrue</a:t>
                      </a:r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TRUE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6350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005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355035"/>
              </p:ext>
            </p:extLst>
          </p:nvPr>
        </p:nvGraphicFramePr>
        <p:xfrm>
          <a:off x="175134" y="1795409"/>
          <a:ext cx="11830053" cy="1925320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1816991">
                  <a:extLst>
                    <a:ext uri="{9D8B030D-6E8A-4147-A177-3AD203B41FA5}">
                      <a16:colId xmlns:a16="http://schemas.microsoft.com/office/drawing/2014/main" val="2230006388"/>
                    </a:ext>
                  </a:extLst>
                </a:gridCol>
                <a:gridCol w="10013062">
                  <a:extLst>
                    <a:ext uri="{9D8B030D-6E8A-4147-A177-3AD203B41FA5}">
                      <a16:colId xmlns:a16="http://schemas.microsoft.com/office/drawing/2014/main" val="229815961"/>
                    </a:ext>
                  </a:extLst>
                </a:gridCol>
              </a:tblGrid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CALCULATE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CALCULATE(SUM(Orders[Amount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]),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Orders[Region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= "West")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163549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FILTER</a:t>
                      </a:r>
                    </a:p>
                    <a:p>
                      <a:pPr algn="l" fontAlgn="b">
                        <a:spcBef>
                          <a:spcPts val="200"/>
                        </a:spcBef>
                      </a:pPr>
                      <a:endParaRPr lang="en-US" sz="1500" b="1" i="0" u="none" strike="noStrike" dirty="0" smtClean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 fontAlgn="b">
                        <a:spcBef>
                          <a:spcPts val="200"/>
                        </a:spcBef>
                      </a:pP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FILTER(Orders, 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 1000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FILTER(Orders, Orders[Category] = “</a:t>
                      </a:r>
                      <a:r>
                        <a:rPr lang="en-IN" sz="13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Furntiture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”)</a:t>
                      </a:r>
                    </a:p>
                    <a:p>
                      <a:pPr algn="l" fontAlgn="b">
                        <a:spcBef>
                          <a:spcPts val="200"/>
                        </a:spcBef>
                      </a:pP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229111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 /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CALCULATE(SUM(Orders[Amount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]),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ALL(Sales))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81001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ALLEXCEPT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CALCULATE(SUM(Orders[Amount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]), ALLEXCEPT(Geography, Geography[State]))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8910001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ALLSELECTED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CALCULATE(SUM(Orders[Amount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]),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ALLSELECTED(Orders))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6821517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RELATED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RELATED(Product[Price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43789993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44129" y="41179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Filter </a:t>
            </a:r>
            <a:r>
              <a:rPr lang="en-US" alt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&amp; Calculate functions</a:t>
            </a:r>
            <a:endParaRPr lang="en-US" altLang="en-US" dirty="0">
              <a:solidFill>
                <a:schemeClr val="accent1">
                  <a:lumMod val="60000"/>
                  <a:lumOff val="40000"/>
                </a:schemeClr>
              </a:solidFill>
              <a:latin typeface="Candara" panose="020E0502030303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Filter functions manipulate table and filter contexts.</a:t>
            </a:r>
          </a:p>
        </p:txBody>
      </p:sp>
    </p:spTree>
    <p:extLst>
      <p:ext uri="{BB962C8B-B14F-4D97-AF65-F5344CB8AC3E}">
        <p14:creationId xmlns:p14="http://schemas.microsoft.com/office/powerpoint/2010/main" val="2206240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22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112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8299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2680</TotalTime>
  <Words>899</Words>
  <Application>Microsoft Office PowerPoint</Application>
  <PresentationFormat>Widescreen</PresentationFormat>
  <Paragraphs>178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Candara</vt:lpstr>
      <vt:lpstr>Century Gothic</vt:lpstr>
      <vt:lpstr>Courier New</vt:lpstr>
      <vt:lpstr>Wingdings 3</vt:lpstr>
      <vt:lpstr>Ion</vt:lpstr>
      <vt:lpstr>PowerPoint Presentation</vt:lpstr>
      <vt:lpstr>PowerPoint Presentation</vt:lpstr>
      <vt:lpstr>PowerPoint Presentation</vt:lpstr>
      <vt:lpstr>Click on Blank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SHIVRAJ SHINDE</dc:creator>
  <cp:lastModifiedBy>SHIVRAJ SHINDE</cp:lastModifiedBy>
  <cp:revision>50</cp:revision>
  <dcterms:created xsi:type="dcterms:W3CDTF">2026-05-12T10:34:27Z</dcterms:created>
  <dcterms:modified xsi:type="dcterms:W3CDTF">2026-06-04T04:56:39Z</dcterms:modified>
</cp:coreProperties>
</file>