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85" r:id="rId3"/>
    <p:sldId id="257" r:id="rId4"/>
    <p:sldId id="262" r:id="rId5"/>
    <p:sldId id="258" r:id="rId6"/>
    <p:sldId id="259" r:id="rId7"/>
    <p:sldId id="260" r:id="rId8"/>
    <p:sldId id="261" r:id="rId9"/>
    <p:sldId id="263" r:id="rId10"/>
    <p:sldId id="264" r:id="rId11"/>
    <p:sldId id="265" r:id="rId12"/>
    <p:sldId id="266" r:id="rId13"/>
    <p:sldId id="284" r:id="rId14"/>
    <p:sldId id="267" r:id="rId15"/>
    <p:sldId id="268" r:id="rId16"/>
    <p:sldId id="274" r:id="rId17"/>
    <p:sldId id="275" r:id="rId18"/>
    <p:sldId id="276" r:id="rId19"/>
    <p:sldId id="286" r:id="rId20"/>
    <p:sldId id="277" r:id="rId21"/>
    <p:sldId id="278" r:id="rId22"/>
    <p:sldId id="279" r:id="rId23"/>
    <p:sldId id="280" r:id="rId24"/>
    <p:sldId id="281" r:id="rId25"/>
    <p:sldId id="287" r:id="rId26"/>
    <p:sldId id="288" r:id="rId27"/>
    <p:sldId id="289" r:id="rId28"/>
    <p:sldId id="290" r:id="rId29"/>
    <p:sldId id="282" r:id="rId30"/>
    <p:sldId id="270" r:id="rId31"/>
    <p:sldId id="271" r:id="rId32"/>
    <p:sldId id="272" r:id="rId33"/>
    <p:sldId id="27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F19E2E-A086-4A91-BA90-9CB5CDABE961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995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718458" y="3104088"/>
            <a:ext cx="564502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Query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PowerPivot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View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BI Service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65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fference Between Power BI and Tablea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154" y="553163"/>
            <a:ext cx="10770571" cy="444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136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8335" y="391886"/>
            <a:ext cx="35549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Power query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Modelling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DAX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Visual 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Power Bi Services</a:t>
            </a:r>
          </a:p>
          <a:p>
            <a:endParaRPr lang="en-US" dirty="0" smtClean="0">
              <a:latin typeface="Candara" panose="020E0502030303020204" pitchFamily="34" charset="0"/>
            </a:endParaRPr>
          </a:p>
          <a:p>
            <a:r>
              <a:rPr lang="en-US" dirty="0" smtClean="0">
                <a:latin typeface="Candara" panose="020E0502030303020204" pitchFamily="34" charset="0"/>
              </a:rPr>
              <a:t>Power Bi Mobile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305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242573"/>
          </a:xfrm>
        </p:spPr>
        <p:txBody>
          <a:bodyPr/>
          <a:lstStyle/>
          <a:p>
            <a:r>
              <a:rPr lang="en-US" dirty="0" smtClean="0"/>
              <a:t>Click on Blank</a:t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8994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2" y="251926"/>
            <a:ext cx="10470520" cy="3444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62" y="2996812"/>
            <a:ext cx="7535258" cy="3268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113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44841"/>
          <a:stretch/>
        </p:blipFill>
        <p:spPr>
          <a:xfrm>
            <a:off x="93306" y="65314"/>
            <a:ext cx="1819275" cy="566368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363894" y="1985589"/>
            <a:ext cx="109541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Report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(Bar chart icon): Used to create and view your report visualizations.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Table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(Grid icon): Used to view and manage the data within your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Model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(Relationship diagram icon): Used to manage relationships between different data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DAX Query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"DAX"): Used to write and run DAX (Data Analysis Expressions) queries.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TMDL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"TMDL"): Used for working with Tabular Model Definition Language files.</a:t>
            </a:r>
          </a:p>
        </p:txBody>
      </p:sp>
    </p:spTree>
    <p:extLst>
      <p:ext uri="{BB962C8B-B14F-4D97-AF65-F5344CB8AC3E}">
        <p14:creationId xmlns:p14="http://schemas.microsoft.com/office/powerpoint/2010/main" val="337047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1" y="105312"/>
            <a:ext cx="9871787" cy="6457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3341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345232"/>
            <a:ext cx="13427604" cy="57688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61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64" y="712060"/>
            <a:ext cx="11347673" cy="59313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270588" y="16795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Model View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443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662473"/>
            <a:ext cx="11796782" cy="73767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33265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Data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90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2" y="653143"/>
            <a:ext cx="11829127" cy="61377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DAX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5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3" y="780243"/>
            <a:ext cx="14616427" cy="42447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Transform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72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781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7" y="810212"/>
            <a:ext cx="14364945" cy="35207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51927" y="177282"/>
            <a:ext cx="151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Power Query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57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475861"/>
            <a:ext cx="311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Modelling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1886" y="1583956"/>
            <a:ext cx="8265518" cy="19851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Relationships</a:t>
            </a:r>
            <a:r>
              <a:rPr lang="en-US" altLang="en-US" b="1" dirty="0">
                <a:latin typeface="Candara" panose="020E0502030303020204" pitchFamily="34" charset="0"/>
              </a:rPr>
              <a:t> Cardinality &amp; Cross Filter Direction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Star Schema vs. Snowflake Schema: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Structural organization of Fact and Dimension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Creating &amp; Managing Relationships: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Active vs. inactive relationship paths.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Date Table Creation: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Generating continuous calendar dimensions for Time Intelligence functions.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Hierarchies: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Parent-child drill-down paths (e.g., Year &gt; Quarter &gt; Month &gt; Day).</a:t>
            </a:r>
          </a:p>
        </p:txBody>
      </p:sp>
    </p:spTree>
    <p:extLst>
      <p:ext uri="{BB962C8B-B14F-4D97-AF65-F5344CB8AC3E}">
        <p14:creationId xmlns:p14="http://schemas.microsoft.com/office/powerpoint/2010/main" val="3170709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807"/>
          <a:stretch/>
        </p:blipFill>
        <p:spPr>
          <a:xfrm>
            <a:off x="2143433" y="1392032"/>
            <a:ext cx="9674942" cy="5076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427958" y="225831"/>
            <a:ext cx="1582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945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644" y="1896468"/>
            <a:ext cx="11169445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Schema vs. Snowflake Schema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Candara" panose="020E0502030303020204" pitchFamily="34" charset="0"/>
              </a:rPr>
              <a:t>Before we go for </a:t>
            </a:r>
            <a:r>
              <a:rPr lang="en-US" altLang="en-US" dirty="0">
                <a:latin typeface="Candara" panose="020E0502030303020204" pitchFamily="34" charset="0"/>
              </a:rPr>
              <a:t>Star Schema </a:t>
            </a:r>
            <a:r>
              <a:rPr lang="en-US" altLang="en-US" dirty="0" smtClean="0">
                <a:latin typeface="Candara" panose="020E0502030303020204" pitchFamily="34" charset="0"/>
              </a:rPr>
              <a:t>and  </a:t>
            </a:r>
            <a:r>
              <a:rPr lang="en-US" altLang="en-US" dirty="0">
                <a:latin typeface="Candara" panose="020E0502030303020204" pitchFamily="34" charset="0"/>
              </a:rPr>
              <a:t>Snowflake </a:t>
            </a:r>
            <a:r>
              <a:rPr lang="en-US" altLang="en-US" dirty="0" smtClean="0">
                <a:latin typeface="Candara" panose="020E0502030303020204" pitchFamily="34" charset="0"/>
              </a:rPr>
              <a:t>Schema 1</a:t>
            </a:r>
            <a:r>
              <a:rPr lang="en-US" altLang="en-US" baseline="30000" dirty="0" smtClean="0">
                <a:latin typeface="Candara" panose="020E0502030303020204" pitchFamily="34" charset="0"/>
              </a:rPr>
              <a:t>st</a:t>
            </a:r>
            <a:r>
              <a:rPr lang="en-US" altLang="en-US" dirty="0" smtClean="0">
                <a:latin typeface="Candara" panose="020E0502030303020204" pitchFamily="34" charset="0"/>
              </a:rPr>
              <a:t> we need to understand what is Fact Table and Dimension Table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965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8372" y="156919"/>
            <a:ext cx="1151352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Fact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quantitative, measurable metrics and foreign keys, recording specific business events or transactions (e.g., sales revenue, quantity sold).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descriptive attributes and context about the facts, allowing users to filter, group, and label data (e.g., customer names, product categories, dates).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674473"/>
            <a:ext cx="10599272" cy="48407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610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ar Schema Still Matters | Modern Data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4669" y="1314169"/>
            <a:ext cx="6629400" cy="537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208219" y="271146"/>
            <a:ext cx="1116944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Schema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 smtClean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2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78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809" y="1110103"/>
            <a:ext cx="5125165" cy="491558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16940" y="466410"/>
            <a:ext cx="53597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1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557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b="4602"/>
          <a:stretch/>
        </p:blipFill>
        <p:spPr>
          <a:xfrm>
            <a:off x="1138334" y="706091"/>
            <a:ext cx="10784814" cy="58914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3981692" y="821803"/>
            <a:ext cx="5451558" cy="54763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1622656" y="821803"/>
            <a:ext cx="2189544" cy="40583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9770927" y="3205793"/>
            <a:ext cx="1694033" cy="30923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45361" y="129167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andara" panose="020E0502030303020204" pitchFamily="34" charset="0"/>
              </a:rPr>
              <a:t>Snowflake Schema: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3564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428263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149411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functions. Some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importat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34175" y="1689627"/>
            <a:ext cx="5105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37293" y="2159238"/>
            <a:ext cx="905140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Total_Sales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SUM(Sales[Amount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COUNT(Sales[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Average_Price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AVERAGE(Products[Price])</a:t>
            </a:r>
          </a:p>
          <a:p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DistinctValue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DISTINCTCOUNT(Data[Beverage Brand])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Profit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Margin %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DIVIDE([Profit], [Total Revenue])</a:t>
            </a:r>
          </a:p>
          <a:p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13123"/>
              </p:ext>
            </p:extLst>
          </p:nvPr>
        </p:nvGraphicFramePr>
        <p:xfrm>
          <a:off x="785196" y="1443235"/>
          <a:ext cx="8890649" cy="452628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641350">
                  <a:extLst>
                    <a:ext uri="{9D8B030D-6E8A-4147-A177-3AD203B41FA5}">
                      <a16:colId xmlns:a16="http://schemas.microsoft.com/office/drawing/2014/main" val="2391616480"/>
                    </a:ext>
                  </a:extLst>
                </a:gridCol>
                <a:gridCol w="7249299">
                  <a:extLst>
                    <a:ext uri="{9D8B030D-6E8A-4147-A177-3AD203B41FA5}">
                      <a16:colId xmlns:a16="http://schemas.microsoft.com/office/drawing/2014/main" val="300847146"/>
                    </a:ext>
                  </a:extLst>
                </a:gridCol>
              </a:tblGrid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TargetDate = DATE(2026, 06, 02)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676991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DATEDIFF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DaysPassed = DATEDIFF(OrderDate, ShipDate, DAY)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85482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ConvertedDate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DATEVALUE("2026-06-02")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6063242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DAY(Sales[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InvoiceDate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8660780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TwoMonthsLater = EDATE(Sales[OrderDate], 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9017446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MonthEnd = EOMONTH(Sales[OrderDate],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9626328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OrderHour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HOUR(Sales[Timestamp])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3279193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OrderMinute = MINUTE(Sales[Timestamp])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8599956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MonthNumber = MONTH(Sales[OrderDate])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3581052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CurrentTimestamp = NOW()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26398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CurrentQuarter = QUARTER(Sales[OrderDate])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8723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OrderSecond = SECOND(Sales[Timestamp])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66069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ShiftStart = TIME(9, 0,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38903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ConvertedTime = TIMEVALUE("13:30:00")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335888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CurrentDate = TODAY()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423979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DayOfWeek = WEEKDAY(Sales[OrderDate], 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976814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WeekOfYear = WEEKNUM(Sales[OrderDate])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2867244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YEAR(Sales[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777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077181"/>
              </p:ext>
            </p:extLst>
          </p:nvPr>
        </p:nvGraphicFramePr>
        <p:xfrm>
          <a:off x="559414" y="1961537"/>
          <a:ext cx="10167580" cy="290527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60182">
                  <a:extLst>
                    <a:ext uri="{9D8B030D-6E8A-4147-A177-3AD203B41FA5}">
                      <a16:colId xmlns:a16="http://schemas.microsoft.com/office/drawing/2014/main" val="571751960"/>
                    </a:ext>
                  </a:extLst>
                </a:gridCol>
                <a:gridCol w="7207398">
                  <a:extLst>
                    <a:ext uri="{9D8B030D-6E8A-4147-A177-3AD203B41FA5}">
                      <a16:colId xmlns:a16="http://schemas.microsoft.com/office/drawing/2014/main" val="2217835914"/>
                    </a:ext>
                  </a:extLst>
                </a:gridCol>
              </a:tblGrid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ISBLANK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ISBLANK(Sales[Discount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8119593"/>
                  </a:ext>
                </a:extLst>
              </a:tr>
              <a:tr h="40468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ISERROR(Sales[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TotalAmount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/ Sales[Quantity])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9105244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ISNUMBER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ISNUMBER(Sales[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PostalCode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1129187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ISTEXT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ISTEXT(Sales[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2217490"/>
                  </a:ext>
                </a:extLst>
              </a:tr>
              <a:tr h="28026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HASONEVALUE(Product[Category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911158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HASONEFILTER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HASONEFILTER(Product[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117437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NONBLANKROWCOUNT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RowCount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NONBLANKROWCOUNT(Customers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6788260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CurrentUser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USERNAME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0683929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USERPRINCIPALNAME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UserEmail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USERPRINCIPALNAME()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779321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2452" y="3814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3" y="42078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4339"/>
              </p:ext>
            </p:extLst>
          </p:nvPr>
        </p:nvGraphicFramePr>
        <p:xfrm>
          <a:off x="283087" y="2013720"/>
          <a:ext cx="10394746" cy="23912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6746">
                  <a:extLst>
                    <a:ext uri="{9D8B030D-6E8A-4147-A177-3AD203B41FA5}">
                      <a16:colId xmlns:a16="http://schemas.microsoft.com/office/drawing/2014/main" val="56115187"/>
                    </a:ext>
                  </a:extLst>
                </a:gridCol>
                <a:gridCol w="9318000">
                  <a:extLst>
                    <a:ext uri="{9D8B030D-6E8A-4147-A177-3AD203B41FA5}">
                      <a16:colId xmlns:a16="http://schemas.microsoft.com/office/drawing/2014/main" val="1675222765"/>
                    </a:ext>
                  </a:extLst>
                </a:gridCol>
              </a:tblGrid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100, Sales[Region] = "West")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615441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OR(Sales[Quantity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10, Sales[Discount] &gt; 0.1)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279770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NOT(Sales[Status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"Cancelled")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1206019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&gt;= 500, "High Value", "Standard")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9078976"/>
                  </a:ext>
                </a:extLst>
              </a:tr>
              <a:tr h="379524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SWITCH(Sales[</a:t>
                      </a:r>
                      <a:r>
                        <a:rPr lang="en-US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RegionCode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1, "North", 2, "South", 3, "East", 4, "West", "Unknown")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5747507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IFERROR(Sales[Revenue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/ Sales[Units],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176249"/>
                  </a:ext>
                </a:extLst>
              </a:tr>
              <a:tr h="20760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COALESCE(Sales[</a:t>
                      </a:r>
                      <a:r>
                        <a:rPr lang="en-US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AltPhone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Sales[</a:t>
                      </a:r>
                      <a:r>
                        <a:rPr lang="en-US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HomePhone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"No Number")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3635867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SetFalse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FALSE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0343742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SetTrue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TRUE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635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8262" y="942559"/>
            <a:ext cx="10532962" cy="2970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</a:p>
          <a:p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Category =IF(Data[Units Sold] &lt; 5000, "Small", "Large")</a:t>
            </a:r>
          </a:p>
          <a:p>
            <a:endParaRPr lang="en-IN" sz="17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IN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7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High_Value_Sales</a:t>
            </a:r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= 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CALCULATE(SUM(Sales[Amount]), Sales[Amount] &gt; 1000)</a:t>
            </a:r>
          </a:p>
          <a:p>
            <a:r>
              <a:rPr lang="en-IN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Less_Value_Sales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CALCULATE(SUM(Sales[Amount]), Sales[Amount] &lt; 1000</a:t>
            </a:r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Category </a:t>
            </a:r>
            <a:r>
              <a:rPr lang="en-US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IF(Data[Units Sold] &lt; 5000, "Small", "Large")</a:t>
            </a:r>
          </a:p>
          <a:p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Category </a:t>
            </a:r>
            <a:r>
              <a:rPr lang="en-US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IF(</a:t>
            </a:r>
          </a:p>
          <a:p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Data[Units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Sold] &lt; 5000</a:t>
            </a:r>
            <a:r>
              <a:rPr lang="en-US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,"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Small",</a:t>
            </a:r>
          </a:p>
          <a:p>
            <a:pPr lvl="7"/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IF(Data[Units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Sold] &lt; 10000, "Medium", "Large")</a:t>
            </a:r>
          </a:p>
          <a:p>
            <a:pPr lvl="7"/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IN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2821" y="327514"/>
            <a:ext cx="3865161" cy="3539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CALCULATE &amp; FILTER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821" y="4356695"/>
            <a:ext cx="9464233" cy="1923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</a:p>
          <a:p>
            <a:endParaRPr lang="en-IN" sz="17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Performance =</a:t>
            </a:r>
          </a:p>
          <a:p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(    </a:t>
            </a:r>
            <a:endParaRPr lang="en-IN" sz="17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(),    </a:t>
            </a:r>
            <a:endParaRPr lang="en-IN" sz="17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Sales] &lt; 10000, "Low",    </a:t>
            </a:r>
            <a:endParaRPr lang="en-IN" sz="17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Sales] &lt; 50000, "Medium</a:t>
            </a:r>
            <a:r>
              <a:rPr lang="en-IN" sz="17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I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High")</a:t>
            </a:r>
          </a:p>
        </p:txBody>
      </p:sp>
    </p:spTree>
    <p:extLst>
      <p:ext uri="{BB962C8B-B14F-4D97-AF65-F5344CB8AC3E}">
        <p14:creationId xmlns:p14="http://schemas.microsoft.com/office/powerpoint/2010/main" val="181356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928256"/>
              </p:ext>
            </p:extLst>
          </p:nvPr>
        </p:nvGraphicFramePr>
        <p:xfrm>
          <a:off x="175134" y="1795409"/>
          <a:ext cx="11830053" cy="1417320"/>
        </p:xfrm>
        <a:graphic>
          <a:graphicData uri="http://schemas.openxmlformats.org/drawingml/2006/table">
            <a:tbl>
              <a:tblPr>
                <a:tableStyleId>{5FD0F851-EC5A-4D38-B0AD-8093EC10F338}</a:tableStyleId>
              </a:tblPr>
              <a:tblGrid>
                <a:gridCol w="1816991">
                  <a:extLst>
                    <a:ext uri="{9D8B030D-6E8A-4147-A177-3AD203B41FA5}">
                      <a16:colId xmlns:a16="http://schemas.microsoft.com/office/drawing/2014/main" val="2230006388"/>
                    </a:ext>
                  </a:extLst>
                </a:gridCol>
                <a:gridCol w="10013062">
                  <a:extLst>
                    <a:ext uri="{9D8B030D-6E8A-4147-A177-3AD203B41FA5}">
                      <a16:colId xmlns:a16="http://schemas.microsoft.com/office/drawing/2014/main" val="229815961"/>
                    </a:ext>
                  </a:extLst>
                </a:gridCol>
              </a:tblGrid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CALCULATE(SUM(Sales[Amount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Sales[Region] = "West")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5163549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FILTER(Sales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Sales[Amount] &gt; 1000)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1722911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SUM(Sales[Amount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/ CALCULATE(SUM(Sales[Amount]), ALL(Sales))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2581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ALLEXCEPT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CALCULATE(SUM(Sales[Amount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ALLEXCEPT(Geography, Geography[State]))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68910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CALCULATE(SUM(Sales[Amount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ALLSELECTED(Sales))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26821517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/>
                      <a:r>
                        <a:rPr lang="en-IN" sz="15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RELATED(Product[Price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43789993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22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112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299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2641</TotalTime>
  <Words>936</Words>
  <Application>Microsoft Office PowerPoint</Application>
  <PresentationFormat>Widescreen</PresentationFormat>
  <Paragraphs>196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Candara</vt:lpstr>
      <vt:lpstr>Century Gothic</vt:lpstr>
      <vt:lpstr>Courier New</vt:lpstr>
      <vt:lpstr>Wingdings 3</vt:lpstr>
      <vt:lpstr>Ion</vt:lpstr>
      <vt:lpstr>PowerPoint Presentation</vt:lpstr>
      <vt:lpstr>PowerPoint Presentation</vt:lpstr>
      <vt:lpstr>PowerPoint Presentation</vt:lpstr>
      <vt:lpstr>Click on Blank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47</cp:revision>
  <dcterms:created xsi:type="dcterms:W3CDTF">2026-05-12T10:34:27Z</dcterms:created>
  <dcterms:modified xsi:type="dcterms:W3CDTF">2026-06-03T05:02:00Z</dcterms:modified>
</cp:coreProperties>
</file>