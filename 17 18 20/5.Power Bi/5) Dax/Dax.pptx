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91" r:id="rId2"/>
    <p:sldId id="281" r:id="rId3"/>
    <p:sldId id="287" r:id="rId4"/>
    <p:sldId id="288" r:id="rId5"/>
    <p:sldId id="292" r:id="rId6"/>
    <p:sldId id="289" r:id="rId7"/>
    <p:sldId id="293" r:id="rId8"/>
    <p:sldId id="290" r:id="rId9"/>
    <p:sldId id="270" r:id="rId10"/>
    <p:sldId id="294" r:id="rId11"/>
    <p:sldId id="295" r:id="rId12"/>
    <p:sldId id="297" r:id="rId13"/>
    <p:sldId id="29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62" y="1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7773B0-9C71-4C42-839B-CED3341CD232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F19E2E-A086-4A91-BA90-9CB5CDABE96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309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1173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3819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57815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2621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198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7433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0882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5570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9363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0824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30440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404701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67596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48389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35399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2120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94184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DC8321A5-74C1-4574-A6AA-F1EDDDF12D9F}" type="datetimeFigureOut">
              <a:rPr lang="en-IN" smtClean="0"/>
              <a:t>17-08-2026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4317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87355" y="2825917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364957" y="586134"/>
            <a:ext cx="1142599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+mj-lt"/>
              </a:rPr>
              <a:t>Dax</a:t>
            </a:r>
            <a:r>
              <a:rPr lang="en-US" dirty="0">
                <a:latin typeface="+mj-lt"/>
              </a:rPr>
              <a:t/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/>
            </a:r>
            <a:br>
              <a:rPr lang="en-US" dirty="0">
                <a:latin typeface="+mj-lt"/>
              </a:rPr>
            </a:br>
            <a:r>
              <a:rPr lang="en-US" b="1" dirty="0">
                <a:latin typeface="+mj-lt"/>
              </a:rPr>
              <a:t>DAX</a:t>
            </a:r>
            <a:r>
              <a:rPr lang="en-US" dirty="0">
                <a:latin typeface="+mj-lt"/>
              </a:rPr>
              <a:t> stands for </a:t>
            </a:r>
            <a:r>
              <a:rPr lang="en-US" b="1" dirty="0">
                <a:latin typeface="+mj-lt"/>
              </a:rPr>
              <a:t>Data Analysis Expressions</a:t>
            </a:r>
            <a:r>
              <a:rPr lang="en-US" dirty="0">
                <a:latin typeface="+mj-lt"/>
              </a:rPr>
              <a:t>. It is the formula language used in </a:t>
            </a:r>
            <a:r>
              <a:rPr lang="en-US" b="1" dirty="0">
                <a:latin typeface="+mj-lt"/>
              </a:rPr>
              <a:t>Power BI</a:t>
            </a:r>
            <a:r>
              <a:rPr lang="en-US" dirty="0">
                <a:latin typeface="+mj-lt"/>
              </a:rPr>
              <a:t> to perform calculations and create measures, calculated columns, and calculated tables</a:t>
            </a:r>
            <a:r>
              <a:rPr lang="en-US" dirty="0" smtClean="0">
                <a:latin typeface="+mj-lt"/>
              </a:rPr>
              <a:t>.</a:t>
            </a:r>
          </a:p>
          <a:p>
            <a:endParaRPr lang="en-US" dirty="0">
              <a:latin typeface="+mj-lt"/>
            </a:endParaRPr>
          </a:p>
          <a:p>
            <a:r>
              <a:rPr lang="en-US" b="1" dirty="0" smtClean="0">
                <a:latin typeface="+mj-lt"/>
              </a:rPr>
              <a:t>Calculated </a:t>
            </a:r>
            <a:r>
              <a:rPr lang="en-US" b="1" dirty="0">
                <a:latin typeface="+mj-lt"/>
              </a:rPr>
              <a:t>Column</a:t>
            </a:r>
            <a:br>
              <a:rPr lang="en-US" b="1" dirty="0">
                <a:latin typeface="+mj-lt"/>
              </a:rPr>
            </a:br>
            <a:r>
              <a:rPr lang="en-US" b="1" dirty="0" smtClean="0">
                <a:latin typeface="+mj-lt"/>
              </a:rPr>
              <a:t>	</a:t>
            </a:r>
            <a:r>
              <a:rPr lang="en-US" dirty="0" smtClean="0">
                <a:latin typeface="+mj-lt"/>
              </a:rPr>
              <a:t>A </a:t>
            </a:r>
            <a:r>
              <a:rPr lang="en-US" b="1" dirty="0">
                <a:latin typeface="+mj-lt"/>
              </a:rPr>
              <a:t>column</a:t>
            </a:r>
            <a:r>
              <a:rPr lang="en-US" dirty="0">
                <a:latin typeface="+mj-lt"/>
              </a:rPr>
              <a:t> creates a value for </a:t>
            </a:r>
            <a:r>
              <a:rPr lang="en-US" b="1" dirty="0">
                <a:latin typeface="+mj-lt"/>
              </a:rPr>
              <a:t>every row</a:t>
            </a:r>
            <a:r>
              <a:rPr lang="en-US" dirty="0">
                <a:latin typeface="+mj-lt"/>
              </a:rPr>
              <a:t> in your </a:t>
            </a:r>
            <a:r>
              <a:rPr lang="en-US" dirty="0" smtClean="0">
                <a:latin typeface="+mj-lt"/>
              </a:rPr>
              <a:t>table.</a:t>
            </a:r>
          </a:p>
          <a:p>
            <a:pPr marL="342900" indent="-342900">
              <a:buAutoNum type="arabicPeriod"/>
            </a:pPr>
            <a:endParaRPr lang="en-US" b="1" dirty="0" smtClean="0">
              <a:latin typeface="+mj-lt"/>
            </a:endParaRPr>
          </a:p>
          <a:p>
            <a:pPr marL="342900" indent="-342900">
              <a:buAutoNum type="arabicPeriod"/>
            </a:pPr>
            <a:endParaRPr lang="en-US" b="1" dirty="0">
              <a:latin typeface="+mj-lt"/>
            </a:endParaRPr>
          </a:p>
          <a:p>
            <a:endParaRPr lang="en-US" b="1" dirty="0">
              <a:latin typeface="+mj-lt"/>
            </a:endParaRPr>
          </a:p>
          <a:p>
            <a:r>
              <a:rPr lang="en-US" b="1" dirty="0" smtClean="0">
                <a:latin typeface="+mj-lt"/>
              </a:rPr>
              <a:t>Measure</a:t>
            </a:r>
            <a:r>
              <a:rPr lang="en-US" b="1" dirty="0">
                <a:latin typeface="+mj-lt"/>
              </a:rPr>
              <a:t/>
            </a:r>
            <a:br>
              <a:rPr lang="en-US" b="1" dirty="0">
                <a:latin typeface="+mj-lt"/>
              </a:rPr>
            </a:br>
            <a:r>
              <a:rPr lang="en-US" b="1" dirty="0" smtClean="0">
                <a:latin typeface="+mj-lt"/>
              </a:rPr>
              <a:t>	</a:t>
            </a:r>
            <a:r>
              <a:rPr lang="en-US" dirty="0" smtClean="0">
                <a:latin typeface="+mj-lt"/>
              </a:rPr>
              <a:t>A </a:t>
            </a:r>
            <a:r>
              <a:rPr lang="en-US" b="1" dirty="0">
                <a:latin typeface="+mj-lt"/>
              </a:rPr>
              <a:t>measure</a:t>
            </a:r>
            <a:r>
              <a:rPr lang="en-US" dirty="0">
                <a:latin typeface="+mj-lt"/>
              </a:rPr>
              <a:t> calculates a result dynamically based on the current filter/context.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/>
            </a:r>
            <a:br>
              <a:rPr lang="en-US" dirty="0">
                <a:latin typeface="+mj-lt"/>
              </a:rPr>
            </a:br>
            <a:endParaRPr lang="en-IN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00075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3068" y="185667"/>
            <a:ext cx="171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Dax</a:t>
            </a:r>
            <a:endParaRPr lang="en-IN" dirty="0"/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167950" y="1018783"/>
            <a:ext cx="6279503" cy="5078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There are more than 200 DAX functions in power</a:t>
            </a:r>
            <a:r>
              <a:rPr kumimoji="0" lang="en-US" altLang="en-US" sz="18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BI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Some important as </a:t>
            </a:r>
            <a:r>
              <a:rPr lang="en-US" altLang="en-US" dirty="0" smtClean="0">
                <a:latin typeface="Candara" panose="020E0502030303020204" pitchFamily="34" charset="0"/>
              </a:rPr>
              <a:t>below. 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</a:t>
            </a:r>
            <a:r>
              <a:rPr kumimoji="0" lang="en-US" altLang="en-US" sz="18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                                                                         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 return a scalar value applying an aggregation function to a column or to an expression evaluated by iterating a table expression.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                                                                      .</a:t>
            </a:r>
            <a:endParaRPr kumimoji="0" lang="en-US" altLang="en-US" sz="1800" b="0" i="0" u="sng" strike="noStrike" cap="none" normalizeH="0" baseline="0" dirty="0" smtClean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 help creating calculations based on dates and time.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                                                                                       .</a:t>
            </a:r>
            <a:endParaRPr kumimoji="0" lang="en-US" altLang="en-US" sz="1800" b="0" i="0" u="sng" strike="noStrike" cap="none" normalizeH="0" baseline="0" dirty="0" smtClean="0">
              <a:ln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 manipulate table and filter contexts.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                                                                            .</a:t>
            </a:r>
            <a:endParaRPr kumimoji="0" lang="en-US" altLang="en-US" sz="1800" b="0" i="0" u="sng" strike="noStrike" cap="none" normalizeH="0" baseline="0" dirty="0" smtClean="0">
              <a:ln>
                <a:noFill/>
              </a:ln>
              <a:solidFill>
                <a:schemeClr val="bg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 provide information about data type or filter context of the argument provided.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                                                                                       .</a:t>
            </a:r>
            <a:endParaRPr kumimoji="0" lang="en-US" altLang="en-US" sz="1800" b="0" i="0" u="sng" strike="noStrike" cap="none" normalizeH="0" baseline="0" dirty="0" smtClean="0">
              <a:ln>
                <a:noFill/>
              </a:ln>
              <a:solidFill>
                <a:srgbClr val="00B0F0"/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 act upon an expression to return information about the values or sets in the expression.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6363232" y="1590963"/>
            <a:ext cx="5644284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.     Aggregation functions:</a:t>
            </a:r>
            <a:r>
              <a:rPr kumimoji="0" lang="en-US" altLang="en-US" sz="18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SUM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AVERAGE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MIN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MAX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COUNT</a:t>
            </a:r>
            <a:endParaRPr kumimoji="0" lang="en-US" altLang="en-US" sz="800" b="0" i="0" u="sng" strike="noStrike" cap="none" normalizeH="0" baseline="0" dirty="0" smtClean="0">
              <a:ln>
                <a:noFill/>
              </a:ln>
              <a:solidFill>
                <a:schemeClr val="accent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u="sng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.    Date and Time functions:</a:t>
            </a:r>
            <a:r>
              <a:rPr kumimoji="0" lang="en-US" altLang="en-US" sz="18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CALENDAR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DATEVALUE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DAY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MONTH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YEAR</a:t>
            </a:r>
            <a:endParaRPr kumimoji="0" lang="en-US" altLang="en-US" sz="800" b="0" i="0" u="sng" strike="noStrike" cap="none" normalizeH="0" baseline="0" dirty="0" smtClean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u="sng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.    Filter functions:</a:t>
            </a:r>
            <a:r>
              <a:rPr kumimoji="0" lang="en-US" altLang="en-US" sz="18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CALCULATE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ALL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ALLEXCEPT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RELATED</a:t>
            </a:r>
            <a:endParaRPr kumimoji="0" lang="en-US" altLang="en-US" sz="800" b="0" i="0" u="sng" strike="noStrike" cap="none" normalizeH="0" baseline="0" dirty="0" smtClean="0">
              <a:ln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.    Information functions:</a:t>
            </a:r>
            <a:r>
              <a:rPr kumimoji="0" lang="en-US" altLang="en-US" sz="18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ISBLANK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ISERROR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ISNUMBER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ISTEXT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USERNAME</a:t>
            </a:r>
            <a:endParaRPr kumimoji="0" lang="en-US" altLang="en-US" sz="800" b="0" i="0" u="sng" strike="noStrike" cap="none" normalizeH="0" baseline="0" dirty="0" smtClean="0">
              <a:ln>
                <a:noFill/>
              </a:ln>
              <a:solidFill>
                <a:schemeClr val="bg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sng" strike="noStrike" cap="none" normalizeH="0" baseline="0" dirty="0" smtClean="0">
              <a:ln>
                <a:noFill/>
              </a:ln>
              <a:solidFill>
                <a:srgbClr val="00B0F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.    Logical functions:</a:t>
            </a:r>
            <a:r>
              <a:rPr kumimoji="0" lang="en-US" altLang="en-US" sz="18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AND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OR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NOT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IF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SWITCH</a:t>
            </a:r>
            <a:endParaRPr kumimoji="0" lang="en-US" altLang="en-US" sz="1800" b="0" i="0" u="sng" strike="noStrike" cap="none" normalizeH="0" baseline="0" dirty="0" smtClean="0">
              <a:ln>
                <a:noFill/>
              </a:ln>
              <a:solidFill>
                <a:srgbClr val="00B0F0"/>
              </a:solidFill>
              <a:effectLst/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96243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47484" y="636242"/>
            <a:ext cx="937014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Aggregation functions</a:t>
            </a:r>
            <a:r>
              <a:rPr lang="en-US" altLang="en-US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Aggregation functions return a scalar value applying an aggregation function to a column or to an expression evaluated by iterating a table expression.</a:t>
            </a:r>
            <a:r>
              <a:rPr lang="en-US" altLang="en-US" dirty="0">
                <a:latin typeface="Candara" panose="020E0502030303020204" pitchFamily="34" charset="0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741680" y="2229159"/>
            <a:ext cx="11084560" cy="29876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Function           Description                           Example                              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-----------------  ------------------------------------  ------------------------------------ 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SUM()          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Adds all values in a column         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Total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Sales = SUM(Sales[Amount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])  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AVERAGE()      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Returns the average of a column       </a:t>
            </a:r>
            <a:r>
              <a:rPr lang="en-IN" sz="1400" dirty="0" err="1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Avg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Sales = AVERAGE(Sales[Amount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])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MIN()          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Returns the smallest value          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Minimum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Sales = MIN(Sales[Amount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])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MAX()          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Returns the largest value           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Maximum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Sales = MAX(Sales[Amount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])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COUNT()        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Counts numeric values               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COUNT(Sales[Amount])              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DISTINCTCOUNT()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Counts unique values                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DISTINCTCOUNT(Sales[</a:t>
            </a:r>
            <a:r>
              <a:rPr lang="en-IN" sz="1400" dirty="0" err="1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CustomerID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])  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COUNTROWS()    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Counts the number of rows in a table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COUNTROWS(Sales)                  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475212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14631" y="450277"/>
            <a:ext cx="864255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Date and Time functions</a:t>
            </a:r>
            <a:endParaRPr lang="en-US" altLang="en-US" dirty="0">
              <a:solidFill>
                <a:schemeClr val="accent6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Date and time functions help creating calculations based on dates and time.</a:t>
            </a:r>
          </a:p>
        </p:txBody>
      </p:sp>
      <p:sp>
        <p:nvSpPr>
          <p:cNvPr id="2" name="Rectangle 1"/>
          <p:cNvSpPr/>
          <p:nvPr/>
        </p:nvSpPr>
        <p:spPr>
          <a:xfrm>
            <a:off x="661736" y="1329781"/>
            <a:ext cx="10890184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DATE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TargetDate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DATE(2026, 06, 02)</a:t>
            </a:r>
            <a:endParaRPr lang="en-IN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TIME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ShiftStart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TIME(9, 0, 0)</a:t>
            </a:r>
          </a:p>
          <a:p>
            <a:pPr fontAlgn="b"/>
            <a:endParaRPr lang="en-US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endParaRPr lang="en-US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TODAY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CurrentDate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TODAY()</a:t>
            </a:r>
            <a:endParaRPr lang="en-IN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NOW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CurrentTimestamp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NOW()</a:t>
            </a:r>
            <a:endParaRPr lang="en-IN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endParaRPr lang="en-IN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DAY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DayNumber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DAY(Sales[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InvoiceDate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endParaRPr lang="en-IN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MONTH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MonthNumber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MONTH(Sales[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endParaRPr lang="en-IN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QUARTER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CurrentQuarter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QUARTER(Sales[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]) </a:t>
            </a: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YEAR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OrderYear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YEAR(Sales[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endParaRPr lang="en-IN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SECOND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OrderSecond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SECOND(Sales[Timestamp]) </a:t>
            </a: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MINUTE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OrderMinute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MINUTE(Sales[Timestamp]) </a:t>
            </a: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HOUR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OrderHour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HOUR(Sales[Timestamp])</a:t>
            </a:r>
            <a:endParaRPr lang="en-IN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endParaRPr lang="en-US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FORMAT(Data[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Ord_Date_T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],"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ddd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FORMAT(Data[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Ord_Date_T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],“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yyyy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FORMAT(Data[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Ord_Date_T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],“mmm")</a:t>
            </a:r>
          </a:p>
          <a:p>
            <a:pPr fontAlgn="b"/>
            <a:endParaRPr lang="en-US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67472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32080" y="473516"/>
            <a:ext cx="11503152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"/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Work on Week 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WEEKDAY</a:t>
            </a:r>
            <a:r>
              <a:rPr lang="en-IN" sz="16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IN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DayOfWeek</a:t>
            </a:r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WEEKDAY(Sales[</a:t>
            </a:r>
            <a:r>
              <a:rPr lang="en-IN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], 1) Starting with Sunday</a:t>
            </a:r>
            <a:endParaRPr lang="en-IN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WEEKDAY</a:t>
            </a:r>
            <a:r>
              <a:rPr lang="en-IN" sz="16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IN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DayOfWeek</a:t>
            </a:r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WEEKDAY(Sales[</a:t>
            </a:r>
            <a:r>
              <a:rPr lang="en-IN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], 2) Starting with Monday</a:t>
            </a:r>
            <a:endParaRPr lang="en-IN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WEEKNUM</a:t>
            </a:r>
            <a:r>
              <a:rPr lang="en-IN" sz="16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IN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WeekOfYear</a:t>
            </a:r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WEEKNUM(Sales[</a:t>
            </a:r>
            <a:r>
              <a:rPr lang="en-IN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])   week number as per year</a:t>
            </a:r>
            <a:endParaRPr lang="en-IN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endParaRPr lang="en-IN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32080" y="1986062"/>
            <a:ext cx="11360912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Calculation Between date</a:t>
            </a:r>
            <a:endParaRPr lang="en-IN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DATEDIFF</a:t>
            </a:r>
            <a:r>
              <a:rPr lang="en-IN" sz="16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N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DaysPassed</a:t>
            </a:r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DATEDIFF(</a:t>
            </a:r>
            <a:r>
              <a:rPr lang="en-IN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IN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ShipDate</a:t>
            </a:r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DAY)</a:t>
            </a:r>
            <a:endParaRPr lang="en-IN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EDATE</a:t>
            </a:r>
            <a:r>
              <a:rPr lang="en-IN" sz="16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IN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TwoMonthsLater</a:t>
            </a:r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EDATE(Sales[</a:t>
            </a:r>
            <a:r>
              <a:rPr lang="en-IN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], 2)     Add Month</a:t>
            </a:r>
            <a:endParaRPr lang="en-IN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EOMONTH</a:t>
            </a:r>
            <a:r>
              <a:rPr lang="en-IN" sz="16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IN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MonthEnd</a:t>
            </a:r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EOMONTH(Sales[</a:t>
            </a:r>
            <a:r>
              <a:rPr lang="en-IN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], 0)	  return end of the month</a:t>
            </a:r>
            <a:endParaRPr lang="en-IN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IN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endParaRPr lang="en-IN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67640" y="3854827"/>
            <a:ext cx="1143203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Convert text to date or time</a:t>
            </a:r>
            <a:endParaRPr lang="en-IN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TIMEVALUE</a:t>
            </a:r>
            <a:r>
              <a:rPr lang="en-IN" sz="16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IN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ConvertedTime</a:t>
            </a:r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TIMEVALUE("13:30:00")</a:t>
            </a:r>
          </a:p>
          <a:p>
            <a:pPr fontAlgn="b"/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DATEVALUE</a:t>
            </a:r>
            <a:r>
              <a:rPr lang="en-IN" sz="16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IN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ConvertedDate</a:t>
            </a:r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DATEVALUE("2026-06-02")</a:t>
            </a:r>
            <a:endParaRPr lang="en-IN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8038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42452" y="381451"/>
            <a:ext cx="1060146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bg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Information functions</a:t>
            </a:r>
            <a:endParaRPr lang="en-US" altLang="en-US" dirty="0">
              <a:solidFill>
                <a:schemeClr val="bg2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chemeClr val="bg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Information functions provide information about data type or filter context of the argument provided.</a:t>
            </a:r>
          </a:p>
        </p:txBody>
      </p:sp>
      <p:sp>
        <p:nvSpPr>
          <p:cNvPr id="2" name="Rectangle 1"/>
          <p:cNvSpPr/>
          <p:nvPr/>
        </p:nvSpPr>
        <p:spPr>
          <a:xfrm>
            <a:off x="243840" y="1832079"/>
            <a:ext cx="1172464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IN" sz="15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ISBLANK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is 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Blank / Not Blank           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IF(ISBLANK(Data[Sales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]), "Blank", "Not Blank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en-IN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ISNUMBER()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is 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a Number / Not Number       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IF(ISNUMBER(Data[Sales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]), "Number", "Not Number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en-IN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ISTEXT()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 is 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Text / Not Text             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IF(ISTEXT(Data[Customer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]), "Text", "Not Text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en-IN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ISERROR()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an 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Error / No Error            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IF(ISERROR(10/0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), "Error", "No Error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en-IN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ISEVEN()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 is 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Even / Odd                  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IF(ISEVEN(Data[Number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]), "Even", "Odd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en-IN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ISODD()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  is 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Odd / Even                  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IF(ISODD(Data[Number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]), "Odd", "Even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en-IN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200000"/>
              </a:lnSpc>
              <a:spcAft>
                <a:spcPts val="800"/>
              </a:spcAft>
            </a:pPr>
            <a:endParaRPr lang="en-IN" sz="15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232015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121920" y="1173455"/>
            <a:ext cx="11399520" cy="21861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	</a:t>
            </a:r>
            <a:r>
              <a:rPr lang="en-IN" sz="1600" dirty="0" err="1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CurrentUser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 USERNAME()              e.g. DOMAIN\username  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Returns 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the current user's domain and 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IN" sz="1600" dirty="0" smtClean="0">
              <a:latin typeface="Courier New" panose="020703090202050204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USERPRINCIPALNAME()     </a:t>
            </a:r>
            <a:r>
              <a:rPr lang="en-IN" sz="1600" dirty="0" err="1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UserEmail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 USERPRINCIPALNAME()       e.g. user@company.com </a:t>
            </a:r>
            <a:endParaRPr lang="en-IN" sz="1600" dirty="0" smtClean="0">
              <a:latin typeface="Courier New" panose="020703090202050204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Returns 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the current user's login/email-style 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identifier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4297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86812" y="420780"/>
            <a:ext cx="110005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B0F0"/>
                </a:solidFill>
                <a:latin typeface="Candara" panose="020E0502030303020204" pitchFamily="34" charset="0"/>
              </a:rPr>
              <a:t>Logical functions</a:t>
            </a:r>
            <a:endParaRPr lang="en-US" altLang="en-US" dirty="0">
              <a:solidFill>
                <a:srgbClr val="00B0F0"/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00B0F0"/>
                </a:solidFill>
                <a:latin typeface="Candara" panose="020E0502030303020204" pitchFamily="34" charset="0"/>
              </a:rPr>
              <a:t>Logical functions act upon an expression to return information about the values or sets in the expression.</a:t>
            </a:r>
          </a:p>
        </p:txBody>
      </p:sp>
      <p:sp>
        <p:nvSpPr>
          <p:cNvPr id="2" name="Rectangle 1"/>
          <p:cNvSpPr/>
          <p:nvPr/>
        </p:nvSpPr>
        <p:spPr>
          <a:xfrm>
            <a:off x="494522" y="1387592"/>
            <a:ext cx="9275643" cy="50939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Category </a:t>
            </a:r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IF(Data[Sales]&lt;25</a:t>
            </a:r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LESS</a:t>
            </a:r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>
              <a:lnSpc>
                <a:spcPct val="107000"/>
              </a:lnSpc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IF(Data[Sales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]&lt;75,"AVG","High"))</a:t>
            </a:r>
            <a:endParaRPr lang="en-IN" sz="16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endParaRPr lang="en-IN" sz="16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IFERROR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       IFERROR(Sales[Revenue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 / Sales[Units], 0)</a:t>
            </a:r>
          </a:p>
          <a:p>
            <a:pPr>
              <a:lnSpc>
                <a:spcPct val="107000"/>
              </a:lnSpc>
            </a:pPr>
            <a:endParaRPr lang="en-IN" sz="16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AND	 	AND(Sales[Amount] &gt; 100, Sales[Region] = "West")</a:t>
            </a:r>
          </a:p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OR	 	OR(Sales[Quantity] &gt; 10, Sales[Discount] &gt; 0.1)</a:t>
            </a:r>
          </a:p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NOT	 	NOT(Sales[Status] = "Cancelled")</a:t>
            </a:r>
          </a:p>
          <a:p>
            <a:pPr>
              <a:lnSpc>
                <a:spcPct val="107000"/>
              </a:lnSpc>
            </a:pPr>
            <a:endParaRPr lang="en-IN" sz="16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endParaRPr lang="en-IN" sz="16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FALSE	 	</a:t>
            </a:r>
            <a:r>
              <a:rPr lang="en-IN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SetFalse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= FALSE()</a:t>
            </a:r>
          </a:p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TRUE		</a:t>
            </a:r>
            <a:r>
              <a:rPr lang="en-IN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SetTrue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= 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TRUE() </a:t>
            </a:r>
            <a:endParaRPr lang="en-IN" sz="16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endParaRPr lang="en-US" sz="16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endParaRPr lang="en-US" sz="16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US" sz="16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Category </a:t>
            </a: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=SWITCH(    </a:t>
            </a:r>
            <a:endParaRPr lang="en-US" sz="16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</a:t>
            </a:r>
            <a:r>
              <a:rPr lang="en-US" sz="16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TRUE</a:t>
            </a: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(),    </a:t>
            </a:r>
            <a:endParaRPr lang="en-US" sz="16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</a:t>
            </a:r>
            <a:r>
              <a:rPr lang="en-US" sz="16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Data[Sales</a:t>
            </a: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 &lt; 25, "LESS",    </a:t>
            </a:r>
            <a:endParaRPr lang="en-US" sz="16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</a:t>
            </a:r>
            <a:r>
              <a:rPr lang="en-US" sz="16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Data[Sales</a:t>
            </a: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 &lt; 75, "AVG",    </a:t>
            </a:r>
            <a:r>
              <a:rPr lang="en-US" sz="16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"</a:t>
            </a: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High")</a:t>
            </a:r>
          </a:p>
          <a:p>
            <a:pPr>
              <a:lnSpc>
                <a:spcPct val="107000"/>
              </a:lnSpc>
            </a:pPr>
            <a:endParaRPr lang="en-IN" sz="16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4005082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44129" y="411796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Filter </a:t>
            </a:r>
            <a:r>
              <a:rPr lang="en-US" altLang="en-US" b="1" dirty="0" smtClean="0">
                <a:solidFill>
                  <a:schemeClr val="accent1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&amp; Calculate functions</a:t>
            </a:r>
            <a:endParaRPr lang="en-US" altLang="en-US" dirty="0">
              <a:solidFill>
                <a:schemeClr val="accent1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Filter functions manipulate table and filter contexts.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41918" y="1531881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CALCULATE()</a:t>
            </a:r>
          </a:p>
          <a:p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FILTER()</a:t>
            </a:r>
          </a:p>
          <a:p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KEEPFILTERS()</a:t>
            </a:r>
          </a:p>
          <a:p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REMOVEFILTERS()</a:t>
            </a:r>
          </a:p>
        </p:txBody>
      </p:sp>
    </p:spTree>
    <p:extLst>
      <p:ext uri="{BB962C8B-B14F-4D97-AF65-F5344CB8AC3E}">
        <p14:creationId xmlns:p14="http://schemas.microsoft.com/office/powerpoint/2010/main" val="220624090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45975" y="2159086"/>
            <a:ext cx="9986866" cy="21612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IN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CALCULATE(&lt;expression&gt;, &lt;filter1&gt;, &lt;filter2&gt;, ...)</a:t>
            </a:r>
            <a:endParaRPr lang="en-IN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en-IN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 </a:t>
            </a:r>
            <a:r>
              <a:rPr lang="en-IN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 </a:t>
            </a:r>
            <a:r>
              <a:rPr lang="en-IN" dirty="0" smtClean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East </a:t>
            </a:r>
            <a:r>
              <a:rPr lang="en-IN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Sales =</a:t>
            </a:r>
            <a:endParaRPr lang="en-IN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>
              <a:lnSpc>
                <a:spcPct val="107000"/>
              </a:lnSpc>
              <a:spcAft>
                <a:spcPts val="600"/>
              </a:spcAft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IN" dirty="0" smtClean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	CALCULATE(</a:t>
            </a:r>
            <a:r>
              <a:rPr lang="en-IN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sum(</a:t>
            </a:r>
            <a:r>
              <a:rPr lang="en-IN" dirty="0" smtClean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[Total </a:t>
            </a:r>
            <a:r>
              <a:rPr lang="en-IN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Sales</a:t>
            </a:r>
            <a:r>
              <a:rPr lang="en-IN" dirty="0" smtClean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]),</a:t>
            </a:r>
            <a:r>
              <a:rPr lang="en-IN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dirty="0" smtClean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Sales[Region</a:t>
            </a:r>
            <a:r>
              <a:rPr lang="en-IN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] = "East</a:t>
            </a:r>
            <a:r>
              <a:rPr lang="en-IN" dirty="0" smtClean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")</a:t>
            </a:r>
            <a:endParaRPr lang="en-IN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457200">
              <a:lnSpc>
                <a:spcPts val="1350"/>
              </a:lnSpc>
              <a:spcAft>
                <a:spcPts val="600"/>
              </a:spcAft>
            </a:pPr>
            <a:r>
              <a:rPr lang="en-IN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 </a:t>
            </a:r>
            <a:endParaRPr lang="en-IN" dirty="0" smtClean="0"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  <a:p>
            <a:pPr marL="457200">
              <a:lnSpc>
                <a:spcPts val="1350"/>
              </a:lnSpc>
              <a:spcAft>
                <a:spcPts val="600"/>
              </a:spcAft>
            </a:pPr>
            <a:r>
              <a:rPr lang="en-IN" dirty="0" smtClean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MS_CALC </a:t>
            </a:r>
            <a:r>
              <a:rPr lang="en-IN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= </a:t>
            </a:r>
            <a:endParaRPr lang="en-IN" dirty="0" smtClean="0"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  <a:p>
            <a:pPr marL="457200">
              <a:lnSpc>
                <a:spcPts val="1350"/>
              </a:lnSpc>
              <a:spcAft>
                <a:spcPts val="600"/>
              </a:spcAft>
            </a:pPr>
            <a:r>
              <a:rPr lang="en-IN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	</a:t>
            </a:r>
            <a:r>
              <a:rPr lang="en-IN" dirty="0" smtClean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CALCULATE( SUM(Orders[Sales]),Orders[Category</a:t>
            </a:r>
            <a:r>
              <a:rPr lang="en-IN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]="Furniture</a:t>
            </a:r>
            <a:r>
              <a:rPr lang="en-IN" dirty="0" smtClean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")</a:t>
            </a:r>
          </a:p>
          <a:p>
            <a:pPr marL="457200">
              <a:lnSpc>
                <a:spcPts val="1350"/>
              </a:lnSpc>
              <a:spcAft>
                <a:spcPts val="600"/>
              </a:spcAft>
            </a:pPr>
            <a:endParaRPr lang="en-IN" dirty="0">
              <a:effectLst/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66395" y="403157"/>
            <a:ext cx="9871788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indent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>CALCULATE function in Power BI (DAX)</a:t>
            </a: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  <a:cs typeface="Courier New" panose="02070309020205020404" pitchFamily="49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>CALCULATE() is one of the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>most important DAX functions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> in Power BI. It is used to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>calculate an expression after modifying the filter context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>.</a:t>
            </a: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  <a:cs typeface="Courier New" panose="02070309020205020404" pitchFamily="49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Calibri" panose="020F0502020204030204" pitchFamily="34" charset="0"/>
                <a:cs typeface="Courier New" panose="02070309020205020404" pitchFamily="49" charset="0"/>
              </a:rPr>
              <a:t>CALCULATE() works similarly to Excel's SUMIF()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Calibri" panose="020F0502020204030204" pitchFamily="34" charset="0"/>
                <a:cs typeface="Courier New" panose="02070309020205020404" pitchFamily="49" charset="0"/>
              </a:rPr>
              <a:t>.</a:t>
            </a: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88133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373224" y="2408054"/>
            <a:ext cx="11728580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indent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Filters</a:t>
            </a:r>
            <a:endParaRPr kumimoji="0" lang="en-US" altLang="en-US" sz="1200" b="0" i="0" u="none" strike="noStrike" cap="none" normalizeH="0" baseline="0" dirty="0" smtClean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Applies the filter on </a:t>
            </a:r>
            <a:r>
              <a:rPr kumimoji="0" lang="en-US" altLang="en-US" sz="1600" b="1" i="0" u="none" strike="noStrike" cap="none" normalizeH="0" baseline="0" dirty="0" err="1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spefic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kumimoji="0" lang="en-US" altLang="en-US" sz="1600" b="1" i="0" u="none" strike="noStrike" cap="none" normalizeH="0" baseline="0" dirty="0" err="1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contion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. it helps to create the new table as well.</a:t>
            </a:r>
            <a:endParaRPr kumimoji="0" lang="en-US" altLang="en-US" sz="1200" b="0" i="0" u="none" strike="noStrike" cap="none" normalizeH="0" baseline="0" dirty="0" smtClean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Furniture_Table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 = FILTER(</a:t>
            </a:r>
            <a:r>
              <a:rPr kumimoji="0" lang="en-US" alt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Orders,Orders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[Category]="Furniture")</a:t>
            </a:r>
            <a:endParaRPr kumimoji="0" lang="en-US" altLang="en-US" sz="1200" b="0" i="0" u="none" strike="noStrike" cap="none" normalizeH="0" baseline="0" dirty="0" smtClean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7342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443948" y="1420801"/>
            <a:ext cx="10956234" cy="48347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Function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Example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Result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LEFT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LEFT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("</a:t>
            </a:r>
            <a:r>
              <a:rPr lang="en-IN" sz="1600" dirty="0" err="1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PowerBI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", 5)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	Power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RIGHT()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RIGHT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("</a:t>
            </a:r>
            <a:r>
              <a:rPr lang="en-IN" sz="1600" dirty="0" err="1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PowerBI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", 2)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	BI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MID()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MID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("</a:t>
            </a:r>
            <a:r>
              <a:rPr lang="en-IN" sz="1600" dirty="0" err="1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PowerBI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", 2, 3)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	owe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endParaRPr lang="en-IN" sz="1600" dirty="0" smtClean="0">
              <a:latin typeface="Courier New" panose="020703090202050204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LEN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LEN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("</a:t>
            </a:r>
            <a:r>
              <a:rPr lang="en-IN" sz="1600" dirty="0" err="1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PowerBI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		7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endParaRPr lang="en-IN" sz="1600" dirty="0" smtClean="0">
              <a:latin typeface="Courier New" panose="020703090202050204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UPPER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UPPER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("power bi")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	POWER 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BI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LOWER()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LOWER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("POWER BI")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	power 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bi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endParaRPr lang="en-IN" sz="1600" dirty="0" smtClean="0">
              <a:latin typeface="Courier New" panose="020703090202050204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TRIM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TRIM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(" Power BI ")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	Power 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BI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SUBSTITUTE()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SUBSTITUTE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("Power BI", "BI", "Query")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Power 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Query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endParaRPr lang="en-US" sz="1600" dirty="0" smtClean="0">
              <a:latin typeface="Courier New" panose="020703090202050204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CONTAINSSTRING()	CONTAINSSTRING("Power BI", "BI")		TRUE</a:t>
            </a:r>
          </a:p>
          <a:p>
            <a:pPr>
              <a:lnSpc>
                <a:spcPct val="107000"/>
              </a:lnSpc>
            </a:pP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SEARCH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SEARCH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("BI", "Power BI")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7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endParaRPr lang="en-IN" sz="1600" dirty="0" smtClean="0">
              <a:latin typeface="Courier New" panose="020703090202050204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endParaRPr lang="en-IN" sz="1600" dirty="0" smtClean="0">
              <a:latin typeface="Courier New" panose="020703090202050204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CONCATENATE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CONCATENATE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("Hello", " ", "World")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Hello World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54803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97565" y="1612806"/>
            <a:ext cx="11261035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Keep filters</a:t>
            </a:r>
            <a:endParaRPr lang="en-US" altLang="en-US" sz="14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KEEPFILTERS keeps the existing filter and applies the new filter on top of it</a:t>
            </a:r>
            <a:endParaRPr lang="en-US" altLang="en-US" sz="14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MS_KF = CALCULATE(SUM(Orders[Sales]),KEEPFILTERS(Orders[Category]="Furniture"))</a:t>
            </a:r>
            <a:endParaRPr lang="en-US" altLang="en-US" sz="14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b="1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b="1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Remove filters</a:t>
            </a:r>
            <a:endParaRPr lang="en-US" altLang="en-US" sz="14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REMOVEFILTERS() removes filters from a column or table.</a:t>
            </a:r>
            <a:endParaRPr lang="en-US" altLang="en-US" sz="14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MS_RM_ = CALCULATE(SUM(Orders[Sales]),REMOVEFILTERS(Orders[Category]))</a:t>
            </a:r>
            <a:endParaRPr lang="en-US" altLang="en-US" sz="40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97565" y="443302"/>
            <a:ext cx="1126103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 smtClean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Combining Calculate and Filters Together</a:t>
            </a:r>
            <a:endParaRPr lang="en-US" altLang="en-US" sz="40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667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3568</TotalTime>
  <Words>752</Words>
  <Application>Microsoft Office PowerPoint</Application>
  <PresentationFormat>Widescreen</PresentationFormat>
  <Paragraphs>156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Calibri</vt:lpstr>
      <vt:lpstr>Candara</vt:lpstr>
      <vt:lpstr>Century Gothic</vt:lpstr>
      <vt:lpstr>Courier New</vt:lpstr>
      <vt:lpstr>Times New Roman</vt:lpstr>
      <vt:lpstr>Wingdings 3</vt:lpstr>
      <vt:lpstr>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SHIVRAJ SHINDE</dc:creator>
  <cp:lastModifiedBy>SHIVRAJ SHINDE</cp:lastModifiedBy>
  <cp:revision>116</cp:revision>
  <dcterms:created xsi:type="dcterms:W3CDTF">2026-05-12T10:34:27Z</dcterms:created>
  <dcterms:modified xsi:type="dcterms:W3CDTF">2026-08-17T11:24:09Z</dcterms:modified>
</cp:coreProperties>
</file>