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90" r:id="rId1"/>
  </p:sldMasterIdLst>
  <p:notesMasterIdLst>
    <p:notesMasterId r:id="rId19"/>
  </p:notesMasterIdLst>
  <p:sldIdLst>
    <p:sldId id="291" r:id="rId2"/>
    <p:sldId id="281" r:id="rId3"/>
    <p:sldId id="287" r:id="rId4"/>
    <p:sldId id="288" r:id="rId5"/>
    <p:sldId id="292" r:id="rId6"/>
    <p:sldId id="289" r:id="rId7"/>
    <p:sldId id="290" r:id="rId8"/>
    <p:sldId id="298" r:id="rId9"/>
    <p:sldId id="297" r:id="rId10"/>
    <p:sldId id="301" r:id="rId11"/>
    <p:sldId id="270" r:id="rId12"/>
    <p:sldId id="302" r:id="rId13"/>
    <p:sldId id="303" r:id="rId14"/>
    <p:sldId id="300" r:id="rId15"/>
    <p:sldId id="299" r:id="rId16"/>
    <p:sldId id="295" r:id="rId17"/>
    <p:sldId id="29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773B0-9C71-4C42-839B-CED3341CD23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F19E2E-A086-4A91-BA90-9CB5CDABE96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309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6502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0631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369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7061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1634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7981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4415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391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465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4488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165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31242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18413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80617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1019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49295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8716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C8321A5-74C1-4574-A6AA-F1EDDDF12D9F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88691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91" r:id="rId1"/>
    <p:sldLayoutId id="2147483992" r:id="rId2"/>
    <p:sldLayoutId id="2147483993" r:id="rId3"/>
    <p:sldLayoutId id="2147483994" r:id="rId4"/>
    <p:sldLayoutId id="2147483995" r:id="rId5"/>
    <p:sldLayoutId id="2147483996" r:id="rId6"/>
    <p:sldLayoutId id="2147483997" r:id="rId7"/>
    <p:sldLayoutId id="2147483998" r:id="rId8"/>
    <p:sldLayoutId id="2147483999" r:id="rId9"/>
    <p:sldLayoutId id="2147484000" r:id="rId10"/>
    <p:sldLayoutId id="2147484001" r:id="rId11"/>
    <p:sldLayoutId id="2147484002" r:id="rId12"/>
    <p:sldLayoutId id="2147484003" r:id="rId13"/>
    <p:sldLayoutId id="2147484004" r:id="rId14"/>
    <p:sldLayoutId id="2147484005" r:id="rId15"/>
    <p:sldLayoutId id="2147484006" r:id="rId16"/>
    <p:sldLayoutId id="21474840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87355" y="2825917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64957" y="586134"/>
            <a:ext cx="1142599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+mj-lt"/>
              </a:rPr>
              <a:t>Dax</a:t>
            </a: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r>
              <a:rPr lang="en-US" b="1" dirty="0">
                <a:latin typeface="+mj-lt"/>
              </a:rPr>
              <a:t>DAX</a:t>
            </a:r>
            <a:r>
              <a:rPr lang="en-US" dirty="0">
                <a:latin typeface="+mj-lt"/>
              </a:rPr>
              <a:t> stands for </a:t>
            </a:r>
            <a:r>
              <a:rPr lang="en-US" b="1" dirty="0">
                <a:latin typeface="+mj-lt"/>
              </a:rPr>
              <a:t>Data Analysis Expressions</a:t>
            </a:r>
            <a:r>
              <a:rPr lang="en-US" dirty="0">
                <a:latin typeface="+mj-lt"/>
              </a:rPr>
              <a:t>. It is the formula language used in </a:t>
            </a:r>
            <a:r>
              <a:rPr lang="en-US" b="1" dirty="0">
                <a:latin typeface="+mj-lt"/>
              </a:rPr>
              <a:t>Power BI</a:t>
            </a:r>
            <a:r>
              <a:rPr lang="en-US" dirty="0">
                <a:latin typeface="+mj-lt"/>
              </a:rPr>
              <a:t> to perform calculations and create </a:t>
            </a:r>
            <a:r>
              <a:rPr lang="en-US" dirty="0"/>
              <a:t>calculated </a:t>
            </a:r>
            <a:r>
              <a:rPr lang="en-US" dirty="0" smtClean="0"/>
              <a:t> Fields such as </a:t>
            </a:r>
            <a:r>
              <a:rPr lang="en-US" dirty="0" smtClean="0">
                <a:latin typeface="+mj-lt"/>
              </a:rPr>
              <a:t>.</a:t>
            </a:r>
          </a:p>
          <a:p>
            <a:endParaRPr lang="en-US" dirty="0">
              <a:latin typeface="+mj-lt"/>
            </a:endParaRPr>
          </a:p>
          <a:p>
            <a:r>
              <a:rPr lang="en-US" b="1" dirty="0" smtClean="0">
                <a:latin typeface="+mj-lt"/>
              </a:rPr>
              <a:t>Calculated </a:t>
            </a:r>
            <a:r>
              <a:rPr lang="en-US" b="1" dirty="0">
                <a:latin typeface="+mj-lt"/>
              </a:rPr>
              <a:t>Column</a:t>
            </a:r>
            <a:br>
              <a:rPr lang="en-US" b="1" dirty="0">
                <a:latin typeface="+mj-lt"/>
              </a:rPr>
            </a:br>
            <a:r>
              <a:rPr lang="en-US" b="1" dirty="0" smtClean="0">
                <a:latin typeface="+mj-lt"/>
              </a:rPr>
              <a:t>	</a:t>
            </a:r>
            <a:r>
              <a:rPr lang="en-US" dirty="0" smtClean="0">
                <a:latin typeface="+mj-lt"/>
              </a:rPr>
              <a:t>A </a:t>
            </a:r>
            <a:r>
              <a:rPr lang="en-US" b="1" dirty="0">
                <a:latin typeface="+mj-lt"/>
              </a:rPr>
              <a:t>column</a:t>
            </a:r>
            <a:r>
              <a:rPr lang="en-US" dirty="0">
                <a:latin typeface="+mj-lt"/>
              </a:rPr>
              <a:t> creates a value for </a:t>
            </a:r>
            <a:r>
              <a:rPr lang="en-US" b="1" dirty="0">
                <a:latin typeface="+mj-lt"/>
              </a:rPr>
              <a:t>every row</a:t>
            </a:r>
            <a:r>
              <a:rPr lang="en-US" dirty="0">
                <a:latin typeface="+mj-lt"/>
              </a:rPr>
              <a:t> in your </a:t>
            </a:r>
            <a:r>
              <a:rPr lang="en-US" dirty="0" smtClean="0">
                <a:latin typeface="+mj-lt"/>
              </a:rPr>
              <a:t>table.</a:t>
            </a:r>
          </a:p>
          <a:p>
            <a:pPr marL="342900" indent="-342900">
              <a:buAutoNum type="arabicPeriod"/>
            </a:pPr>
            <a:endParaRPr lang="en-US" b="1" dirty="0" smtClean="0">
              <a:latin typeface="+mj-lt"/>
            </a:endParaRPr>
          </a:p>
          <a:p>
            <a:pPr marL="342900" indent="-342900">
              <a:buAutoNum type="arabicPeriod"/>
            </a:pPr>
            <a:endParaRPr lang="en-US" b="1" dirty="0">
              <a:latin typeface="+mj-lt"/>
            </a:endParaRPr>
          </a:p>
          <a:p>
            <a:endParaRPr lang="en-US" b="1" dirty="0">
              <a:latin typeface="+mj-lt"/>
            </a:endParaRPr>
          </a:p>
          <a:p>
            <a:r>
              <a:rPr lang="en-US" b="1" dirty="0" smtClean="0">
                <a:latin typeface="+mj-lt"/>
              </a:rPr>
              <a:t>Measure</a:t>
            </a:r>
            <a:r>
              <a:rPr lang="en-US" b="1" dirty="0">
                <a:latin typeface="+mj-lt"/>
              </a:rPr>
              <a:t/>
            </a:r>
            <a:br>
              <a:rPr lang="en-US" b="1" dirty="0">
                <a:latin typeface="+mj-lt"/>
              </a:rPr>
            </a:br>
            <a:r>
              <a:rPr lang="en-US" b="1" dirty="0" smtClean="0">
                <a:latin typeface="+mj-lt"/>
              </a:rPr>
              <a:t>	</a:t>
            </a:r>
            <a:r>
              <a:rPr lang="en-US" dirty="0" smtClean="0">
                <a:latin typeface="+mj-lt"/>
              </a:rPr>
              <a:t>A </a:t>
            </a:r>
            <a:r>
              <a:rPr lang="en-US" b="1" dirty="0">
                <a:latin typeface="+mj-lt"/>
              </a:rPr>
              <a:t>measure</a:t>
            </a:r>
            <a:r>
              <a:rPr lang="en-US" dirty="0">
                <a:latin typeface="+mj-lt"/>
              </a:rPr>
              <a:t> calculates a result dynamically based on the current filter/context.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endParaRPr lang="en-IN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00075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3067" y="185667"/>
            <a:ext cx="10103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Dax</a:t>
            </a:r>
            <a:endParaRPr lang="en-US" dirty="0" smtClean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andara" panose="020E0502030303020204" pitchFamily="34" charset="0"/>
              </a:rPr>
              <a:t>There are more than 200 DAX functions in power BI.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andara" panose="020E0502030303020204" pitchFamily="34" charset="0"/>
              </a:rPr>
              <a:t>Some important as below. </a:t>
            </a: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167950" y="1295782"/>
            <a:ext cx="6279503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                                                                         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help creating calculations based on dates and 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                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manipulate table and filter contexts.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     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                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363232" y="1590963"/>
            <a:ext cx="5644284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 Aggregation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SUM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AVERAGE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MIN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MAX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COUNT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u="sng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Date and Time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CALENDAR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DATEVALUE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DAY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MONTH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YEAR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u="sng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Filter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CALCULATE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ALLEXCEPT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RELATED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Information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ISBLANK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ISERROR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ISNUMBER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ISTEXT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USERNAME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.    Logical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AND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OR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NOT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IF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SWITCH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96243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47484" y="636242"/>
            <a:ext cx="937014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</a:t>
            </a: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lang="en-US" altLang="en-US" dirty="0">
                <a:latin typeface="Candara" panose="020E050203030302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741680" y="2229159"/>
            <a:ext cx="11084560" cy="29876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Function           Description                           Example                             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-----------------  ------------------------------------  ------------------------------------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SUM()  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Adds all values in a column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Total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SUM(Sales[Amount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AVERAGE()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Returns the average of a column       </a:t>
            </a:r>
            <a:r>
              <a:rPr lang="en-IN" sz="1400" dirty="0" err="1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Avg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AVERAGE(Sales[Amount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MIN()  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Returns the smallest value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Minimum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MIN(Sales[Amount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MAX()  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Returns the largest value 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Maximum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MAX(Sales[Amount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COUNT()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Counts numeric values     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COUNT(Sales[Amount])            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DISTINCTCOUNT()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Counts unique values      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DISTINCTCOUNT(Sales[</a:t>
            </a:r>
            <a:r>
              <a:rPr lang="en-IN" sz="1400" dirty="0" err="1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CustomerID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COUNTROWS()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Counts the number of rows in a table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COUNTROWS(Sales)                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475212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05301" y="221677"/>
            <a:ext cx="864255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</a:t>
            </a:r>
            <a:endParaRPr lang="en-US" altLang="en-US" dirty="0">
              <a:solidFill>
                <a:schemeClr val="accent6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 help creating calculations based on dates and time.</a:t>
            </a:r>
          </a:p>
        </p:txBody>
      </p:sp>
      <p:sp>
        <p:nvSpPr>
          <p:cNvPr id="2" name="Rectangle 1"/>
          <p:cNvSpPr/>
          <p:nvPr/>
        </p:nvSpPr>
        <p:spPr>
          <a:xfrm>
            <a:off x="592162" y="1260207"/>
            <a:ext cx="10890184" cy="54168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DATE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TargetDate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DATE(2026, 06, 02)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TIME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ShiftStart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TIME(9, 0, 0)</a:t>
            </a: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TODAY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CurrentDate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TODAY()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NOW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CurrentTimestamp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NOW()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Extract Values from date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DAY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DayNumber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DAY(Sales[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InvoiceDate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MONTH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MonthNumber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MONTH(Sales[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QUARTER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CurrentQuarter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QUARTER(Sales[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 </a:t>
            </a: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YEAR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OrderYear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YEAR(Sales[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endParaRPr lang="en-US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Extract Values from 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Date Time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SECOND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OrderSecond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SECOND(Sales[Timestamp]) </a:t>
            </a: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MINUTE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OrderMinute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MINUTE(Sales[Timestamp]) </a:t>
            </a: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HOUR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OrderHour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HOUR(Sales[Timestamp])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Date Formatting</a:t>
            </a: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FORMAT(Data[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Ord_Date_T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],"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ddd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FORMAT(Data[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Ord_Date_T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"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yyyy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4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FORMAT(Data[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Ord_Date_T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"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mmm")</a:t>
            </a:r>
          </a:p>
        </p:txBody>
      </p:sp>
    </p:spTree>
    <p:extLst>
      <p:ext uri="{BB962C8B-B14F-4D97-AF65-F5344CB8AC3E}">
        <p14:creationId xmlns:p14="http://schemas.microsoft.com/office/powerpoint/2010/main" val="21867472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32080" y="473516"/>
            <a:ext cx="11503152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Work on Week 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WEEKDAY</a:t>
            </a:r>
            <a:r>
              <a:rPr lang="en-IN" sz="1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DayOfWeek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WEEKDAY(Sales[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1) Starting with Sunday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WEEKDAY</a:t>
            </a:r>
            <a:r>
              <a:rPr lang="en-IN" sz="1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DayOfWeek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WEEKDAY(Sales[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2) Starting with Monday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WEEKNUM</a:t>
            </a:r>
            <a:r>
              <a:rPr lang="en-IN" sz="14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WeekOfYear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WEEKNUM(Sales[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   week number as per year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IN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32080" y="1986062"/>
            <a:ext cx="11360912" cy="22775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Calculation Between date</a:t>
            </a:r>
            <a:endParaRPr lang="en-IN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DATEDIFF</a:t>
            </a:r>
            <a:r>
              <a:rPr lang="en-IN" sz="14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DaysPassed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DATEDIFF(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Start_Date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End_Date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DATEDIFF</a:t>
            </a:r>
            <a:r>
              <a:rPr lang="en-IN" sz="1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DaysPassed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DATEDIFF(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ShipDate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400" dirty="0" smtClean="0">
                <a:solidFill>
                  <a:schemeClr val="accent3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Month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DATEDIFF</a:t>
            </a:r>
            <a:r>
              <a:rPr lang="en-IN" sz="14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DaysPassed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DATEDIFF(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ShipDate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400" dirty="0" smtClean="0">
                <a:solidFill>
                  <a:schemeClr val="accent3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lvl="1" fontAlgn="b"/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EDATE</a:t>
            </a:r>
            <a:r>
              <a:rPr lang="en-IN" sz="14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TwoMonthsLater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EDATE(Sales[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1)     It will Add a Month 25 may (+2) 25July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endParaRPr lang="en-IN" sz="14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EOMONTH</a:t>
            </a:r>
            <a:r>
              <a:rPr lang="en-IN" sz="1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MonthEnd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EOMONTH(Sales[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IN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	 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end of the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same month </a:t>
            </a:r>
          </a:p>
          <a:p>
            <a:pPr lvl="1" fontAlgn="b"/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EOMONTH</a:t>
            </a:r>
            <a:r>
              <a:rPr lang="en-IN" sz="14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MonthEnd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EOMONTH(Sales[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IN" sz="1400" dirty="0" smtClean="0">
                <a:solidFill>
                  <a:schemeClr val="accent3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  Return end of the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NEXT month </a:t>
            </a:r>
            <a:endParaRPr lang="en-US" sz="14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endParaRPr lang="en-US" sz="14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3200" y="4517301"/>
            <a:ext cx="1143203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Convert </a:t>
            </a:r>
            <a:r>
              <a:rPr lang="en-US" sz="24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to date or time</a:t>
            </a:r>
            <a:endParaRPr lang="en-IN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TIMEVALUE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ConvertedTime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TIMEVALUE("13:30:00")</a:t>
            </a:r>
          </a:p>
          <a:p>
            <a:pPr lvl="1"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DATEVALUE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ConvertedDate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DATEVALUE("2026-06-02")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038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42452" y="381451"/>
            <a:ext cx="1060146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</a:t>
            </a:r>
            <a:endParaRPr lang="en-US" altLang="en-US" dirty="0">
              <a:solidFill>
                <a:schemeClr val="bg2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</p:txBody>
      </p:sp>
      <p:sp>
        <p:nvSpPr>
          <p:cNvPr id="2" name="Rectangle 1"/>
          <p:cNvSpPr/>
          <p:nvPr/>
        </p:nvSpPr>
        <p:spPr>
          <a:xfrm>
            <a:off x="281162" y="1150944"/>
            <a:ext cx="11724640" cy="2487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ISBLANK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Blank / Not Blank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IF(ISBLANK(Data[Sales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"Blank", "Not Blank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ISNUMBER()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a Number / Not Number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IF(ISNUMBER(Data[Sales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"Number", "Not Number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ISTEXT()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Text / Not Text 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IF(ISTEXT(Data[Customer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"Text", "Not Text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ISERROR()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an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Error / No Error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IF(ISERROR(10/0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), "Error", "No Error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ISEVEN()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Even / Odd      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IF(ISEVEN(Data[Number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"Even", "Odd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ISODD()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Odd / Even      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IF(ISODD(Data[Number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"Odd", "Even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endParaRPr lang="en-IN" sz="15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43722" y="4775072"/>
            <a:ext cx="11399520" cy="134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e.g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 DOMAIN\username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en-IN" sz="1400" dirty="0" smtClean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Returns </a:t>
            </a:r>
            <a:r>
              <a:rPr lang="en-IN" sz="1400" dirty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the current user's domain and </a:t>
            </a:r>
            <a:r>
              <a:rPr lang="en-IN" sz="1400" dirty="0" smtClean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14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USERPRINCIPALNAME()       e.g. user@company.com 	</a:t>
            </a:r>
            <a:r>
              <a:rPr lang="en-IN" sz="1400" dirty="0" smtClean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Returns the current user's login/email-style identifier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32015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86812" y="420780"/>
            <a:ext cx="110005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</a:t>
            </a:r>
            <a:endParaRPr lang="en-US" altLang="en-US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</p:txBody>
      </p:sp>
      <p:sp>
        <p:nvSpPr>
          <p:cNvPr id="2" name="Rectangle 1"/>
          <p:cNvSpPr/>
          <p:nvPr/>
        </p:nvSpPr>
        <p:spPr>
          <a:xfrm>
            <a:off x="494522" y="1387592"/>
            <a:ext cx="9275643" cy="40443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IF(Data[Sales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]&lt;25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LESS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IF(Data[Sales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]&lt;75,"AVG","High"))</a:t>
            </a: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Category =SWITCH(    </a:t>
            </a:r>
          </a:p>
          <a:p>
            <a:pPr lvl="2"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US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TRUE()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,    </a:t>
            </a:r>
          </a:p>
          <a:p>
            <a:pPr lvl="2"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US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Data[Sales] &lt; 25, "LESS", </a:t>
            </a: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"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High")</a:t>
            </a:r>
          </a:p>
          <a:p>
            <a:pPr>
              <a:lnSpc>
                <a:spcPct val="107000"/>
              </a:lnSpc>
            </a:pP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Category 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=SWITCH(    </a:t>
            </a:r>
          </a:p>
          <a:p>
            <a:pPr lvl="2"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US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TRUE()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,    </a:t>
            </a:r>
          </a:p>
          <a:p>
            <a:pPr lvl="2"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US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Data[Sales] &lt; 25, "LESS",    </a:t>
            </a:r>
          </a:p>
          <a:p>
            <a:pPr lvl="2"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Data[Sales] &lt; 75, "AVG",    "High")</a:t>
            </a:r>
          </a:p>
          <a:p>
            <a:pPr>
              <a:lnSpc>
                <a:spcPct val="107000"/>
              </a:lnSpc>
            </a:pP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400508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15820" y="863747"/>
            <a:ext cx="10664890" cy="3945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IFERROR	</a:t>
            </a:r>
            <a:r>
              <a:rPr lang="en-IN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IFERROR(Sales[Revenue</a:t>
            </a: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 / Sales[Units], 0)</a:t>
            </a:r>
          </a:p>
          <a:p>
            <a:pPr>
              <a:lnSpc>
                <a:spcPct val="107000"/>
              </a:lnSpc>
            </a:pP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AND	 	AND(Sales[Amount] &gt; 100, Sales[Region] = "West")</a:t>
            </a:r>
          </a:p>
          <a:p>
            <a:pPr>
              <a:lnSpc>
                <a:spcPct val="107000"/>
              </a:lnSpc>
            </a:pP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OR	 	OR(Sales[Quantity] &gt; 10, Sales[Discount] &gt; 0.1)</a:t>
            </a:r>
          </a:p>
          <a:p>
            <a:pPr>
              <a:lnSpc>
                <a:spcPct val="107000"/>
              </a:lnSpc>
            </a:pP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NOT	 	NOT(Sales[Status] = "Cancelled")</a:t>
            </a:r>
          </a:p>
          <a:p>
            <a:pPr>
              <a:lnSpc>
                <a:spcPct val="107000"/>
              </a:lnSpc>
            </a:pP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FALSE	 	</a:t>
            </a:r>
            <a:r>
              <a:rPr lang="en-IN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SetFalse</a:t>
            </a: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= FALSE()</a:t>
            </a:r>
          </a:p>
          <a:p>
            <a:pPr>
              <a:lnSpc>
                <a:spcPct val="107000"/>
              </a:lnSpc>
            </a:pP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TRUE		</a:t>
            </a:r>
            <a:r>
              <a:rPr lang="en-IN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SetTrue</a:t>
            </a: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= TRUE() </a:t>
            </a:r>
          </a:p>
          <a:p>
            <a:pPr>
              <a:lnSpc>
                <a:spcPct val="107000"/>
              </a:lnSpc>
            </a:pPr>
            <a:endParaRPr lang="en-US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9477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13319" y="441086"/>
            <a:ext cx="10956234" cy="59016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Function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Example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Result</a:t>
            </a:r>
          </a:p>
          <a:p>
            <a:pPr>
              <a:lnSpc>
                <a:spcPct val="107000"/>
              </a:lnSpc>
            </a:pPr>
            <a:r>
              <a:rPr lang="en-US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TO Extract Some Value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1">
              <a:lnSpc>
                <a:spcPct val="107000"/>
              </a:lnSpc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LEFT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LEFT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("</a:t>
            </a:r>
            <a:r>
              <a:rPr lang="en-IN" sz="14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PowerBI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", 5)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	Power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1">
              <a:lnSpc>
                <a:spcPct val="107000"/>
              </a:lnSpc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RIGHT()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RIGHT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("</a:t>
            </a:r>
            <a:r>
              <a:rPr lang="en-IN" sz="14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PowerBI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", 2)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	BI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1">
              <a:lnSpc>
                <a:spcPct val="107000"/>
              </a:lnSpc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MID()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MID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("</a:t>
            </a:r>
            <a:r>
              <a:rPr lang="en-IN" sz="14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PowerBI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", 2, 3)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	owe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IN" sz="14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To Know length</a:t>
            </a:r>
            <a:endParaRPr lang="en-IN" sz="14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1">
              <a:lnSpc>
                <a:spcPct val="107000"/>
              </a:lnSpc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LEN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LEN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("</a:t>
            </a:r>
            <a:r>
              <a:rPr lang="en-IN" sz="14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PowerBI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")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		7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sz="14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Change the Case</a:t>
            </a:r>
            <a:endParaRPr lang="en-IN" sz="14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1">
              <a:lnSpc>
                <a:spcPct val="107000"/>
              </a:lnSpc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UPPER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UPPER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("power bi")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	POWER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BI</a:t>
            </a:r>
          </a:p>
          <a:p>
            <a:pPr lvl="1">
              <a:lnSpc>
                <a:spcPct val="107000"/>
              </a:lnSpc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LOWER()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LOWER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("POWER BI")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	power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bi</a:t>
            </a:r>
          </a:p>
          <a:p>
            <a:pPr>
              <a:lnSpc>
                <a:spcPct val="107000"/>
              </a:lnSpc>
            </a:pPr>
            <a:endParaRPr lang="en-US" sz="14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To Clean the Data</a:t>
            </a:r>
            <a:endParaRPr lang="en-IN" sz="14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1">
              <a:lnSpc>
                <a:spcPct val="107000"/>
              </a:lnSpc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TRIM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TRIM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(" Power BI ")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	Power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BI</a:t>
            </a:r>
          </a:p>
          <a:p>
            <a:pPr lvl="1">
              <a:lnSpc>
                <a:spcPct val="107000"/>
              </a:lnSpc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SUBSTITUTE()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SUBSTITUTE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("Power BI", "BI", "Query")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Power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Query</a:t>
            </a:r>
          </a:p>
          <a:p>
            <a:pPr>
              <a:lnSpc>
                <a:spcPct val="107000"/>
              </a:lnSpc>
            </a:pPr>
            <a:endParaRPr lang="en-US" sz="14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Some information about String</a:t>
            </a:r>
            <a:endParaRPr lang="en-US" sz="14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1">
              <a:lnSpc>
                <a:spcPct val="107000"/>
              </a:lnSpc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CONTAINSSTRING()	CONTAINSSTRING("Power BI", "BI")		TRUE</a:t>
            </a:r>
          </a:p>
          <a:p>
            <a:pPr lvl="1">
              <a:lnSpc>
                <a:spcPct val="107000"/>
              </a:lnSpc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SEARCH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SEARCH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("BI", "Power BI")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	7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IN" sz="14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Combine String</a:t>
            </a:r>
            <a:endParaRPr lang="en-IN" sz="14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CONCATENATE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CONCATENATE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("Hello", " ", "World")	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Hello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World</a:t>
            </a:r>
          </a:p>
          <a:p>
            <a:pPr>
              <a:lnSpc>
                <a:spcPct val="107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String_Man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Sheet1[First Name]&amp;"    "&amp;Sheet1[Last Name]</a:t>
            </a:r>
          </a:p>
          <a:p>
            <a:pPr>
              <a:lnSpc>
                <a:spcPct val="107000"/>
              </a:lnSpc>
            </a:pP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480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91852" y="659876"/>
            <a:ext cx="46191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Calculate()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All()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Filter()</a:t>
            </a:r>
            <a:endParaRPr lang="en-IN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106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44129" y="411796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 smtClean="0">
                <a:latin typeface="Candara" panose="020E0502030303020204" pitchFamily="34" charset="0"/>
              </a:rPr>
              <a:t>Calculate functions</a:t>
            </a:r>
            <a:endParaRPr lang="en-US" altLang="en-US" dirty="0">
              <a:latin typeface="Candara" panose="020E0502030303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428" y="2700262"/>
            <a:ext cx="9986866" cy="34143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IN" sz="1400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CALCULATE(&lt;expression&gt;, &lt;filter1&gt;, &lt;filter2&gt;, ...)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sz="1400" b="1" dirty="0" smtClean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400" b="1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AS SUMIF</a:t>
            </a:r>
            <a:endParaRPr lang="en-IN" sz="1400" b="1" dirty="0" smtClean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r>
              <a:rPr lang="en-US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CALCULATE(Sum_Expression,filter_1, filter_2,……… .. . . ) 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CALCULATE(SUM(Orders[Sales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]),Orders[Category]="Furniture</a:t>
            </a:r>
            <a:r>
              <a:rPr lang="en-US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", Orders[Region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]="South") </a:t>
            </a:r>
          </a:p>
          <a:p>
            <a:pPr>
              <a:lnSpc>
                <a:spcPct val="107000"/>
              </a:lnSpc>
            </a:pPr>
            <a:endParaRPr lang="en-US" sz="1400" dirty="0" smtClean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sz="1400" b="1" dirty="0" smtClean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400" b="1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AS COUNTIF</a:t>
            </a:r>
            <a:endParaRPr lang="en-IN" sz="1400" b="1" dirty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r>
              <a:rPr lang="en-US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CALCULATE(Count_Expression,filter_1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filter_2) </a:t>
            </a:r>
          </a:p>
          <a:p>
            <a:endParaRPr lang="en-US" sz="14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M_Count_Furniture&amp;East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endParaRPr lang="en-US" sz="14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CALCULATE(COUNT(Orders[Customer 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]),Orders[Category]="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Furniture",Orders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[Region]="East")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259701" y="1067443"/>
            <a:ext cx="987178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 function in Power BI (DAX)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CALCULATE() is one of the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most important DAX functions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 in Power BI.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Calibri" panose="020F0502020204030204" pitchFamily="34" charset="0"/>
                <a:cs typeface="Courier New" panose="02070309020205020404" pitchFamily="49" charset="0"/>
              </a:rPr>
              <a:t>CALCULATE() works similarly to Excel's SUMIF() and </a:t>
            </a:r>
            <a:r>
              <a:rPr kumimoji="0" lang="en-US" altLang="en-US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Calibri" panose="020F0502020204030204" pitchFamily="34" charset="0"/>
                <a:cs typeface="Courier New" panose="02070309020205020404" pitchFamily="49" charset="0"/>
              </a:rPr>
              <a:t>countIF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Calibri" panose="020F0502020204030204" pitchFamily="34" charset="0"/>
                <a:cs typeface="Courier New" panose="02070309020205020404" pitchFamily="49" charset="0"/>
              </a:rPr>
              <a:t>()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2409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73429" y="842717"/>
            <a:ext cx="1060023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All() : </a:t>
            </a:r>
          </a:p>
        </p:txBody>
      </p:sp>
    </p:spTree>
    <p:extLst>
      <p:ext uri="{BB962C8B-B14F-4D97-AF65-F5344CB8AC3E}">
        <p14:creationId xmlns:p14="http://schemas.microsoft.com/office/powerpoint/2010/main" val="635712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8494" y="4428491"/>
            <a:ext cx="100175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Max_Region</a:t>
            </a:r>
            <a:r>
              <a:rPr lang="en-IN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IN" dirty="0">
                <a:solidFill>
                  <a:srgbClr val="3165BB"/>
                </a:solidFill>
                <a:latin typeface="Consolas" panose="020B0609020204030204" pitchFamily="49" charset="0"/>
              </a:rPr>
              <a:t>CALCULATE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>
                <a:solidFill>
                  <a:srgbClr val="3165BB"/>
                </a:solidFill>
                <a:latin typeface="Consolas" panose="020B0609020204030204" pitchFamily="49" charset="0"/>
              </a:rPr>
              <a:t>MAX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>
                <a:solidFill>
                  <a:srgbClr val="001080"/>
                </a:solidFill>
                <a:latin typeface="Consolas" panose="020B0609020204030204" pitchFamily="49" charset="0"/>
              </a:rPr>
              <a:t>Orders[Sales]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),</a:t>
            </a:r>
            <a:r>
              <a:rPr lang="en-IN" dirty="0">
                <a:solidFill>
                  <a:srgbClr val="3165BB"/>
                </a:solidFill>
                <a:latin typeface="Consolas" panose="020B0609020204030204" pitchFamily="49" charset="0"/>
              </a:rPr>
              <a:t>ALLEXCEPT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 err="1">
                <a:solidFill>
                  <a:srgbClr val="001080"/>
                </a:solidFill>
                <a:latin typeface="Consolas" panose="020B0609020204030204" pitchFamily="49" charset="0"/>
              </a:rPr>
              <a:t>Orders</a:t>
            </a:r>
            <a:r>
              <a:rPr lang="en-IN" dirty="0" err="1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IN" dirty="0" err="1">
                <a:solidFill>
                  <a:srgbClr val="001080"/>
                </a:solidFill>
                <a:latin typeface="Consolas" panose="020B0609020204030204" pitchFamily="49" charset="0"/>
              </a:rPr>
              <a:t>Orders</a:t>
            </a:r>
            <a:r>
              <a:rPr lang="en-IN" dirty="0">
                <a:solidFill>
                  <a:srgbClr val="001080"/>
                </a:solidFill>
                <a:latin typeface="Consolas" panose="020B0609020204030204" pitchFamily="49" charset="0"/>
              </a:rPr>
              <a:t>[Region]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endParaRPr lang="en-IN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08494" y="902864"/>
            <a:ext cx="11356156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 err="1">
                <a:solidFill>
                  <a:srgbClr val="000000"/>
                </a:solidFill>
                <a:latin typeface="Consolas" panose="020B0609020204030204" pitchFamily="49" charset="0"/>
              </a:rPr>
              <a:t>Sum_Region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endParaRPr lang="en-IN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IN" dirty="0" smtClean="0">
                <a:solidFill>
                  <a:srgbClr val="3165BB"/>
                </a:solidFill>
                <a:latin typeface="Consolas" panose="020B0609020204030204" pitchFamily="49" charset="0"/>
              </a:rPr>
              <a:t>CALCULATE</a:t>
            </a:r>
            <a:r>
              <a:rPr lang="en-IN" dirty="0" smtClean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 smtClean="0">
                <a:solidFill>
                  <a:srgbClr val="3165BB"/>
                </a:solidFill>
                <a:latin typeface="Consolas" panose="020B0609020204030204" pitchFamily="49" charset="0"/>
              </a:rPr>
              <a:t>SUM</a:t>
            </a:r>
            <a:r>
              <a:rPr lang="en-IN" dirty="0" smtClean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 smtClean="0">
                <a:solidFill>
                  <a:srgbClr val="001080"/>
                </a:solidFill>
                <a:latin typeface="Consolas" panose="020B0609020204030204" pitchFamily="49" charset="0"/>
              </a:rPr>
              <a:t>Orders[Sales</a:t>
            </a:r>
            <a:r>
              <a:rPr lang="en-IN" dirty="0">
                <a:solidFill>
                  <a:srgbClr val="001080"/>
                </a:solidFill>
                <a:latin typeface="Consolas" panose="020B0609020204030204" pitchFamily="49" charset="0"/>
              </a:rPr>
              <a:t>]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),</a:t>
            </a:r>
            <a:r>
              <a:rPr lang="en-IN" dirty="0">
                <a:solidFill>
                  <a:srgbClr val="3165BB"/>
                </a:solidFill>
                <a:latin typeface="Consolas" panose="020B0609020204030204" pitchFamily="49" charset="0"/>
              </a:rPr>
              <a:t>ALLEXCEPT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 err="1">
                <a:solidFill>
                  <a:srgbClr val="001080"/>
                </a:solidFill>
                <a:latin typeface="Consolas" panose="020B0609020204030204" pitchFamily="49" charset="0"/>
              </a:rPr>
              <a:t>Orders</a:t>
            </a:r>
            <a:r>
              <a:rPr lang="en-IN" dirty="0" err="1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IN" dirty="0" err="1">
                <a:solidFill>
                  <a:srgbClr val="001080"/>
                </a:solidFill>
                <a:latin typeface="Consolas" panose="020B0609020204030204" pitchFamily="49" charset="0"/>
              </a:rPr>
              <a:t>Orders</a:t>
            </a:r>
            <a:r>
              <a:rPr lang="en-IN" dirty="0">
                <a:solidFill>
                  <a:srgbClr val="001080"/>
                </a:solidFill>
                <a:latin typeface="Consolas" panose="020B0609020204030204" pitchFamily="49" charset="0"/>
              </a:rPr>
              <a:t>[Region]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endParaRPr lang="en-US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IN" dirty="0" err="1">
                <a:solidFill>
                  <a:srgbClr val="000000"/>
                </a:solidFill>
                <a:latin typeface="Consolas" panose="020B0609020204030204" pitchFamily="49" charset="0"/>
              </a:rPr>
              <a:t>Sum_Category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endParaRPr lang="en-IN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IN" dirty="0" smtClean="0">
                <a:solidFill>
                  <a:srgbClr val="3165BB"/>
                </a:solidFill>
                <a:latin typeface="Consolas" panose="020B0609020204030204" pitchFamily="49" charset="0"/>
              </a:rPr>
              <a:t>CALCULATE</a:t>
            </a:r>
            <a:r>
              <a:rPr lang="en-IN" dirty="0" smtClean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 smtClean="0">
                <a:solidFill>
                  <a:srgbClr val="3165BB"/>
                </a:solidFill>
                <a:latin typeface="Consolas" panose="020B0609020204030204" pitchFamily="49" charset="0"/>
              </a:rPr>
              <a:t>SUM</a:t>
            </a:r>
            <a:r>
              <a:rPr lang="en-IN" dirty="0" smtClean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 smtClean="0">
                <a:solidFill>
                  <a:srgbClr val="001080"/>
                </a:solidFill>
                <a:latin typeface="Consolas" panose="020B0609020204030204" pitchFamily="49" charset="0"/>
              </a:rPr>
              <a:t>Orders[Sales</a:t>
            </a:r>
            <a:r>
              <a:rPr lang="en-IN" dirty="0">
                <a:solidFill>
                  <a:srgbClr val="001080"/>
                </a:solidFill>
                <a:latin typeface="Consolas" panose="020B0609020204030204" pitchFamily="49" charset="0"/>
              </a:rPr>
              <a:t>]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),</a:t>
            </a:r>
            <a:r>
              <a:rPr lang="en-IN" dirty="0">
                <a:solidFill>
                  <a:srgbClr val="3165BB"/>
                </a:solidFill>
                <a:latin typeface="Consolas" panose="020B0609020204030204" pitchFamily="49" charset="0"/>
              </a:rPr>
              <a:t>ALLEXCEPT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 err="1">
                <a:solidFill>
                  <a:srgbClr val="001080"/>
                </a:solidFill>
                <a:latin typeface="Consolas" panose="020B0609020204030204" pitchFamily="49" charset="0"/>
              </a:rPr>
              <a:t>Orders</a:t>
            </a:r>
            <a:r>
              <a:rPr lang="en-IN" dirty="0" err="1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IN" dirty="0" err="1">
                <a:solidFill>
                  <a:srgbClr val="001080"/>
                </a:solidFill>
                <a:latin typeface="Consolas" panose="020B0609020204030204" pitchFamily="49" charset="0"/>
              </a:rPr>
              <a:t>Orders</a:t>
            </a:r>
            <a:r>
              <a:rPr lang="en-IN" dirty="0">
                <a:solidFill>
                  <a:srgbClr val="001080"/>
                </a:solidFill>
                <a:latin typeface="Consolas" panose="020B0609020204030204" pitchFamily="49" charset="0"/>
              </a:rPr>
              <a:t>[Category]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endParaRPr lang="en-IN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IN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IN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Sum_Region_Category</a:t>
            </a:r>
            <a:r>
              <a:rPr lang="en-IN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IN" dirty="0">
                <a:solidFill>
                  <a:srgbClr val="3165BB"/>
                </a:solidFill>
                <a:latin typeface="Consolas" panose="020B0609020204030204" pitchFamily="49" charset="0"/>
              </a:rPr>
              <a:t>CALCULATE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>
                <a:solidFill>
                  <a:srgbClr val="3165BB"/>
                </a:solidFill>
                <a:latin typeface="Consolas" panose="020B0609020204030204" pitchFamily="49" charset="0"/>
              </a:rPr>
              <a:t>SUM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>
                <a:solidFill>
                  <a:srgbClr val="001080"/>
                </a:solidFill>
                <a:latin typeface="Consolas" panose="020B0609020204030204" pitchFamily="49" charset="0"/>
              </a:rPr>
              <a:t>Orders[Sales]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),</a:t>
            </a:r>
            <a:r>
              <a:rPr lang="en-IN" dirty="0">
                <a:solidFill>
                  <a:srgbClr val="3165BB"/>
                </a:solidFill>
                <a:latin typeface="Consolas" panose="020B0609020204030204" pitchFamily="49" charset="0"/>
              </a:rPr>
              <a:t>ALLEXCEPT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IN" dirty="0" err="1">
                <a:solidFill>
                  <a:srgbClr val="001080"/>
                </a:solidFill>
                <a:latin typeface="Consolas" panose="020B0609020204030204" pitchFamily="49" charset="0"/>
              </a:rPr>
              <a:t>Orders</a:t>
            </a:r>
            <a:r>
              <a:rPr lang="en-IN" dirty="0" err="1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IN" dirty="0" err="1">
                <a:solidFill>
                  <a:srgbClr val="001080"/>
                </a:solidFill>
                <a:latin typeface="Consolas" panose="020B0609020204030204" pitchFamily="49" charset="0"/>
              </a:rPr>
              <a:t>Orders</a:t>
            </a:r>
            <a:r>
              <a:rPr lang="en-IN" dirty="0">
                <a:solidFill>
                  <a:srgbClr val="001080"/>
                </a:solidFill>
                <a:latin typeface="Consolas" panose="020B0609020204030204" pitchFamily="49" charset="0"/>
              </a:rPr>
              <a:t>[Region]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IN" dirty="0">
                <a:solidFill>
                  <a:srgbClr val="001080"/>
                </a:solidFill>
                <a:latin typeface="Consolas" panose="020B0609020204030204" pitchFamily="49" charset="0"/>
              </a:rPr>
              <a:t>Orders[Category]</a:t>
            </a:r>
            <a:r>
              <a:rPr lang="en-IN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IN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5410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84530" y="2091262"/>
            <a:ext cx="424608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chemeClr val="bg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ALL(Orders[Category])</a:t>
            </a:r>
            <a:endParaRPr lang="en-IN" sz="2000" b="0" dirty="0">
              <a:solidFill>
                <a:schemeClr val="bg2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73429" y="842717"/>
            <a:ext cx="1060023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All()</a:t>
            </a:r>
          </a:p>
          <a:p>
            <a:r>
              <a:rPr lang="en-US" dirty="0" smtClean="0">
                <a:solidFill>
                  <a:schemeClr val="bg2"/>
                </a:solidFill>
                <a:latin typeface="Candara" panose="020E0502030303020204" pitchFamily="34" charset="0"/>
              </a:rPr>
              <a:t>Its </a:t>
            </a:r>
            <a:r>
              <a:rPr lang="en-US" dirty="0">
                <a:solidFill>
                  <a:schemeClr val="bg2"/>
                </a:solidFill>
                <a:latin typeface="Candara" panose="020E0502030303020204" pitchFamily="34" charset="0"/>
              </a:rPr>
              <a:t>primary job is to </a:t>
            </a:r>
            <a:r>
              <a:rPr lang="en-US" b="1" dirty="0">
                <a:solidFill>
                  <a:schemeClr val="bg2"/>
                </a:solidFill>
                <a:latin typeface="Candara" panose="020E0502030303020204" pitchFamily="34" charset="0"/>
              </a:rPr>
              <a:t>clear/remove filters</a:t>
            </a:r>
            <a:r>
              <a:rPr lang="en-US" dirty="0" smtClean="0">
                <a:solidFill>
                  <a:schemeClr val="bg2"/>
                </a:solidFill>
                <a:latin typeface="Candara" panose="020E0502030303020204" pitchFamily="34" charset="0"/>
              </a:rPr>
              <a:t>.</a:t>
            </a:r>
          </a:p>
          <a:p>
            <a:pPr lvl="0"/>
            <a:r>
              <a:rPr lang="en-US" altLang="en-US" dirty="0" smtClean="0">
                <a:solidFill>
                  <a:schemeClr val="bg2"/>
                </a:solidFill>
                <a:latin typeface="Candara" panose="020E0502030303020204" pitchFamily="34" charset="0"/>
              </a:rPr>
              <a:t>ALL </a:t>
            </a:r>
            <a:r>
              <a:rPr lang="en-US" altLang="en-US" dirty="0">
                <a:solidFill>
                  <a:schemeClr val="bg2"/>
                </a:solidFill>
                <a:latin typeface="Candara" panose="020E0502030303020204" pitchFamily="34" charset="0"/>
              </a:rPr>
              <a:t>can clear filters from </a:t>
            </a:r>
            <a:r>
              <a:rPr lang="en-US" altLang="en-US" dirty="0" smtClean="0">
                <a:solidFill>
                  <a:schemeClr val="bg2"/>
                </a:solidFill>
                <a:latin typeface="Candara" panose="020E0502030303020204" pitchFamily="34" charset="0"/>
              </a:rPr>
              <a:t>a specific </a:t>
            </a:r>
            <a:r>
              <a:rPr lang="en-US" altLang="en-US" dirty="0">
                <a:solidFill>
                  <a:schemeClr val="bg2"/>
                </a:solidFill>
                <a:latin typeface="Candara" panose="020E0502030303020204" pitchFamily="34" charset="0"/>
              </a:rPr>
              <a:t>columns, or serve as a vital modifier inside CALCULATE 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530" y="2816587"/>
            <a:ext cx="73089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>
                <a:solidFill>
                  <a:srgbClr val="3165BB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CALCULATE</a:t>
            </a:r>
            <a:r>
              <a:rPr lang="en-IN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dirty="0">
                <a:solidFill>
                  <a:srgbClr val="3165BB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IN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dirty="0">
                <a:solidFill>
                  <a:srgbClr val="001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Orders[Sales]</a:t>
            </a:r>
            <a:r>
              <a:rPr lang="en-IN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IN" dirty="0">
                <a:solidFill>
                  <a:srgbClr val="3165BB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</a:t>
            </a:r>
            <a:r>
              <a:rPr lang="en-IN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dirty="0">
                <a:solidFill>
                  <a:srgbClr val="001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Orders[Category]</a:t>
            </a:r>
            <a:r>
              <a:rPr lang="en-IN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en-IN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84530" y="3511134"/>
            <a:ext cx="1082417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M_%</a:t>
            </a:r>
            <a:r>
              <a:rPr 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Contri</a:t>
            </a:r>
            <a:r>
              <a:rPr 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>
                <a:solidFill>
                  <a:srgbClr val="3165BB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DIVIDE</a:t>
            </a:r>
            <a:r>
              <a:rPr 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3165BB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001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Orders[Sales]</a:t>
            </a:r>
            <a:r>
              <a:rPr 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sz="1600" dirty="0">
                <a:solidFill>
                  <a:srgbClr val="3165BB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CALCULATE</a:t>
            </a:r>
            <a:r>
              <a:rPr 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3165BB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001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Orders[Sales]</a:t>
            </a:r>
            <a:r>
              <a:rPr 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sz="1600" dirty="0">
                <a:solidFill>
                  <a:srgbClr val="3165BB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</a:t>
            </a:r>
            <a:r>
              <a:rPr 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001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Orders[Category]</a:t>
            </a:r>
            <a:r>
              <a:rPr 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)))</a:t>
            </a:r>
            <a:endParaRPr 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128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44760" y="59736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FILTER()</a:t>
            </a:r>
          </a:p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KEEPFILTERS()</a:t>
            </a:r>
          </a:p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REMOVEFILTERS()</a:t>
            </a:r>
          </a:p>
        </p:txBody>
      </p:sp>
    </p:spTree>
    <p:extLst>
      <p:ext uri="{BB962C8B-B14F-4D97-AF65-F5344CB8AC3E}">
        <p14:creationId xmlns:p14="http://schemas.microsoft.com/office/powerpoint/2010/main" val="2917987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-214605" y="670748"/>
            <a:ext cx="1172858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Filters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Applies the filter on specific </a:t>
            </a:r>
            <a:r>
              <a:rPr kumimoji="0" lang="en-US" altLang="en-US" sz="1600" b="1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contion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. it helps to create the new table as well.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Furniture_Table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= FILTER(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Orders,Orders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[Category]="Furniture")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7342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97565" y="1612806"/>
            <a:ext cx="11261035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Keep filters</a:t>
            </a:r>
            <a:endParaRPr lang="en-US" altLang="en-US" sz="16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CALCULATE(SUM(Orders[Sales</a:t>
            </a:r>
            <a:r>
              <a:rPr lang="en-US" altLang="en-US" sz="1600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]),KEEPFILTERS(Orders[Category]="Furniture"))</a:t>
            </a:r>
            <a:endParaRPr lang="en-US" altLang="en-US" sz="16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 smtClean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KEEPFILTERS keeps the existing filter and applies the new filter on top of it</a:t>
            </a:r>
            <a:endParaRPr lang="en-US" altLang="en-US" sz="16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Remove filters</a:t>
            </a:r>
            <a:endParaRPr lang="en-US" altLang="en-US" sz="16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MS_RM</a:t>
            </a:r>
            <a:r>
              <a:rPr lang="en-US" altLang="en-US" sz="1600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_ = CALCULATE(SUM(Orders[Sales]),REMOVEFILTERS(Orders[Category</a:t>
            </a:r>
            <a:r>
              <a:rPr lang="en-US" altLang="en-US" sz="1600" dirty="0" smtClean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]))</a:t>
            </a: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REMOVEFILTERS</a:t>
            </a:r>
            <a:r>
              <a:rPr lang="en-US" altLang="en-US" sz="1600" b="1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() removes filters from a column or table.</a:t>
            </a:r>
            <a:endParaRPr lang="en-US" altLang="en-US" sz="1600" b="1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97565" y="415311"/>
            <a:ext cx="1126103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 smtClean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Combining Calculate and Filters Together</a:t>
            </a:r>
            <a:endParaRPr lang="en-US" altLang="en-US" sz="40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667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4447</TotalTime>
  <Words>886</Words>
  <Application>Microsoft Office PowerPoint</Application>
  <PresentationFormat>Widescreen</PresentationFormat>
  <Paragraphs>204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Candara</vt:lpstr>
      <vt:lpstr>Century Gothic</vt:lpstr>
      <vt:lpstr>Consolas</vt:lpstr>
      <vt:lpstr>Courier New</vt:lpstr>
      <vt:lpstr>Times New Roman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SHIVRAJ SHINDE</dc:creator>
  <cp:lastModifiedBy>SHIVRAJ SHINDE</cp:lastModifiedBy>
  <cp:revision>172</cp:revision>
  <dcterms:created xsi:type="dcterms:W3CDTF">2026-05-12T10:34:27Z</dcterms:created>
  <dcterms:modified xsi:type="dcterms:W3CDTF">2026-08-21T07:08:10Z</dcterms:modified>
</cp:coreProperties>
</file>