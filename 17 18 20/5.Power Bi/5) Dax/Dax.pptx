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sldIdLst>
    <p:sldId id="291" r:id="rId2"/>
    <p:sldId id="281" r:id="rId3"/>
    <p:sldId id="287" r:id="rId4"/>
    <p:sldId id="288" r:id="rId5"/>
    <p:sldId id="292" r:id="rId6"/>
    <p:sldId id="289" r:id="rId7"/>
    <p:sldId id="290" r:id="rId8"/>
    <p:sldId id="297" r:id="rId9"/>
    <p:sldId id="270" r:id="rId10"/>
    <p:sldId id="294" r:id="rId11"/>
    <p:sldId id="295" r:id="rId12"/>
    <p:sldId id="296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173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81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78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2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433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88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57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36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2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0440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0470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59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838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539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0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418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18-08-2026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3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687355" y="2825917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endParaRPr lang="en-US" dirty="0"/>
          </a:p>
        </p:txBody>
      </p:sp>
      <p:sp>
        <p:nvSpPr>
          <p:cNvPr id="5" name="Rectangle 4"/>
          <p:cNvSpPr/>
          <p:nvPr/>
        </p:nvSpPr>
        <p:spPr>
          <a:xfrm>
            <a:off x="364957" y="586134"/>
            <a:ext cx="11425990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 err="1">
                <a:latin typeface="+mj-lt"/>
              </a:rPr>
              <a:t>Dax</a:t>
            </a: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r>
              <a:rPr lang="en-US" b="1" dirty="0">
                <a:latin typeface="+mj-lt"/>
              </a:rPr>
              <a:t>DAX</a:t>
            </a:r>
            <a:r>
              <a:rPr lang="en-US" dirty="0">
                <a:latin typeface="+mj-lt"/>
              </a:rPr>
              <a:t> stands for </a:t>
            </a:r>
            <a:r>
              <a:rPr lang="en-US" b="1" dirty="0">
                <a:latin typeface="+mj-lt"/>
              </a:rPr>
              <a:t>Data Analysis Expressions</a:t>
            </a:r>
            <a:r>
              <a:rPr lang="en-US" dirty="0">
                <a:latin typeface="+mj-lt"/>
              </a:rPr>
              <a:t>. It is the formula language used in </a:t>
            </a:r>
            <a:r>
              <a:rPr lang="en-US" b="1" dirty="0">
                <a:latin typeface="+mj-lt"/>
              </a:rPr>
              <a:t>Power BI</a:t>
            </a:r>
            <a:r>
              <a:rPr lang="en-US" dirty="0">
                <a:latin typeface="+mj-lt"/>
              </a:rPr>
              <a:t> to perform calculations and create </a:t>
            </a:r>
            <a:r>
              <a:rPr lang="en-US" dirty="0"/>
              <a:t>calculated </a:t>
            </a:r>
            <a:r>
              <a:rPr lang="en-US" dirty="0" smtClean="0"/>
              <a:t> Fields such as </a:t>
            </a:r>
            <a:r>
              <a:rPr lang="en-US" dirty="0" smtClean="0">
                <a:latin typeface="+mj-lt"/>
              </a:rPr>
              <a:t>.</a:t>
            </a:r>
          </a:p>
          <a:p>
            <a:endParaRPr lang="en-US" dirty="0">
              <a:latin typeface="+mj-lt"/>
            </a:endParaRPr>
          </a:p>
          <a:p>
            <a:r>
              <a:rPr lang="en-US" b="1" dirty="0" smtClean="0">
                <a:latin typeface="+mj-lt"/>
              </a:rPr>
              <a:t>Calculated </a:t>
            </a:r>
            <a:r>
              <a:rPr lang="en-US" b="1" dirty="0">
                <a:latin typeface="+mj-lt"/>
              </a:rPr>
              <a:t>Column</a:t>
            </a:r>
            <a:br>
              <a:rPr lang="en-US" b="1" dirty="0">
                <a:latin typeface="+mj-lt"/>
              </a:rPr>
            </a:br>
            <a:r>
              <a:rPr lang="en-US" b="1" dirty="0" smtClean="0">
                <a:latin typeface="+mj-lt"/>
              </a:rPr>
              <a:t>	</a:t>
            </a:r>
            <a:r>
              <a:rPr lang="en-US" dirty="0" smtClean="0">
                <a:latin typeface="+mj-lt"/>
              </a:rPr>
              <a:t>A </a:t>
            </a:r>
            <a:r>
              <a:rPr lang="en-US" b="1" dirty="0">
                <a:latin typeface="+mj-lt"/>
              </a:rPr>
              <a:t>column</a:t>
            </a:r>
            <a:r>
              <a:rPr lang="en-US" dirty="0">
                <a:latin typeface="+mj-lt"/>
              </a:rPr>
              <a:t> creates a value for </a:t>
            </a:r>
            <a:r>
              <a:rPr lang="en-US" b="1" dirty="0">
                <a:latin typeface="+mj-lt"/>
              </a:rPr>
              <a:t>every row</a:t>
            </a:r>
            <a:r>
              <a:rPr lang="en-US" dirty="0">
                <a:latin typeface="+mj-lt"/>
              </a:rPr>
              <a:t> in your </a:t>
            </a:r>
            <a:r>
              <a:rPr lang="en-US" dirty="0" smtClean="0">
                <a:latin typeface="+mj-lt"/>
              </a:rPr>
              <a:t>table.</a:t>
            </a:r>
          </a:p>
          <a:p>
            <a:pPr marL="342900" indent="-342900">
              <a:buAutoNum type="arabicPeriod"/>
            </a:pPr>
            <a:endParaRPr lang="en-US" b="1" dirty="0" smtClean="0">
              <a:latin typeface="+mj-lt"/>
            </a:endParaRPr>
          </a:p>
          <a:p>
            <a:pPr marL="342900" indent="-342900">
              <a:buAutoNum type="arabicPeriod"/>
            </a:pPr>
            <a:endParaRPr lang="en-US" b="1" dirty="0">
              <a:latin typeface="+mj-lt"/>
            </a:endParaRPr>
          </a:p>
          <a:p>
            <a:endParaRPr lang="en-US" b="1" dirty="0">
              <a:latin typeface="+mj-lt"/>
            </a:endParaRPr>
          </a:p>
          <a:p>
            <a:r>
              <a:rPr lang="en-US" b="1" dirty="0" smtClean="0">
                <a:latin typeface="+mj-lt"/>
              </a:rPr>
              <a:t>Measure</a:t>
            </a:r>
            <a:r>
              <a:rPr lang="en-US" b="1" dirty="0">
                <a:latin typeface="+mj-lt"/>
              </a:rPr>
              <a:t/>
            </a:r>
            <a:br>
              <a:rPr lang="en-US" b="1" dirty="0">
                <a:latin typeface="+mj-lt"/>
              </a:rPr>
            </a:br>
            <a:r>
              <a:rPr lang="en-US" b="1" dirty="0" smtClean="0">
                <a:latin typeface="+mj-lt"/>
              </a:rPr>
              <a:t>	</a:t>
            </a:r>
            <a:r>
              <a:rPr lang="en-US" dirty="0" smtClean="0">
                <a:latin typeface="+mj-lt"/>
              </a:rPr>
              <a:t>A </a:t>
            </a:r>
            <a:r>
              <a:rPr lang="en-US" b="1" dirty="0">
                <a:latin typeface="+mj-lt"/>
              </a:rPr>
              <a:t>measure</a:t>
            </a:r>
            <a:r>
              <a:rPr lang="en-US" dirty="0">
                <a:latin typeface="+mj-lt"/>
              </a:rPr>
              <a:t> calculates a result dynamically based on the current filter/context.</a:t>
            </a:r>
            <a:br>
              <a:rPr lang="en-US" dirty="0">
                <a:latin typeface="+mj-lt"/>
              </a:rPr>
            </a:br>
            <a:r>
              <a:rPr lang="en-US" dirty="0">
                <a:latin typeface="+mj-lt"/>
              </a:rPr>
              <a:t/>
            </a:r>
            <a:br>
              <a:rPr lang="en-US" dirty="0">
                <a:latin typeface="+mj-lt"/>
              </a:rPr>
            </a:br>
            <a:endParaRPr lang="en-IN" dirty="0"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7000757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067" y="185667"/>
            <a:ext cx="1010356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Dax</a:t>
            </a:r>
            <a:endParaRPr lang="en-US" dirty="0" smtClean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andara" panose="020E0502030303020204" pitchFamily="34" charset="0"/>
              </a:rPr>
              <a:t>There are more than 200 DAX functions in power BI.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andara" panose="020E0502030303020204" pitchFamily="34" charset="0"/>
              </a:rPr>
              <a:t>Some important as below. </a:t>
            </a:r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67950" y="1295782"/>
            <a:ext cx="6279503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                                                                         .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help creating calculations based on dates and 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                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manipulate table and filter contexts.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     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                                                                                      .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363232" y="1590963"/>
            <a:ext cx="5644284" cy="36933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 Aggregation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SUM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AVERAGE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MIN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MAX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COUNT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u="sng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Date and Time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CALENDAR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DATEVALUE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DAY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MONTH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YEAR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u="sng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Filter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CALCULATE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ALLEXCEPT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RELATED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.    Information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ISBLANK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ISERROR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ISNUMBER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ISTEXT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USERNAME</a:t>
            </a:r>
            <a:endParaRPr kumimoji="0" lang="en-US" altLang="en-US" sz="800" b="0" i="0" u="sng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sng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.    Logical functions:</a:t>
            </a:r>
            <a:r>
              <a:rPr kumimoji="0" lang="en-US" altLang="en-US" sz="1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AND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OR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NOT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IF</a:t>
            </a:r>
            <a:r>
              <a:rPr kumimoji="0" lang="en-US" altLang="en-US" sz="8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sng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SWITCH</a:t>
            </a:r>
            <a:endParaRPr kumimoji="0" lang="en-US" altLang="en-US" sz="1800" b="0" i="0" u="sng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243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2" dur="500"/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147484" y="636242"/>
            <a:ext cx="937014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</a:t>
            </a: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lang="en-US" altLang="en-US" dirty="0">
                <a:latin typeface="Candara" panose="020E0502030303020204" pitchFamily="34" charset="0"/>
              </a:rPr>
              <a:t> </a:t>
            </a:r>
          </a:p>
        </p:txBody>
      </p:sp>
      <p:sp>
        <p:nvSpPr>
          <p:cNvPr id="6" name="Rectangle 5"/>
          <p:cNvSpPr/>
          <p:nvPr/>
        </p:nvSpPr>
        <p:spPr>
          <a:xfrm>
            <a:off x="741680" y="2229159"/>
            <a:ext cx="11084560" cy="29876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Function           Description                           Example                             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-----------------  ------------------------------------  ------------------------------------ 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SUM()  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Adds all values in a column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Total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SUM(Sales[Amount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AVERAGE()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Returns the average of a column       </a:t>
            </a:r>
            <a:r>
              <a:rPr lang="en-IN" sz="1400" dirty="0" err="1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Avg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AVERAGE(Sales[Amount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MIN()  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Returns the smallest value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Minimum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MIN(Sales[Amount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MAX()  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Returns the largest value 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Maximum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Sales = MAX(Sales[Amount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COUNT()    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Counts numeric values     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COUNT(Sales[Amount])            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DISTINCTCOUNT()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Counts unique values                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DISTINCTCOUNT(Sales[</a:t>
            </a:r>
            <a:r>
              <a:rPr lang="en-IN" sz="1400" dirty="0" err="1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CustomerID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])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COUNTROWS()      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Counts the number of rows in a table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COUNTROWS(Sales)                   </a:t>
            </a:r>
            <a:endParaRPr lang="en-IN" sz="14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475212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205301" y="221677"/>
            <a:ext cx="864255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</a:t>
            </a:r>
            <a:endParaRPr lang="en-US" altLang="en-US" dirty="0">
              <a:solidFill>
                <a:schemeClr val="accent6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 help creating calculations based on dates and time.</a:t>
            </a:r>
          </a:p>
        </p:txBody>
      </p:sp>
      <p:sp>
        <p:nvSpPr>
          <p:cNvPr id="2" name="Rectangle 1"/>
          <p:cNvSpPr/>
          <p:nvPr/>
        </p:nvSpPr>
        <p:spPr>
          <a:xfrm>
            <a:off x="592162" y="1260207"/>
            <a:ext cx="10890184" cy="541686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DATE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TargetDate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DATE(2026, 06, 02)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TIME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ShiftStart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TIME(9, 0, 0)</a:t>
            </a: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TODAY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CurrentDate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TODAY()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NOW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CurrentTimestamp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NOW()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Extract Values from date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DAY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DayNumber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DAY(Sales[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InvoiceDate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MONTH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MonthNumber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MONTH(Sales[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QUARTER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CurrentQuarter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QUARTER(Sales[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 </a:t>
            </a: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YEAR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OrderYear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YEAR(Sales[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endParaRPr lang="en-US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Extract Values from 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Date Time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SECOND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OrderSecond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SECOND(Sales[Timestamp]) </a:t>
            </a: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MINUTE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OrderMinute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MINUTE(Sales[Timestamp]) </a:t>
            </a:r>
          </a:p>
          <a:p>
            <a:pPr lvl="1" fontAlgn="b"/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HOUR</a:t>
            </a:r>
            <a:r>
              <a:rPr lang="en-IN" sz="16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IN" sz="16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OrderHour</a:t>
            </a:r>
            <a:r>
              <a:rPr lang="en-IN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= HOUR(Sales[Timestamp])</a:t>
            </a:r>
            <a:endParaRPr lang="en-IN" sz="1600" dirty="0" smtClean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US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Date Formatting</a:t>
            </a: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FORMAT(Data[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Ord_Date_T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],"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ddd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FORMAT(Data[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Ord_Date_T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"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yyyy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FORMAT(Data[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Ord_Date_T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"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mmm")</a:t>
            </a:r>
          </a:p>
        </p:txBody>
      </p:sp>
    </p:spTree>
    <p:extLst>
      <p:ext uri="{BB962C8B-B14F-4D97-AF65-F5344CB8AC3E}">
        <p14:creationId xmlns:p14="http://schemas.microsoft.com/office/powerpoint/2010/main" val="2186747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2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2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2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2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32080" y="473516"/>
            <a:ext cx="11503152" cy="123110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Work on Week 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WEEKDAY</a:t>
            </a:r>
            <a:r>
              <a:rPr lang="en-IN" sz="1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DayOfWeek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WEEKDAY(Sales[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1) Starting with Sunday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WEEKDAY</a:t>
            </a:r>
            <a:r>
              <a:rPr lang="en-IN" sz="1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DayOfWeek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WEEKDAY(Sales[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2) Starting with Monday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WEEKNUM</a:t>
            </a:r>
            <a:r>
              <a:rPr lang="en-IN" sz="1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WeekOfYear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WEEKNUM(Sales[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   week number as per year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IN" sz="16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32080" y="1986062"/>
            <a:ext cx="11360912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Calculation Between date</a:t>
            </a:r>
            <a:endParaRPr lang="en-IN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DATEDIFF</a:t>
            </a:r>
            <a:r>
              <a:rPr lang="en-IN" sz="14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DaysPassed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DATEDIFF(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Start_Date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400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End_Date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DAY)</a:t>
            </a: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DATEDIFF</a:t>
            </a:r>
            <a:r>
              <a:rPr lang="en-IN" sz="1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DaysPassed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DATEDIFF(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ShipDate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, DAY)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endParaRPr lang="en-IN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EDATE</a:t>
            </a:r>
            <a:r>
              <a:rPr lang="en-IN" sz="1400" b="1" dirty="0" smtClean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TwoMonthsLater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EDATE(Sales[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2)     Add Month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endParaRPr lang="en-IN" sz="1400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EOMONTH</a:t>
            </a:r>
            <a:r>
              <a:rPr lang="en-IN" sz="14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MonthEnd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= EOMONTH(Sales[</a:t>
            </a:r>
            <a:r>
              <a:rPr lang="en-IN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OrderDate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], 0)	  </a:t>
            </a:r>
            <a:r>
              <a:rPr lang="en-IN" sz="14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en-IN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end of the month</a:t>
            </a:r>
            <a:endParaRPr lang="en-IN" sz="14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fontAlgn="b"/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67640" y="3854827"/>
            <a:ext cx="11432032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fontAlgn="b"/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Convert text to date or time</a:t>
            </a:r>
            <a:endParaRPr lang="en-IN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TIMEVALUE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ConvertedTime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TIMEVALUE("13:30:00")</a:t>
            </a:r>
          </a:p>
          <a:p>
            <a:pPr lvl="1" fontAlgn="b"/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 DATEVALUE</a:t>
            </a:r>
            <a:r>
              <a:rPr lang="en-IN" sz="1600" b="1" dirty="0">
                <a:solidFill>
                  <a:srgbClr val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en-IN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ConvertedDate</a:t>
            </a:r>
            <a:r>
              <a:rPr lang="en-IN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 = DATEVALUE("2026-06-02")</a:t>
            </a:r>
            <a:endParaRPr lang="en-IN" sz="1600" dirty="0">
              <a:solidFill>
                <a:srgbClr val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0384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442452" y="381451"/>
            <a:ext cx="10601468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</a:t>
            </a:r>
            <a:endParaRPr lang="en-US" altLang="en-US" dirty="0">
              <a:solidFill>
                <a:schemeClr val="bg2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</p:txBody>
      </p:sp>
      <p:sp>
        <p:nvSpPr>
          <p:cNvPr id="2" name="Rectangle 1"/>
          <p:cNvSpPr/>
          <p:nvPr/>
        </p:nvSpPr>
        <p:spPr>
          <a:xfrm>
            <a:off x="281162" y="1150944"/>
            <a:ext cx="11724640" cy="248721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ISBLANK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Blank / Not Blank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IF(ISBLANK(Data[Sales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"Blank", "Not Blank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ISNUMBER()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a Number / Not Number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IF(ISNUMBER(Data[Sales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"Number", "Not Number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ISTEXT()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Text / Not Text 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IF(ISTEXT(Data[Customer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"Text", "Not Text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ISERROR()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an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Error / No Error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IF(ISERROR(10/0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), "Error", "No Error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ISEVEN()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Even / Odd      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IF(ISEVEN(Data[Number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"Even", "Odd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</a:pP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ISODD()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    is 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Odd / Even                   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IF(ISODD(Data[Number</a:t>
            </a:r>
            <a:r>
              <a:rPr lang="en-IN" sz="1500" dirty="0">
                <a:latin typeface="Courier New" panose="02070309020205020404" pitchFamily="49" charset="0"/>
                <a:cs typeface="Courier New" panose="02070309020205020404" pitchFamily="49" charset="0"/>
              </a:rPr>
              <a:t>]), "Odd", "Even</a:t>
            </a:r>
            <a:r>
              <a:rPr lang="en-IN" sz="15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")</a:t>
            </a:r>
            <a:endParaRPr lang="en-IN" sz="15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>
              <a:lnSpc>
                <a:spcPct val="150000"/>
              </a:lnSpc>
              <a:spcAft>
                <a:spcPts val="800"/>
              </a:spcAft>
            </a:pPr>
            <a:endParaRPr lang="en-IN" sz="15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43722" y="4775072"/>
            <a:ext cx="11399520" cy="13474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e.g</a:t>
            </a:r>
            <a:r>
              <a:rPr lang="en-IN" sz="14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. DOMAIN\username  </a:t>
            </a: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</a:t>
            </a:r>
            <a:r>
              <a:rPr lang="en-IN" sz="1400" dirty="0" smtClean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Returns </a:t>
            </a:r>
            <a:r>
              <a:rPr lang="en-IN" sz="1400" dirty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the current user's domain and </a:t>
            </a:r>
            <a:r>
              <a:rPr lang="en-IN" sz="1400" dirty="0" smtClean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username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14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4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USERPRINCIPALNAME()       e.g. user@company.com 	</a:t>
            </a:r>
            <a:r>
              <a:rPr lang="en-IN" sz="1400" dirty="0" smtClean="0">
                <a:solidFill>
                  <a:schemeClr val="tx1">
                    <a:lumMod val="50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Returns the current user's login/email-style identifier</a:t>
            </a:r>
          </a:p>
          <a:p>
            <a:pPr>
              <a:lnSpc>
                <a:spcPct val="107000"/>
              </a:lnSpc>
              <a:spcAft>
                <a:spcPts val="800"/>
              </a:spcAft>
            </a:pPr>
            <a:endParaRPr lang="en-IN" sz="14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3232015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6812" y="420780"/>
            <a:ext cx="11000591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</a:t>
            </a:r>
            <a:endParaRPr lang="en-US" altLang="en-US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</p:txBody>
      </p:sp>
      <p:sp>
        <p:nvSpPr>
          <p:cNvPr id="2" name="Rectangle 1"/>
          <p:cNvSpPr/>
          <p:nvPr/>
        </p:nvSpPr>
        <p:spPr>
          <a:xfrm>
            <a:off x="494522" y="1387592"/>
            <a:ext cx="9275643" cy="50939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Category 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= 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IF(Data[Sales]&lt;25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,"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LESS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",</a:t>
            </a:r>
          </a:p>
          <a:p>
            <a:pPr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	</a:t>
            </a:r>
            <a:r>
              <a:rPr lang="en-US" sz="1600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IF(Data[Sales</a:t>
            </a:r>
            <a:r>
              <a:rPr lang="en-US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]&lt;75,"AVG","High"))</a:t>
            </a: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IFERROR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      IFERROR(Sales[Revenue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 / Sales[Units], 0)</a:t>
            </a:r>
          </a:p>
          <a:p>
            <a:pPr>
              <a:lnSpc>
                <a:spcPct val="107000"/>
              </a:lnSpc>
            </a:pP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AND	 	AND(Sales[Amount] &gt; 100, Sales[Region] = "West")</a:t>
            </a: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OR	 	OR(Sales[Quantity] &gt; 10, Sales[Discount] &gt; 0.1)</a:t>
            </a: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NOT	 	NOT(Sales[Status] = "Cancelled")</a:t>
            </a:r>
          </a:p>
          <a:p>
            <a:pPr>
              <a:lnSpc>
                <a:spcPct val="107000"/>
              </a:lnSpc>
            </a:pP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FALSE	 	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SetFalse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= FALSE()</a:t>
            </a: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TRUE		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SetTrue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=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TRUE() </a:t>
            </a: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</a:pP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Category 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=SWITCH(    </a:t>
            </a: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2"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TRUE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(),    </a:t>
            </a: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2"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Data[Sales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 &lt; 25, "LESS",    </a:t>
            </a: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2">
              <a:lnSpc>
                <a:spcPct val="107000"/>
              </a:lnSpc>
            </a:pP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</a:t>
            </a: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Data[Sales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] &lt; 75, "AVG",    </a:t>
            </a:r>
            <a:r>
              <a:rPr lang="en-US" sz="1600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"</a:t>
            </a:r>
            <a:r>
              <a:rPr lang="en-US" sz="1600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High")</a:t>
            </a:r>
          </a:p>
          <a:p>
            <a:pPr>
              <a:lnSpc>
                <a:spcPct val="107000"/>
              </a:lnSpc>
            </a:pPr>
            <a:endParaRPr lang="en-IN" sz="1600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00508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443948" y="1420801"/>
            <a:ext cx="10956234" cy="483478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Function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Example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Result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LEFT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LEFT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PowerBI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", 5)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Power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RIGHT()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RIGHT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PowerBI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", 2)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BI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MID()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MID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PowerBI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", 2, 3)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owe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LEN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LEN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</a:t>
            </a:r>
            <a:r>
              <a:rPr lang="en-IN" sz="1600" dirty="0" err="1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PowerBI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	7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UPPER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UPPER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("power bi")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POWER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BI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LOWER()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LOWER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("POWER BI")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power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bi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TRIM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TRIM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 Power BI 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	Power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BI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SUBSTITUTE()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SUBSTITUTE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("Power BI", "BI", "Query")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Power 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Query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US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CONTAINSSTRING()	CONTAINSSTRING("Power BI", "BI")		TRUE</a:t>
            </a: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SEARCH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SEARCH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("BI", "Power BI")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	7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endParaRPr lang="en-IN" sz="1600" dirty="0" smtClean="0">
              <a:latin typeface="Courier New" panose="02070309020205020404" pitchFamily="49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CONCATENATE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CONCATENATE</a:t>
            </a:r>
            <a:r>
              <a:rPr lang="en-IN" sz="1600" dirty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("Hello", " ", "World")	</a:t>
            </a:r>
            <a:r>
              <a:rPr lang="en-IN" sz="1600" dirty="0" smtClean="0">
                <a:latin typeface="Courier New" panose="02070309020205020404" pitchFamily="49" charset="0"/>
                <a:ea typeface="Calibri" panose="020F0502020204030204" pitchFamily="34" charset="0"/>
                <a:cs typeface="Times New Roman" panose="02020603050405020304" pitchFamily="18" charset="0"/>
              </a:rPr>
              <a:t>	Hello World</a:t>
            </a:r>
            <a:endParaRPr lang="en-IN" sz="16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54803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344129" y="41179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</a:t>
            </a:r>
            <a:r>
              <a:rPr lang="en-US" altLang="en-US" b="1" dirty="0" smtClean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&amp; Calculate functions</a:t>
            </a:r>
            <a:endParaRPr lang="en-US" altLang="en-US" dirty="0">
              <a:solidFill>
                <a:schemeClr val="accent1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functions manipulate table and filter contexts.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41918" y="1531881"/>
            <a:ext cx="6096000" cy="1200329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CALCULATE()</a:t>
            </a:r>
          </a:p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FILTER()</a:t>
            </a:r>
          </a:p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KEEPFILTERS()</a:t>
            </a:r>
          </a:p>
          <a:p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REMOVEFILTERS()</a:t>
            </a:r>
          </a:p>
        </p:txBody>
      </p:sp>
    </p:spTree>
    <p:extLst>
      <p:ext uri="{BB962C8B-B14F-4D97-AF65-F5344CB8AC3E}">
        <p14:creationId xmlns:p14="http://schemas.microsoft.com/office/powerpoint/2010/main" val="22062409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845975" y="2159086"/>
            <a:ext cx="9986866" cy="2417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lnSpc>
                <a:spcPct val="107000"/>
              </a:lnSpc>
              <a:spcAft>
                <a:spcPts val="600"/>
              </a:spcAft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CALCULATE(&lt;expression&gt;, &lt;filter1&gt;, &lt;filter2&gt;, ...)</a:t>
            </a: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>
              <a:lnSpc>
                <a:spcPct val="107000"/>
              </a:lnSpc>
              <a:spcAft>
                <a:spcPts val="600"/>
              </a:spcAft>
            </a:pP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 </a:t>
            </a:r>
            <a:r>
              <a:rPr lang="en-IN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 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East 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Sales =</a:t>
            </a: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914400" lvl="1">
              <a:lnSpc>
                <a:spcPct val="107000"/>
              </a:lnSpc>
              <a:spcAft>
                <a:spcPts val="600"/>
              </a:spcAft>
              <a:tabLst>
                <a:tab pos="581660" algn="l"/>
                <a:tab pos="1163320" algn="l"/>
                <a:tab pos="1744980" algn="l"/>
                <a:tab pos="2326640" algn="l"/>
                <a:tab pos="2908300" algn="l"/>
                <a:tab pos="3489960" algn="l"/>
                <a:tab pos="4071620" algn="l"/>
                <a:tab pos="4653280" algn="l"/>
                <a:tab pos="5234940" algn="l"/>
                <a:tab pos="5816600" algn="l"/>
                <a:tab pos="6398260" algn="l"/>
                <a:tab pos="6979920" algn="l"/>
                <a:tab pos="7561580" algn="l"/>
                <a:tab pos="8143240" algn="l"/>
                <a:tab pos="8724900" algn="l"/>
                <a:tab pos="9306560" algn="l"/>
              </a:tabLst>
            </a:pP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	CALCULATE(</a:t>
            </a:r>
            <a:r>
              <a:rPr lang="en-IN" dirty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sum(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[Total 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Sales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]),</a:t>
            </a:r>
            <a:r>
              <a:rPr lang="en-IN" dirty="0" smtClean="0"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Sales[Region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] = "East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")</a:t>
            </a:r>
            <a:endParaRPr lang="en-IN" dirty="0"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457200">
              <a:lnSpc>
                <a:spcPts val="1350"/>
              </a:lnSpc>
              <a:spcAft>
                <a:spcPts val="600"/>
              </a:spcAft>
            </a:pP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 </a:t>
            </a:r>
            <a:endParaRPr lang="en-IN" dirty="0" smtClean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marL="457200">
              <a:lnSpc>
                <a:spcPts val="1350"/>
              </a:lnSpc>
              <a:spcAft>
                <a:spcPts val="600"/>
              </a:spcAft>
            </a:pPr>
            <a:endParaRPr lang="en-IN" dirty="0" smtClean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marL="457200">
              <a:lnSpc>
                <a:spcPts val="1350"/>
              </a:lnSpc>
              <a:spcAft>
                <a:spcPts val="600"/>
              </a:spcAft>
            </a:pP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MS_CALC 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= </a:t>
            </a:r>
            <a:endParaRPr lang="en-IN" dirty="0" smtClean="0">
              <a:latin typeface="Courier New" panose="02070309020205020404" pitchFamily="49" charset="0"/>
              <a:ea typeface="Times New Roman" panose="02020603050405020304" pitchFamily="18" charset="0"/>
              <a:cs typeface="Courier New" panose="02070309020205020404" pitchFamily="49" charset="0"/>
            </a:endParaRPr>
          </a:p>
          <a:p>
            <a:pPr marL="457200">
              <a:lnSpc>
                <a:spcPts val="1350"/>
              </a:lnSpc>
              <a:spcAft>
                <a:spcPts val="600"/>
              </a:spcAft>
            </a:pP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	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CALCULATE( SUM(Orders[Sales]),Orders[Category</a:t>
            </a:r>
            <a:r>
              <a:rPr lang="en-IN" dirty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]="Furniture</a:t>
            </a:r>
            <a:r>
              <a:rPr lang="en-IN" dirty="0" smtClean="0"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")</a:t>
            </a:r>
          </a:p>
          <a:p>
            <a:pPr marL="457200">
              <a:lnSpc>
                <a:spcPts val="1350"/>
              </a:lnSpc>
              <a:spcAft>
                <a:spcPts val="600"/>
              </a:spcAft>
            </a:pPr>
            <a:endParaRPr lang="en-IN" dirty="0">
              <a:effectLst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  <p:sp>
        <p:nvSpPr>
          <p:cNvPr id="5" name="Rectangle 1"/>
          <p:cNvSpPr>
            <a:spLocks noChangeArrowheads="1"/>
          </p:cNvSpPr>
          <p:nvPr/>
        </p:nvSpPr>
        <p:spPr bwMode="auto">
          <a:xfrm>
            <a:off x="166395" y="403157"/>
            <a:ext cx="9871788" cy="10772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 function in Power BI (DAX)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CALCULATE() is one of the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most important DAX functions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 in Power BI. It is used to 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calculate an expression after modifying the filter context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Times New Roman" panose="02020603050405020304" pitchFamily="18" charset="0"/>
                <a:cs typeface="Courier New" panose="02070309020205020404" pitchFamily="49" charset="0"/>
              </a:rPr>
              <a:t>.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CALCULATE() works similarly to Excel's SUMIF()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  <a:ea typeface="Calibri" panose="020F0502020204030204" pitchFamily="34" charset="0"/>
                <a:cs typeface="Courier New" panose="02070309020205020404" pitchFamily="49" charset="0"/>
              </a:rPr>
              <a:t>.</a:t>
            </a: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8813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373224" y="2408054"/>
            <a:ext cx="11728580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indent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Filters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	Applies the filter on </a:t>
            </a:r>
            <a:r>
              <a:rPr kumimoji="0" lang="en-US" altLang="en-US" sz="1600" b="1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spefic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</a:t>
            </a:r>
            <a:r>
              <a:rPr kumimoji="0" lang="en-US" altLang="en-US" sz="1600" b="1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contion</a:t>
            </a: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 . it helps to create the new table as well.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Furniture_Table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 = FILTER(</a:t>
            </a:r>
            <a:r>
              <a:rPr kumimoji="0" lang="en-US" altLang="en-US" sz="1600" b="0" i="0" u="none" strike="noStrike" cap="none" normalizeH="0" baseline="0" dirty="0" err="1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Orders,Orders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chemeClr val="tx1">
                    <a:lumMod val="75000"/>
                  </a:schemeClr>
                </a:solidFill>
                <a:effectLst/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[Category]="Furniture")</a:t>
            </a:r>
            <a:endParaRPr kumimoji="0" lang="en-US" altLang="en-US" sz="1200" b="0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marL="0" marR="0" lvl="0" indent="4572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chemeClr val="tx1">
                  <a:lumMod val="75000"/>
                </a:schemeClr>
              </a:solidFill>
              <a:effectLst/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373425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97565" y="1612806"/>
            <a:ext cx="11261035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Keep filters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KEEPFILTERS keeps the existing filter and applies the new filter on top of it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MS_KF = CALCULATE(SUM(Orders[Sales]),KEEPFILTERS(Orders[Category]="Furniture"))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b="1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b="1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ea typeface="Calibri" panose="020F0502020204030204" pitchFamily="34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Remove filters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REMOVEFILTERS() removes filters from a column or table.</a:t>
            </a:r>
            <a:endParaRPr lang="en-US" altLang="en-US" sz="14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Times New Roman" panose="02020603050405020304" pitchFamily="18" charset="0"/>
                <a:cs typeface="Courier New" panose="02070309020205020404" pitchFamily="49" charset="0"/>
              </a:rPr>
              <a:t>MS_RM_ = CALCULATE(SUM(Orders[Sales]),REMOVEFILTERS(Orders[Category]))</a:t>
            </a:r>
            <a:endParaRPr lang="en-US" altLang="en-US" sz="40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397565" y="443302"/>
            <a:ext cx="1126103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indent="4572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 smtClean="0">
                <a:solidFill>
                  <a:schemeClr val="tx1">
                    <a:lumMod val="75000"/>
                  </a:schemeClr>
                </a:solidFill>
                <a:latin typeface="Courier New" panose="02070309020205020404" pitchFamily="49" charset="0"/>
                <a:ea typeface="Calibri" panose="020F0502020204030204" pitchFamily="34" charset="0"/>
                <a:cs typeface="Courier New" panose="02070309020205020404" pitchFamily="49" charset="0"/>
              </a:rPr>
              <a:t>Combining Calculate and Filters Together</a:t>
            </a:r>
            <a:endParaRPr lang="en-US" altLang="en-US" sz="4000" dirty="0">
              <a:solidFill>
                <a:schemeClr val="tx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667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3732</TotalTime>
  <Words>775</Words>
  <Application>Microsoft Office PowerPoint</Application>
  <PresentationFormat>Widescreen</PresentationFormat>
  <Paragraphs>160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0" baseType="lpstr">
      <vt:lpstr>Arial</vt:lpstr>
      <vt:lpstr>Calibri</vt:lpstr>
      <vt:lpstr>Candara</vt:lpstr>
      <vt:lpstr>Century Gothic</vt:lpstr>
      <vt:lpstr>Courier New</vt:lpstr>
      <vt:lpstr>Times New Roman</vt:lpstr>
      <vt:lpstr>Wingdings 3</vt:lpstr>
      <vt:lpstr>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129</cp:revision>
  <dcterms:created xsi:type="dcterms:W3CDTF">2026-05-12T10:34:27Z</dcterms:created>
  <dcterms:modified xsi:type="dcterms:W3CDTF">2026-08-18T10:14:18Z</dcterms:modified>
</cp:coreProperties>
</file>