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91" r:id="rId2"/>
    <p:sldId id="292" r:id="rId3"/>
    <p:sldId id="281" r:id="rId4"/>
    <p:sldId id="287" r:id="rId5"/>
    <p:sldId id="288" r:id="rId6"/>
    <p:sldId id="289" r:id="rId7"/>
    <p:sldId id="290" r:id="rId8"/>
    <p:sldId id="27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82" y="4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87355" y="2825917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64957" y="586134"/>
            <a:ext cx="1142599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+mj-lt"/>
              </a:rPr>
              <a:t>Dax</a:t>
            </a: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b="1" dirty="0">
                <a:latin typeface="+mj-lt"/>
              </a:rPr>
              <a:t>DAX</a:t>
            </a:r>
            <a:r>
              <a:rPr lang="en-US" dirty="0">
                <a:latin typeface="+mj-lt"/>
              </a:rPr>
              <a:t> stands for </a:t>
            </a:r>
            <a:r>
              <a:rPr lang="en-US" b="1" dirty="0">
                <a:latin typeface="+mj-lt"/>
              </a:rPr>
              <a:t>Data Analysis Expressions</a:t>
            </a:r>
            <a:r>
              <a:rPr lang="en-US" dirty="0">
                <a:latin typeface="+mj-lt"/>
              </a:rPr>
              <a:t>. It is the formula language used in </a:t>
            </a:r>
            <a:r>
              <a:rPr lang="en-US" b="1" dirty="0">
                <a:latin typeface="+mj-lt"/>
              </a:rPr>
              <a:t>Power BI</a:t>
            </a:r>
            <a:r>
              <a:rPr lang="en-US" dirty="0">
                <a:latin typeface="+mj-lt"/>
              </a:rPr>
              <a:t> to perform calculations and create measures, calculated columns, and calculated tables</a:t>
            </a:r>
            <a:r>
              <a:rPr lang="en-US" dirty="0" smtClean="0">
                <a:latin typeface="+mj-lt"/>
              </a:rPr>
              <a:t>.</a:t>
            </a:r>
          </a:p>
          <a:p>
            <a:endParaRPr lang="en-US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Calculated </a:t>
            </a:r>
            <a:r>
              <a:rPr lang="en-US" b="1" dirty="0">
                <a:latin typeface="+mj-lt"/>
              </a:rPr>
              <a:t>Column</a:t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column</a:t>
            </a:r>
            <a:r>
              <a:rPr lang="en-US" dirty="0">
                <a:latin typeface="+mj-lt"/>
              </a:rPr>
              <a:t> creates a value for </a:t>
            </a:r>
            <a:r>
              <a:rPr lang="en-US" b="1" dirty="0">
                <a:latin typeface="+mj-lt"/>
              </a:rPr>
              <a:t>every row</a:t>
            </a:r>
            <a:r>
              <a:rPr lang="en-US" dirty="0">
                <a:latin typeface="+mj-lt"/>
              </a:rPr>
              <a:t> in your </a:t>
            </a:r>
            <a:r>
              <a:rPr lang="en-US" dirty="0" smtClean="0">
                <a:latin typeface="+mj-lt"/>
              </a:rPr>
              <a:t>table.</a:t>
            </a:r>
          </a:p>
          <a:p>
            <a:pPr marL="342900" indent="-342900">
              <a:buAutoNum type="arabicPeriod"/>
            </a:pPr>
            <a:endParaRPr lang="en-US" b="1" dirty="0" smtClean="0">
              <a:latin typeface="+mj-lt"/>
            </a:endParaRPr>
          </a:p>
          <a:p>
            <a:pPr marL="342900" indent="-342900">
              <a:buAutoNum type="arabicPeriod"/>
            </a:pPr>
            <a:endParaRPr lang="en-US" b="1" dirty="0">
              <a:latin typeface="+mj-lt"/>
            </a:endParaRPr>
          </a:p>
          <a:p>
            <a:pPr marL="342900" indent="-342900">
              <a:buAutoNum type="arabicPeriod"/>
            </a:pPr>
            <a:endParaRPr lang="en-US" b="1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Measure</a:t>
            </a:r>
            <a:r>
              <a:rPr lang="en-US" b="1" dirty="0">
                <a:latin typeface="+mj-lt"/>
              </a:rPr>
              <a:t/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measure</a:t>
            </a:r>
            <a:r>
              <a:rPr lang="en-US" dirty="0">
                <a:latin typeface="+mj-lt"/>
              </a:rPr>
              <a:t> calculates a result dynamically based on the current filter/context.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endParaRPr lang="en-I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0007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25748" y="717703"/>
            <a:ext cx="4604146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/>
              <a:t>Total Sales = SUM(Sales[Sales</a:t>
            </a:r>
            <a:r>
              <a:rPr lang="en-IN" dirty="0" smtClean="0"/>
              <a:t>])</a:t>
            </a:r>
          </a:p>
          <a:p>
            <a:endParaRPr lang="en-US" dirty="0"/>
          </a:p>
          <a:p>
            <a:r>
              <a:rPr lang="en-IN" dirty="0"/>
              <a:t>Number of Sales = COUNT(Sales[Sales</a:t>
            </a:r>
            <a:r>
              <a:rPr lang="en-IN" dirty="0" smtClean="0"/>
              <a:t>])</a:t>
            </a:r>
          </a:p>
          <a:p>
            <a:endParaRPr lang="en-US" dirty="0"/>
          </a:p>
          <a:p>
            <a:r>
              <a:rPr lang="en-IN" dirty="0"/>
              <a:t>Average Sales = AVERAGE(Sales[Sales])</a:t>
            </a:r>
          </a:p>
        </p:txBody>
      </p:sp>
    </p:spTree>
    <p:extLst>
      <p:ext uri="{BB962C8B-B14F-4D97-AF65-F5344CB8AC3E}">
        <p14:creationId xmlns:p14="http://schemas.microsoft.com/office/powerpoint/2010/main" val="1542663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8" y="428263"/>
            <a:ext cx="171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018783"/>
            <a:ext cx="6279503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There are more than 200 DAX functions in power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BI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Some important as </a:t>
            </a:r>
            <a:r>
              <a:rPr lang="en-US" altLang="en-US" dirty="0" smtClean="0">
                <a:latin typeface="Candara" panose="020E0502030303020204" pitchFamily="34" charset="0"/>
              </a:rPr>
              <a:t>below.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34175" y="1689627"/>
            <a:ext cx="51054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37293" y="2159238"/>
            <a:ext cx="905140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Total_Sales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		= SUM(Sales[Amount])</a:t>
            </a:r>
          </a:p>
          <a:p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Order_Count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		= COUNT(Sales[</a:t>
            </a:r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Average_Price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AVERAGE(Products[Price])</a:t>
            </a:r>
          </a:p>
          <a:p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DistinctValue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DISTINCTCOUNT(Data[Beverage Brand])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Profit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Margin %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DIVIDE([Profit], [Total Revenue])</a:t>
            </a:r>
          </a:p>
          <a:p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14631" y="4502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313123"/>
              </p:ext>
            </p:extLst>
          </p:nvPr>
        </p:nvGraphicFramePr>
        <p:xfrm>
          <a:off x="785196" y="1443235"/>
          <a:ext cx="8890649" cy="452628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641350">
                  <a:extLst>
                    <a:ext uri="{9D8B030D-6E8A-4147-A177-3AD203B41FA5}">
                      <a16:colId xmlns:a16="http://schemas.microsoft.com/office/drawing/2014/main" val="2391616480"/>
                    </a:ext>
                  </a:extLst>
                </a:gridCol>
                <a:gridCol w="7249299">
                  <a:extLst>
                    <a:ext uri="{9D8B030D-6E8A-4147-A177-3AD203B41FA5}">
                      <a16:colId xmlns:a16="http://schemas.microsoft.com/office/drawing/2014/main" val="300847146"/>
                    </a:ext>
                  </a:extLst>
                </a:gridCol>
              </a:tblGrid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TargetDate = DATE(2026, 06, 02)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676991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DATEDIFF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DaysPassed = DATEDIFF(OrderDate, ShipDate, DAY)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385482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ConvertedDate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DATEVALUE("2026-06-02")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6063242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DAY(Sales[InvoiceDate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8660780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TwoMonthsLater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EDATE(Sales[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9017446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MonthEnd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9626328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OrderHour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3279193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OrderMinute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8599956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3581052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NOW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CurrentTimestamp = NOW()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26398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CurrentQuarter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48723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OrderSecond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66069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ShiftStart = TIME(9, 0, 0)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338903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ConvertedTime = TIMEVALUE("13:30:00")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335888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CurrentDate = TODAY()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423979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DayOfWeek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976814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WeekOfYear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52867244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YEAR(Sales[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7779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077181"/>
              </p:ext>
            </p:extLst>
          </p:nvPr>
        </p:nvGraphicFramePr>
        <p:xfrm>
          <a:off x="559414" y="1961537"/>
          <a:ext cx="10167580" cy="2905279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960182">
                  <a:extLst>
                    <a:ext uri="{9D8B030D-6E8A-4147-A177-3AD203B41FA5}">
                      <a16:colId xmlns:a16="http://schemas.microsoft.com/office/drawing/2014/main" val="571751960"/>
                    </a:ext>
                  </a:extLst>
                </a:gridCol>
                <a:gridCol w="7207398">
                  <a:extLst>
                    <a:ext uri="{9D8B030D-6E8A-4147-A177-3AD203B41FA5}">
                      <a16:colId xmlns:a16="http://schemas.microsoft.com/office/drawing/2014/main" val="2217835914"/>
                    </a:ext>
                  </a:extLst>
                </a:gridCol>
              </a:tblGrid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ISBLANK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ISBLANK(Sales[Discount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18119593"/>
                  </a:ext>
                </a:extLst>
              </a:tr>
              <a:tr h="40468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ISERROR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ISERROR(Sales[TotalAmount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4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Sales[Quantity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99105244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ISNUMBER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ISNUMBER(Sales[PostalCode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91129187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ISTEXT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ISTEXT(Sales[ProductCode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42217490"/>
                  </a:ext>
                </a:extLst>
              </a:tr>
              <a:tr h="28026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HASONEVALUE(Product[Category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911158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HASONEFILTER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HASONEFILTER(Product[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117437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NONBLANKROWCOUNT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RowCount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NONBLANKROWCOUNT(Customers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6788260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CurrentUser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USERNAME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00683929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USERPRINCIPALNAME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UserEmail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USERPRINCIPALNAME()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17793219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2452" y="38145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3" y="42078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4339"/>
              </p:ext>
            </p:extLst>
          </p:nvPr>
        </p:nvGraphicFramePr>
        <p:xfrm>
          <a:off x="283087" y="2013720"/>
          <a:ext cx="10394746" cy="2391204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6746">
                  <a:extLst>
                    <a:ext uri="{9D8B030D-6E8A-4147-A177-3AD203B41FA5}">
                      <a16:colId xmlns:a16="http://schemas.microsoft.com/office/drawing/2014/main" val="56115187"/>
                    </a:ext>
                  </a:extLst>
                </a:gridCol>
                <a:gridCol w="9318000">
                  <a:extLst>
                    <a:ext uri="{9D8B030D-6E8A-4147-A177-3AD203B41FA5}">
                      <a16:colId xmlns:a16="http://schemas.microsoft.com/office/drawing/2014/main" val="1675222765"/>
                    </a:ext>
                  </a:extLst>
                </a:gridCol>
              </a:tblGrid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Sales[Region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89615441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OR(Sales[Quantity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Sales[Discount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0.1)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1279770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NOT(Sales[Status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"Cancelled")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1206019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&gt;= 500, "High Value", "Standard")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9078976"/>
                  </a:ext>
                </a:extLst>
              </a:tr>
              <a:tr h="379524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SWITCH(Sales[RegionCode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1, "North", 2, "South", 3, "East", 4, "West", "Unknown")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5747507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IFERROR(Sales[Revenue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Sales[Units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58176249"/>
                  </a:ext>
                </a:extLst>
              </a:tr>
              <a:tr h="20760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COALESCE(Sales[AltPhone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Sales[HomePhone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"No Number")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83635867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SetFalse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FALSE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0343742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SetTrue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TRUE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96350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355035"/>
              </p:ext>
            </p:extLst>
          </p:nvPr>
        </p:nvGraphicFramePr>
        <p:xfrm>
          <a:off x="175134" y="1795409"/>
          <a:ext cx="11830053" cy="1925320"/>
        </p:xfrm>
        <a:graphic>
          <a:graphicData uri="http://schemas.openxmlformats.org/drawingml/2006/table">
            <a:tbl>
              <a:tblPr>
                <a:tableStyleId>{5FD0F851-EC5A-4D38-B0AD-8093EC10F338}</a:tableStyleId>
              </a:tblPr>
              <a:tblGrid>
                <a:gridCol w="1816991">
                  <a:extLst>
                    <a:ext uri="{9D8B030D-6E8A-4147-A177-3AD203B41FA5}">
                      <a16:colId xmlns:a16="http://schemas.microsoft.com/office/drawing/2014/main" val="2230006388"/>
                    </a:ext>
                  </a:extLst>
                </a:gridCol>
                <a:gridCol w="10013062">
                  <a:extLst>
                    <a:ext uri="{9D8B030D-6E8A-4147-A177-3AD203B41FA5}">
                      <a16:colId xmlns:a16="http://schemas.microsoft.com/office/drawing/2014/main" val="229815961"/>
                    </a:ext>
                  </a:extLst>
                </a:gridCol>
              </a:tblGrid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Orders[Region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3549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US" sz="1500" b="1" i="0" u="none" strike="noStrike" dirty="0" smtClean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FILTER(Orders, 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1000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FILTER(Orders, Orders[Category] = “</a:t>
                      </a:r>
                      <a:r>
                        <a:rPr lang="en-IN" sz="13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Furntiture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”)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22911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/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ALL(Sales))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581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ALLEXCEPT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ALLEXCEPT(Geography, Geography[State]))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8910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ALLSELECTED(Orders))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821517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RELATED(Product[Price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43789993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44129" y="41179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</a:t>
            </a:r>
            <a:r>
              <a:rPr lang="en-US" altLang="en-US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&amp; Calculate functions</a:t>
            </a:r>
            <a:endParaRPr lang="en-US" altLang="en-US" dirty="0">
              <a:solidFill>
                <a:schemeClr val="accent1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 manipulate table and filter contexts.</a:t>
            </a: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3156</TotalTime>
  <Words>614</Words>
  <Application>Microsoft Office PowerPoint</Application>
  <PresentationFormat>Widescreen</PresentationFormat>
  <Paragraphs>142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Candara</vt:lpstr>
      <vt:lpstr>Century Gothic</vt:lpstr>
      <vt:lpstr>Courier New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74</cp:revision>
  <dcterms:created xsi:type="dcterms:W3CDTF">2026-05-12T10:34:27Z</dcterms:created>
  <dcterms:modified xsi:type="dcterms:W3CDTF">2026-08-10T16:14:26Z</dcterms:modified>
</cp:coreProperties>
</file>