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91" r:id="rId2"/>
    <p:sldId id="281" r:id="rId3"/>
    <p:sldId id="287" r:id="rId4"/>
    <p:sldId id="288" r:id="rId5"/>
    <p:sldId id="289" r:id="rId6"/>
    <p:sldId id="290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73B0-9C71-4C42-839B-CED3341CD23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19E2E-A086-4A91-BA90-9CB5CDABE9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7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7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2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3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8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7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36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2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44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0470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59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38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39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2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18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C8321A5-74C1-4574-A6AA-F1EDDDF12D9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31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7355" y="282591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64957" y="586134"/>
            <a:ext cx="114259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+mj-lt"/>
              </a:rPr>
              <a:t>Dax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b="1" dirty="0">
                <a:latin typeface="+mj-lt"/>
              </a:rPr>
              <a:t>DAX</a:t>
            </a:r>
            <a:r>
              <a:rPr lang="en-US" dirty="0">
                <a:latin typeface="+mj-lt"/>
              </a:rPr>
              <a:t> stands for </a:t>
            </a:r>
            <a:r>
              <a:rPr lang="en-US" b="1" dirty="0">
                <a:latin typeface="+mj-lt"/>
              </a:rPr>
              <a:t>Data Analysis Expressions</a:t>
            </a:r>
            <a:r>
              <a:rPr lang="en-US" dirty="0">
                <a:latin typeface="+mj-lt"/>
              </a:rPr>
              <a:t>. It is the formula language used in </a:t>
            </a:r>
            <a:r>
              <a:rPr lang="en-US" b="1" dirty="0">
                <a:latin typeface="+mj-lt"/>
              </a:rPr>
              <a:t>Power BI</a:t>
            </a:r>
            <a:r>
              <a:rPr lang="en-US" dirty="0">
                <a:latin typeface="+mj-lt"/>
              </a:rPr>
              <a:t> to perform calculations and create measures, calculated columns, and calculated tables</a:t>
            </a:r>
            <a:r>
              <a:rPr lang="en-US" dirty="0" smtClean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 smtClean="0">
                <a:latin typeface="+mj-lt"/>
              </a:rPr>
              <a:t>Calculated </a:t>
            </a:r>
            <a:r>
              <a:rPr lang="en-US" b="1" dirty="0">
                <a:latin typeface="+mj-lt"/>
              </a:rPr>
              <a:t>Column</a:t>
            </a:r>
            <a:br>
              <a:rPr lang="en-US" b="1" dirty="0">
                <a:latin typeface="+mj-lt"/>
              </a:rPr>
            </a:br>
            <a:r>
              <a:rPr lang="en-US" b="1" dirty="0" smtClean="0">
                <a:latin typeface="+mj-lt"/>
              </a:rPr>
              <a:t>	</a:t>
            </a:r>
            <a:r>
              <a:rPr lang="en-US" dirty="0" smtClean="0">
                <a:latin typeface="+mj-lt"/>
              </a:rPr>
              <a:t>A </a:t>
            </a:r>
            <a:r>
              <a:rPr lang="en-US" b="1" dirty="0">
                <a:latin typeface="+mj-lt"/>
              </a:rPr>
              <a:t>column</a:t>
            </a:r>
            <a:r>
              <a:rPr lang="en-US" dirty="0">
                <a:latin typeface="+mj-lt"/>
              </a:rPr>
              <a:t> creates a value for </a:t>
            </a:r>
            <a:r>
              <a:rPr lang="en-US" b="1" dirty="0">
                <a:latin typeface="+mj-lt"/>
              </a:rPr>
              <a:t>every row</a:t>
            </a:r>
            <a:r>
              <a:rPr lang="en-US" dirty="0">
                <a:latin typeface="+mj-lt"/>
              </a:rPr>
              <a:t> in your </a:t>
            </a:r>
            <a:r>
              <a:rPr lang="en-US" dirty="0" smtClean="0">
                <a:latin typeface="+mj-lt"/>
              </a:rPr>
              <a:t>table.</a:t>
            </a:r>
          </a:p>
          <a:p>
            <a:pPr marL="342900" indent="-342900">
              <a:buAutoNum type="arabicPeriod"/>
            </a:pPr>
            <a:endParaRPr lang="en-US" b="1" dirty="0" smtClean="0">
              <a:latin typeface="+mj-lt"/>
            </a:endParaRPr>
          </a:p>
          <a:p>
            <a:pPr marL="342900" indent="-342900">
              <a:buAutoNum type="arabicPeriod"/>
            </a:pPr>
            <a:endParaRPr lang="en-US" b="1" dirty="0">
              <a:latin typeface="+mj-lt"/>
            </a:endParaRPr>
          </a:p>
          <a:p>
            <a:endParaRPr lang="en-US" b="1" dirty="0">
              <a:latin typeface="+mj-lt"/>
            </a:endParaRPr>
          </a:p>
          <a:p>
            <a:r>
              <a:rPr lang="en-US" b="1" dirty="0" smtClean="0">
                <a:latin typeface="+mj-lt"/>
              </a:rPr>
              <a:t>Measure</a:t>
            </a:r>
            <a:r>
              <a:rPr lang="en-US" b="1" dirty="0">
                <a:latin typeface="+mj-lt"/>
              </a:rPr>
              <a:t/>
            </a:r>
            <a:br>
              <a:rPr lang="en-US" b="1" dirty="0">
                <a:latin typeface="+mj-lt"/>
              </a:rPr>
            </a:br>
            <a:r>
              <a:rPr lang="en-US" b="1" dirty="0" smtClean="0">
                <a:latin typeface="+mj-lt"/>
              </a:rPr>
              <a:t>	</a:t>
            </a:r>
            <a:r>
              <a:rPr lang="en-US" dirty="0" smtClean="0">
                <a:latin typeface="+mj-lt"/>
              </a:rPr>
              <a:t>A </a:t>
            </a:r>
            <a:r>
              <a:rPr lang="en-US" b="1" dirty="0">
                <a:latin typeface="+mj-lt"/>
              </a:rPr>
              <a:t>measure</a:t>
            </a:r>
            <a:r>
              <a:rPr lang="en-US" dirty="0">
                <a:latin typeface="+mj-lt"/>
              </a:rPr>
              <a:t> calculates a result dynamically based on the current filter/context.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007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068" y="428263"/>
            <a:ext cx="171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Dax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7950" y="1018783"/>
            <a:ext cx="627950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There are more than 200 DAX functions in power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BI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Some important as </a:t>
            </a:r>
            <a:r>
              <a:rPr lang="en-US" altLang="en-US" dirty="0" smtClean="0">
                <a:latin typeface="Candara" panose="020E0502030303020204" pitchFamily="34" charset="0"/>
              </a:rPr>
              <a:t>below.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 help creating calculations based on dates and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 manipulate table and filter contexts.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734175" y="1689627"/>
            <a:ext cx="51054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SUM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AVERAGE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MIN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MAX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COUNT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CALENDAR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DATEVALUE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DAY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MONTH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YEAR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CALCULATE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ALLEXCEPT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RELATED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ISBLANK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ISERROR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ISNUMBER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ISTEXT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USERNAME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AND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NOT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IF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SWITCH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9624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7293" y="2159238"/>
            <a:ext cx="90514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Total_Sales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	= SUM(Sales[Amount])</a:t>
            </a:r>
          </a:p>
          <a:p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Order_Count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	= COUNT(Sales[</a:t>
            </a:r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Average_Price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AVERAGE(Products[Price])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DistinctValue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DISTINCTCOUNT(Data[Beverage Brand])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Profit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Margin %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DIVIDE([Profit], [Total Revenue])</a:t>
            </a:r>
          </a:p>
          <a:p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484" y="636242"/>
            <a:ext cx="93701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lang="en-US" altLang="en-US" dirty="0">
                <a:latin typeface="Candara" panose="020E05020303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47521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4631" y="450277"/>
            <a:ext cx="8642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</a:t>
            </a: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 help creating calculations based on dates and time.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848951"/>
              </p:ext>
            </p:extLst>
          </p:nvPr>
        </p:nvGraphicFramePr>
        <p:xfrm>
          <a:off x="785196" y="1443235"/>
          <a:ext cx="8890649" cy="45262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41350">
                  <a:extLst>
                    <a:ext uri="{9D8B030D-6E8A-4147-A177-3AD203B41FA5}">
                      <a16:colId xmlns:a16="http://schemas.microsoft.com/office/drawing/2014/main" val="2391616480"/>
                    </a:ext>
                  </a:extLst>
                </a:gridCol>
                <a:gridCol w="7249299">
                  <a:extLst>
                    <a:ext uri="{9D8B030D-6E8A-4147-A177-3AD203B41FA5}">
                      <a16:colId xmlns:a16="http://schemas.microsoft.com/office/drawing/2014/main" val="300847146"/>
                    </a:ext>
                  </a:extLst>
                </a:gridCol>
              </a:tblGrid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TargetDate = DATE(2026, 06, 02)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676991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DATEDIFF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DaysPassed = DATEDIFF(OrderDate, ShipDate, DAY)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85482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ConvertedDate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DATEVALUE("2026-06-02")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6063242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DAY(Sales[InvoiceDate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8660780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TwoMonthsLater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EDATE(Sales[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017446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MonthEnd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9626328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OrderHour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3279193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OrderMinute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8599956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MONTH(Sales[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581052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NOW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CurrentTimestamp = NOW()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26398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CurrentQuarter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48723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OrderSecond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66069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ShiftStart = TIME(9, 0, 0)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38903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ConvertedTime = TIMEVALUE("13:30:00")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335888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CurrentDate = TODAY()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423979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DayOfWeek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976814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WeekOfYear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52867244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YEAR(Sales[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777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747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762209"/>
              </p:ext>
            </p:extLst>
          </p:nvPr>
        </p:nvGraphicFramePr>
        <p:xfrm>
          <a:off x="559414" y="1961537"/>
          <a:ext cx="10167580" cy="290527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960182">
                  <a:extLst>
                    <a:ext uri="{9D8B030D-6E8A-4147-A177-3AD203B41FA5}">
                      <a16:colId xmlns:a16="http://schemas.microsoft.com/office/drawing/2014/main" val="571751960"/>
                    </a:ext>
                  </a:extLst>
                </a:gridCol>
                <a:gridCol w="7207398">
                  <a:extLst>
                    <a:ext uri="{9D8B030D-6E8A-4147-A177-3AD203B41FA5}">
                      <a16:colId xmlns:a16="http://schemas.microsoft.com/office/drawing/2014/main" val="2217835914"/>
                    </a:ext>
                  </a:extLst>
                </a:gridCol>
              </a:tblGrid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ISBLANK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ISBLANK(Sales[Discount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119593"/>
                  </a:ext>
                </a:extLst>
              </a:tr>
              <a:tr h="40468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ISERROR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ISERROR(Sales[TotalAmount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Sales[Quantity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9105244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ISNUMBER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ISNUMBER(Sales[PostalCode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1129187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ISTEXT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ISTEXT(Sales[ProductCode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42217490"/>
                  </a:ext>
                </a:extLst>
              </a:tr>
              <a:tr h="28026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HASONEVALUE(Product[Category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911158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HASONEFILTER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HASONEFILTER(Product[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117437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NONBLANKROWCOUNT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RowCount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NONBLANKROWCOUNT(Customers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6788260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CurrentUser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USERNAME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0683929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USERPRINCIPALNAME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UserEmail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USERPRINCIPALNAME()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779321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2452" y="38145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</a:t>
            </a:r>
            <a:endParaRPr lang="en-US" altLang="en-US" dirty="0">
              <a:solidFill>
                <a:schemeClr val="bg2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</p:txBody>
      </p:sp>
    </p:spTree>
    <p:extLst>
      <p:ext uri="{BB962C8B-B14F-4D97-AF65-F5344CB8AC3E}">
        <p14:creationId xmlns:p14="http://schemas.microsoft.com/office/powerpoint/2010/main" val="38323201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6813" y="42078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</a:t>
            </a:r>
            <a:endParaRPr lang="en-US" altLang="en-US" dirty="0">
              <a:solidFill>
                <a:srgbClr val="00B0F0"/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397212"/>
              </p:ext>
            </p:extLst>
          </p:nvPr>
        </p:nvGraphicFramePr>
        <p:xfrm>
          <a:off x="283087" y="2013720"/>
          <a:ext cx="10394746" cy="239120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03117">
                  <a:extLst>
                    <a:ext uri="{9D8B030D-6E8A-4147-A177-3AD203B41FA5}">
                      <a16:colId xmlns:a16="http://schemas.microsoft.com/office/drawing/2014/main" val="56115187"/>
                    </a:ext>
                  </a:extLst>
                </a:gridCol>
                <a:gridCol w="9091629">
                  <a:extLst>
                    <a:ext uri="{9D8B030D-6E8A-4147-A177-3AD203B41FA5}">
                      <a16:colId xmlns:a16="http://schemas.microsoft.com/office/drawing/2014/main" val="1675222765"/>
                    </a:ext>
                  </a:extLst>
                </a:gridCol>
              </a:tblGrid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Sales[Region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9615441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OR(Sales[Quantity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Sales[Discount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0.1)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1279770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NOT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NOT(Sales[Status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"Cancelled")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1206019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IF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&gt;= 500, "High Value", "Standard")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078976"/>
                  </a:ext>
                </a:extLst>
              </a:tr>
              <a:tr h="37952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SWITCH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SWITCH(Sales[RegionCode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1, "North", 2, "South", 3, "East", 4, "West", "Unknown")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747507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IFERROR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IFERROR(Sales[Revenue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Sales[Units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8176249"/>
                  </a:ext>
                </a:extLst>
              </a:tr>
              <a:tr h="20760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COALESCE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COALESCE(Sales[</a:t>
                      </a:r>
                      <a:r>
                        <a:rPr lang="en-US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AltPhone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</a:t>
                      </a:r>
                      <a:r>
                        <a:rPr lang="en-US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</a:t>
                      </a:r>
                      <a:r>
                        <a:rPr lang="en-US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HomePhone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"No Number")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3635867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FALSE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SetFalse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FALSE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0343742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TRUE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SetTrue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TRUE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6350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0050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355035"/>
              </p:ext>
            </p:extLst>
          </p:nvPr>
        </p:nvGraphicFramePr>
        <p:xfrm>
          <a:off x="175134" y="1795409"/>
          <a:ext cx="11830053" cy="192532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816991">
                  <a:extLst>
                    <a:ext uri="{9D8B030D-6E8A-4147-A177-3AD203B41FA5}">
                      <a16:colId xmlns:a16="http://schemas.microsoft.com/office/drawing/2014/main" val="2230006388"/>
                    </a:ext>
                  </a:extLst>
                </a:gridCol>
                <a:gridCol w="10013062">
                  <a:extLst>
                    <a:ext uri="{9D8B030D-6E8A-4147-A177-3AD203B41FA5}">
                      <a16:colId xmlns:a16="http://schemas.microsoft.com/office/drawing/2014/main" val="229815961"/>
                    </a:ext>
                  </a:extLst>
                </a:gridCol>
              </a:tblGrid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Orders[Region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63549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US" sz="1500" b="1" i="0" u="none" strike="noStrike" dirty="0" smtClean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FILTER(Orders, 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1000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FILTER(Orders, Orders[Category] = “</a:t>
                      </a:r>
                      <a:r>
                        <a:rPr lang="en-IN" sz="13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Furntiture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22911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 /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ALL(Sales))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81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ALLEXCEPT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ALLEXCEPT(Geography, Geography[State]))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910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ALLSELECTED(Orders))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821517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RELATED(Product[Price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378999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44129" y="41179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</a:t>
            </a:r>
            <a:r>
              <a:rPr lang="en-US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&amp; Calculate functions</a:t>
            </a:r>
            <a:endParaRPr lang="en-US" altLang="en-US" dirty="0">
              <a:solidFill>
                <a:schemeClr val="accent1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functions manipulate table and filter contexts.</a:t>
            </a:r>
          </a:p>
        </p:txBody>
      </p:sp>
    </p:spTree>
    <p:extLst>
      <p:ext uri="{BB962C8B-B14F-4D97-AF65-F5344CB8AC3E}">
        <p14:creationId xmlns:p14="http://schemas.microsoft.com/office/powerpoint/2010/main" val="22062409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3176</TotalTime>
  <Words>607</Words>
  <Application>Microsoft Office PowerPoint</Application>
  <PresentationFormat>Widescreen</PresentationFormat>
  <Paragraphs>137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Candara</vt:lpstr>
      <vt:lpstr>Century Gothic</vt:lpstr>
      <vt:lpstr>Courier New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SHIVRAJ SHINDE</dc:creator>
  <cp:lastModifiedBy>SHIVRAJ SHINDE</cp:lastModifiedBy>
  <cp:revision>78</cp:revision>
  <dcterms:created xsi:type="dcterms:W3CDTF">2026-05-12T10:34:27Z</dcterms:created>
  <dcterms:modified xsi:type="dcterms:W3CDTF">2026-08-13T09:36:11Z</dcterms:modified>
</cp:coreProperties>
</file>