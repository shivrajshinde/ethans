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5"/>
  </p:notesMasterIdLst>
  <p:sldIdLst>
    <p:sldId id="291" r:id="rId2"/>
    <p:sldId id="256" r:id="rId3"/>
    <p:sldId id="285" r:id="rId4"/>
    <p:sldId id="292" r:id="rId5"/>
    <p:sldId id="257" r:id="rId6"/>
    <p:sldId id="259" r:id="rId7"/>
    <p:sldId id="258" r:id="rId8"/>
    <p:sldId id="260" r:id="rId9"/>
    <p:sldId id="261" r:id="rId10"/>
    <p:sldId id="263" r:id="rId11"/>
    <p:sldId id="264" r:id="rId12"/>
    <p:sldId id="265" r:id="rId13"/>
    <p:sldId id="266" r:id="rId14"/>
    <p:sldId id="284" r:id="rId15"/>
    <p:sldId id="267" r:id="rId16"/>
    <p:sldId id="268" r:id="rId17"/>
    <p:sldId id="274" r:id="rId18"/>
    <p:sldId id="275" r:id="rId19"/>
    <p:sldId id="276" r:id="rId20"/>
    <p:sldId id="286" r:id="rId21"/>
    <p:sldId id="277" r:id="rId22"/>
    <p:sldId id="278" r:id="rId23"/>
    <p:sldId id="279" r:id="rId24"/>
    <p:sldId id="280" r:id="rId25"/>
    <p:sldId id="281" r:id="rId26"/>
    <p:sldId id="287" r:id="rId27"/>
    <p:sldId id="288" r:id="rId28"/>
    <p:sldId id="289" r:id="rId29"/>
    <p:sldId id="290" r:id="rId30"/>
    <p:sldId id="270" r:id="rId31"/>
    <p:sldId id="271" r:id="rId32"/>
    <p:sldId id="272" r:id="rId33"/>
    <p:sldId id="273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FD0F851-EC5A-4D38-B0AD-8093EC10F338}" styleName="Light Style 1 - Accent 5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69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7773B0-9C71-4C42-839B-CED3341CD232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3F19E2E-A086-4A91-BA90-9CB5CDABE96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3091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F19E2E-A086-4A91-BA90-9CB5CDABE961}" type="slidenum">
              <a:rPr lang="en-IN" smtClean="0"/>
              <a:t>22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999519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411735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538191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57815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526219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7198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874336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708826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255704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593636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608240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30440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en-US" smtClean="0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74047015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1675961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2483891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8353992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2120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8321A5-74C1-4574-A6AA-F1EDDDF12D9F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94184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DC8321A5-74C1-4574-A6AA-F1EDDDF12D9F}" type="datetimeFigureOut">
              <a:rPr lang="en-IN" smtClean="0"/>
              <a:t>06-08-2026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48C1EA-9C60-4E2D-A88B-766F2F0EDDC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4431728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Power bi is </a:t>
            </a:r>
            <a:r>
              <a:rPr lang="en-US" sz="2400" dirty="0" smtClean="0"/>
              <a:t>Business Intelligence tool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9099018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494938" y="513288"/>
            <a:ext cx="5645020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Power Query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PowerPivot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Power View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Power BI Service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1665807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Difference Between Power BI and Tableau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7501" y="1542208"/>
            <a:ext cx="10770571" cy="44418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643812" y="447869"/>
            <a:ext cx="1390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Growth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31362601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6111" y="452717"/>
            <a:ext cx="9404723" cy="3316849"/>
          </a:xfrm>
        </p:spPr>
        <p:txBody>
          <a:bodyPr/>
          <a:lstStyle/>
          <a:p>
            <a:r>
              <a:rPr lang="en-US" dirty="0" smtClean="0"/>
              <a:t>Features</a:t>
            </a:r>
            <a:br>
              <a:rPr lang="en-US" dirty="0" smtClean="0"/>
            </a:br>
            <a:r>
              <a:rPr lang="en-US" dirty="0" smtClean="0"/>
              <a:t>Cost is cheapest</a:t>
            </a:r>
            <a:br>
              <a:rPr lang="en-US" dirty="0" smtClean="0"/>
            </a:br>
            <a:r>
              <a:rPr lang="en-US" dirty="0" smtClean="0"/>
              <a:t>Data connectivity</a:t>
            </a:r>
            <a:br>
              <a:rPr lang="en-US" dirty="0" smtClean="0"/>
            </a:b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962357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25152" y="4226767"/>
            <a:ext cx="54868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andara" panose="020E0502030303020204" pitchFamily="34" charset="0"/>
              </a:rPr>
              <a:t>Power Bi Desktop</a:t>
            </a:r>
          </a:p>
          <a:p>
            <a:r>
              <a:rPr lang="en-US" dirty="0">
                <a:latin typeface="Candara" panose="020E0502030303020204" pitchFamily="34" charset="0"/>
              </a:rPr>
              <a:t>	</a:t>
            </a:r>
            <a:r>
              <a:rPr lang="en-US" dirty="0" smtClean="0">
                <a:latin typeface="Candara" panose="020E0502030303020204" pitchFamily="34" charset="0"/>
              </a:rPr>
              <a:t>Report view(VIEW)</a:t>
            </a:r>
          </a:p>
          <a:p>
            <a:r>
              <a:rPr lang="en-US" dirty="0">
                <a:latin typeface="Candara" panose="020E0502030303020204" pitchFamily="34" charset="0"/>
              </a:rPr>
              <a:t>	</a:t>
            </a:r>
            <a:r>
              <a:rPr lang="en-US" dirty="0" smtClean="0">
                <a:latin typeface="Candara" panose="020E0502030303020204" pitchFamily="34" charset="0"/>
              </a:rPr>
              <a:t>Table View</a:t>
            </a:r>
          </a:p>
          <a:p>
            <a:r>
              <a:rPr lang="en-US" dirty="0" smtClean="0">
                <a:latin typeface="Candara" panose="020E0502030303020204" pitchFamily="34" charset="0"/>
              </a:rPr>
              <a:t>	Power query(Transformation)</a:t>
            </a:r>
          </a:p>
          <a:p>
            <a:r>
              <a:rPr lang="en-US" dirty="0">
                <a:latin typeface="Candara" panose="020E0502030303020204" pitchFamily="34" charset="0"/>
              </a:rPr>
              <a:t>	</a:t>
            </a:r>
            <a:r>
              <a:rPr lang="en-US" dirty="0" smtClean="0">
                <a:latin typeface="Candara" panose="020E0502030303020204" pitchFamily="34" charset="0"/>
              </a:rPr>
              <a:t>Modelling</a:t>
            </a:r>
          </a:p>
          <a:p>
            <a:r>
              <a:rPr lang="en-US" dirty="0">
                <a:latin typeface="Candara" panose="020E0502030303020204" pitchFamily="34" charset="0"/>
              </a:rPr>
              <a:t>	</a:t>
            </a:r>
            <a:r>
              <a:rPr lang="en-US" dirty="0" smtClean="0">
                <a:latin typeface="Candara" panose="020E0502030303020204" pitchFamily="34" charset="0"/>
              </a:rPr>
              <a:t>DAX</a:t>
            </a:r>
          </a:p>
          <a:p>
            <a:r>
              <a:rPr lang="en-US" dirty="0">
                <a:latin typeface="Candara" panose="020E0502030303020204" pitchFamily="34" charset="0"/>
              </a:rPr>
              <a:t>	</a:t>
            </a:r>
            <a:endParaRPr lang="en-US" dirty="0" smtClean="0">
              <a:latin typeface="Candara" panose="020E0502030303020204" pitchFamily="34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44286" y="488302"/>
            <a:ext cx="3554963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andara" panose="020E0502030303020204" pitchFamily="34" charset="0"/>
              </a:rPr>
              <a:t>Power Bi Desktop</a:t>
            </a:r>
          </a:p>
          <a:p>
            <a:r>
              <a:rPr lang="en-US" dirty="0">
                <a:latin typeface="Candara" panose="020E0502030303020204" pitchFamily="34" charset="0"/>
              </a:rPr>
              <a:t>	</a:t>
            </a:r>
            <a:r>
              <a:rPr lang="en-US" dirty="0" smtClean="0">
                <a:latin typeface="Candara" panose="020E0502030303020204" pitchFamily="34" charset="0"/>
              </a:rPr>
              <a:t>Developer Application</a:t>
            </a:r>
          </a:p>
          <a:p>
            <a:r>
              <a:rPr lang="en-US" dirty="0" smtClean="0">
                <a:latin typeface="Candara" panose="020E0502030303020204" pitchFamily="34" charset="0"/>
              </a:rPr>
              <a:t>Power Bi Services</a:t>
            </a:r>
          </a:p>
          <a:p>
            <a:r>
              <a:rPr lang="en-US" dirty="0" smtClean="0">
                <a:latin typeface="Candara" panose="020E0502030303020204" pitchFamily="34" charset="0"/>
              </a:rPr>
              <a:t>	Deploy the reports</a:t>
            </a:r>
          </a:p>
          <a:p>
            <a:endParaRPr lang="en-US" dirty="0">
              <a:latin typeface="Candara" panose="020E0502030303020204" pitchFamily="34" charset="0"/>
            </a:endParaRPr>
          </a:p>
          <a:p>
            <a:r>
              <a:rPr lang="en-US" dirty="0" smtClean="0">
                <a:latin typeface="Candara" panose="020E0502030303020204" pitchFamily="34" charset="0"/>
              </a:rPr>
              <a:t>Power Bi Mobile</a:t>
            </a:r>
          </a:p>
          <a:p>
            <a:endParaRPr lang="en-IN" dirty="0">
              <a:latin typeface="Candara" panose="020E0502030303020204" pitchFamily="34" charset="0"/>
            </a:endParaRPr>
          </a:p>
        </p:txBody>
      </p:sp>
      <p:pic>
        <p:nvPicPr>
          <p:cNvPr id="1026" name="Picture 2" descr="Managing Active vs. Inactive Relationships | Power BI - GeeksforGeeks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39746" y="1257235"/>
            <a:ext cx="6635297" cy="34674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1305695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743" y="243840"/>
            <a:ext cx="11796793" cy="6244810"/>
          </a:xfrm>
          <a:prstGeom prst="rect">
            <a:avLst/>
          </a:prstGeom>
        </p:spPr>
      </p:pic>
      <p:sp>
        <p:nvSpPr>
          <p:cNvPr id="5" name="Rectangle 3"/>
          <p:cNvSpPr>
            <a:spLocks noChangeArrowheads="1"/>
          </p:cNvSpPr>
          <p:nvPr/>
        </p:nvSpPr>
        <p:spPr bwMode="auto">
          <a:xfrm>
            <a:off x="455334" y="1162629"/>
            <a:ext cx="10954139" cy="230832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Report View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 (Bar chart icon): Used to create and view your report visualizations.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0" i="0" u="none" strike="noStrike" cap="none" normalizeH="0" baseline="0" dirty="0" smtClean="0">
              <a:ln>
                <a:noFill/>
              </a:ln>
              <a:solidFill>
                <a:srgbClr val="0070C0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Table View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 (Grid icon): Used to view and manage the data within your tables.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 smtClean="0">
              <a:ln>
                <a:noFill/>
              </a:ln>
              <a:solidFill>
                <a:srgbClr val="0070C0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Model View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 (Relationship diagram icon): Used to manage relationships between different data tables.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 smtClean="0">
              <a:ln>
                <a:noFill/>
              </a:ln>
              <a:solidFill>
                <a:srgbClr val="0070C0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DAX Query View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 (Document icon with "DAX"): Used to write and run DAX (Data Analysis Expressions) queries.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1" i="0" u="none" strike="noStrike" cap="none" normalizeH="0" baseline="0" dirty="0" smtClean="0">
              <a:ln>
                <a:noFill/>
              </a:ln>
              <a:solidFill>
                <a:srgbClr val="0070C0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600" b="1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TMDL View</a:t>
            </a:r>
            <a:r>
              <a:rPr kumimoji="0" lang="en-US" altLang="en-US" sz="1600" b="0" i="0" u="none" strike="noStrike" cap="none" normalizeH="0" baseline="0" dirty="0" smtClean="0">
                <a:ln>
                  <a:noFill/>
                </a:ln>
                <a:solidFill>
                  <a:srgbClr val="0070C0"/>
                </a:solidFill>
                <a:effectLst/>
                <a:latin typeface="Candara" panose="020E0502030303020204" pitchFamily="34" charset="0"/>
              </a:rPr>
              <a:t> (Document icon with "TMDL"): Used for working with Tabular Model Definition Language files.</a:t>
            </a:r>
          </a:p>
        </p:txBody>
      </p:sp>
    </p:spTree>
    <p:extLst>
      <p:ext uri="{BB962C8B-B14F-4D97-AF65-F5344CB8AC3E}">
        <p14:creationId xmlns:p14="http://schemas.microsoft.com/office/powerpoint/2010/main" val="3370471361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572" y="251926"/>
            <a:ext cx="10470520" cy="344468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35262" y="2996812"/>
            <a:ext cx="7535258" cy="3268683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46113339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621" y="105312"/>
            <a:ext cx="9871787" cy="645787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303341619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7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265" y="345232"/>
            <a:ext cx="13427604" cy="576884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476155944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564" y="712060"/>
            <a:ext cx="11347673" cy="593133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270588" y="167951"/>
            <a:ext cx="2192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andara" panose="020E0502030303020204" pitchFamily="34" charset="0"/>
              </a:rPr>
              <a:t>Model View</a:t>
            </a:r>
            <a:endParaRPr lang="en-IN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5443806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265" y="662473"/>
            <a:ext cx="11796782" cy="7376799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" name="TextBox 2"/>
          <p:cNvSpPr txBox="1"/>
          <p:nvPr/>
        </p:nvSpPr>
        <p:spPr>
          <a:xfrm>
            <a:off x="233265" y="134521"/>
            <a:ext cx="2192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andara" panose="020E0502030303020204" pitchFamily="34" charset="0"/>
              </a:rPr>
              <a:t>Data</a:t>
            </a:r>
            <a:endParaRPr lang="en-IN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90434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722" y="653143"/>
            <a:ext cx="11829127" cy="6137755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7722" y="134521"/>
            <a:ext cx="2192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andara" panose="020E0502030303020204" pitchFamily="34" charset="0"/>
              </a:rPr>
              <a:t>DAX</a:t>
            </a:r>
            <a:endParaRPr lang="en-IN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3675305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133" y="780243"/>
            <a:ext cx="14616427" cy="424470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287722" y="134521"/>
            <a:ext cx="2192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andara" panose="020E0502030303020204" pitchFamily="34" charset="0"/>
              </a:rPr>
              <a:t>Transform</a:t>
            </a:r>
            <a:endParaRPr lang="en-IN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26472577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5781234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27" y="810212"/>
            <a:ext cx="14364945" cy="352074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" name="TextBox 2"/>
          <p:cNvSpPr txBox="1"/>
          <p:nvPr/>
        </p:nvSpPr>
        <p:spPr>
          <a:xfrm>
            <a:off x="251927" y="177282"/>
            <a:ext cx="15115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Power Query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4570537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91886" y="475861"/>
            <a:ext cx="31164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Data Modelling</a:t>
            </a:r>
            <a:endParaRPr lang="en-IN" dirty="0"/>
          </a:p>
        </p:txBody>
      </p:sp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391886" y="1583956"/>
            <a:ext cx="8265518" cy="198515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Relationships</a:t>
            </a:r>
            <a:r>
              <a:rPr lang="en-US" altLang="en-US" b="1" dirty="0">
                <a:latin typeface="Candara" panose="020E0502030303020204" pitchFamily="34" charset="0"/>
              </a:rPr>
              <a:t> Cardinality &amp; Cross Filter Direction </a:t>
            </a: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: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Star Schema vs. Snowflake Schema: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Structural organization of Fact and Dimension tables.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Creating &amp; Managing Relationships: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Active vs. inactive relationship paths.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Date Table Creation: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Generating continuous calendar dimensions for Time Intelligence functions.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Hierarchies: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Parent-child drill-down paths (e.g., Year &gt; Quarter &gt; Month &gt; Day).</a:t>
            </a:r>
          </a:p>
        </p:txBody>
      </p:sp>
    </p:spTree>
    <p:extLst>
      <p:ext uri="{BB962C8B-B14F-4D97-AF65-F5344CB8AC3E}">
        <p14:creationId xmlns:p14="http://schemas.microsoft.com/office/powerpoint/2010/main" val="3170709193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3793" y="175823"/>
            <a:ext cx="6096000" cy="369332"/>
          </a:xfrm>
          <a:prstGeom prst="rect">
            <a:avLst/>
          </a:prstGeom>
        </p:spPr>
        <p:txBody>
          <a:bodyPr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b="1" dirty="0">
                <a:latin typeface="Candara" panose="020E0502030303020204" pitchFamily="34" charset="0"/>
              </a:rPr>
              <a:t>Relationships</a:t>
            </a:r>
            <a:r>
              <a:rPr lang="en-US" altLang="en-US" b="1" dirty="0" smtClean="0">
                <a:latin typeface="Candara" panose="020E0502030303020204" pitchFamily="34" charset="0"/>
              </a:rPr>
              <a:t>:</a:t>
            </a:r>
            <a:endParaRPr lang="en-US" altLang="en-US" dirty="0">
              <a:latin typeface="Candara" panose="020E0502030303020204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719823" y="750011"/>
            <a:ext cx="1582484" cy="92333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dirty="0" smtClean="0">
                <a:latin typeface="Candara" panose="020E0502030303020204" pitchFamily="34" charset="0"/>
              </a:rPr>
              <a:t>One-to-many</a:t>
            </a:r>
          </a:p>
          <a:p>
            <a:r>
              <a:rPr lang="en-US" dirty="0" smtClean="0">
                <a:latin typeface="Candara" panose="020E0502030303020204" pitchFamily="34" charset="0"/>
              </a:rPr>
              <a:t>One to One</a:t>
            </a:r>
          </a:p>
          <a:p>
            <a:r>
              <a:rPr lang="en-US" dirty="0" smtClean="0">
                <a:latin typeface="Candara" panose="020E0502030303020204" pitchFamily="34" charset="0"/>
              </a:rPr>
              <a:t>Many to Many</a:t>
            </a:r>
            <a:endParaRPr lang="en-IN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5488" y="1211676"/>
            <a:ext cx="6696269" cy="3425808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719823" y="2654398"/>
            <a:ext cx="145103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dirty="0">
                <a:latin typeface="Candara" panose="020E0502030303020204" pitchFamily="34" charset="0"/>
              </a:rPr>
              <a:t>One-to-many</a:t>
            </a:r>
          </a:p>
        </p:txBody>
      </p:sp>
    </p:spTree>
    <p:extLst>
      <p:ext uri="{BB962C8B-B14F-4D97-AF65-F5344CB8AC3E}">
        <p14:creationId xmlns:p14="http://schemas.microsoft.com/office/powerpoint/2010/main" val="3681202112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4" grpId="0"/>
      <p:bldP spid="6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954" y="1280501"/>
            <a:ext cx="9412617" cy="3822441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3" name="Rectangle 2"/>
          <p:cNvSpPr/>
          <p:nvPr/>
        </p:nvSpPr>
        <p:spPr>
          <a:xfrm>
            <a:off x="454352" y="373314"/>
            <a:ext cx="131959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dirty="0" smtClean="0">
                <a:latin typeface="Candara" panose="020E0502030303020204" pitchFamily="34" charset="0"/>
              </a:rPr>
              <a:t>One-to-One</a:t>
            </a:r>
            <a:endParaRPr lang="en-US" altLang="en-US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7020060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 rotWithShape="1">
          <a:blip r:embed="rId2"/>
          <a:srcRect l="807"/>
          <a:stretch/>
        </p:blipFill>
        <p:spPr>
          <a:xfrm>
            <a:off x="2143433" y="1392032"/>
            <a:ext cx="9674942" cy="5076825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4" name="Rectangle 3"/>
          <p:cNvSpPr/>
          <p:nvPr/>
        </p:nvSpPr>
        <p:spPr>
          <a:xfrm>
            <a:off x="427958" y="225831"/>
            <a:ext cx="1582484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Candara" panose="020E0502030303020204" pitchFamily="34" charset="0"/>
              </a:rPr>
              <a:t>Many to Many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379945145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96644" y="1896468"/>
            <a:ext cx="11169445" cy="113877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b="1" dirty="0">
                <a:latin typeface="Candara" panose="020E0502030303020204" pitchFamily="34" charset="0"/>
              </a:rPr>
              <a:t>Star Schema vs. Snowflake Schema</a:t>
            </a:r>
            <a:r>
              <a:rPr lang="en-US" altLang="en-US" sz="3200" b="1" dirty="0" smtClean="0">
                <a:latin typeface="Candara" panose="020E0502030303020204" pitchFamily="34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 smtClean="0">
                <a:latin typeface="Candara" panose="020E0502030303020204" pitchFamily="34" charset="0"/>
              </a:rPr>
              <a:t>Before we go for </a:t>
            </a:r>
            <a:r>
              <a:rPr lang="en-US" altLang="en-US" dirty="0">
                <a:latin typeface="Candara" panose="020E0502030303020204" pitchFamily="34" charset="0"/>
              </a:rPr>
              <a:t>Star Schema </a:t>
            </a:r>
            <a:r>
              <a:rPr lang="en-US" altLang="en-US" dirty="0" smtClean="0">
                <a:latin typeface="Candara" panose="020E0502030303020204" pitchFamily="34" charset="0"/>
              </a:rPr>
              <a:t>and  </a:t>
            </a:r>
            <a:r>
              <a:rPr lang="en-US" altLang="en-US" dirty="0">
                <a:latin typeface="Candara" panose="020E0502030303020204" pitchFamily="34" charset="0"/>
              </a:rPr>
              <a:t>Snowflake </a:t>
            </a:r>
            <a:r>
              <a:rPr lang="en-US" altLang="en-US" dirty="0" smtClean="0">
                <a:latin typeface="Candara" panose="020E0502030303020204" pitchFamily="34" charset="0"/>
              </a:rPr>
              <a:t>Schema 1</a:t>
            </a:r>
            <a:r>
              <a:rPr lang="en-US" altLang="en-US" baseline="30000" dirty="0" smtClean="0">
                <a:latin typeface="Candara" panose="020E0502030303020204" pitchFamily="34" charset="0"/>
              </a:rPr>
              <a:t>st</a:t>
            </a:r>
            <a:r>
              <a:rPr lang="en-US" altLang="en-US" dirty="0" smtClean="0">
                <a:latin typeface="Candara" panose="020E0502030303020204" pitchFamily="34" charset="0"/>
              </a:rPr>
              <a:t> we need to understand what is Fact Table and Dimension Table</a:t>
            </a:r>
            <a:endParaRPr lang="en-US" altLang="en-US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1965288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/>
          <p:cNvSpPr>
            <a:spLocks noChangeArrowheads="1"/>
          </p:cNvSpPr>
          <p:nvPr/>
        </p:nvSpPr>
        <p:spPr bwMode="auto">
          <a:xfrm>
            <a:off x="98372" y="156919"/>
            <a:ext cx="11513525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Fact Table: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Stores quantitative, measurable metrics and foreign keys, recording specific business events or transactions (e.g</a:t>
            </a:r>
            <a:r>
              <a:rPr kumimoji="0" lang="en-US" altLang="en-US" sz="1800" b="0" i="0" u="none" strike="noStrike" cap="none" normalizeH="0" baseline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., sales 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revenue, quantity sold).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Dimension Table: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Stores descriptive attributes and context about the facts, allowing users to filter, group, and label data (e.g., customer names, product categories, dates).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328" y="1674473"/>
            <a:ext cx="10599272" cy="4840754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886105230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Star Schema Still Matters | Modern Data Modeli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44669" y="1314169"/>
            <a:ext cx="6629400" cy="5372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ectangle 2"/>
          <p:cNvSpPr/>
          <p:nvPr/>
        </p:nvSpPr>
        <p:spPr>
          <a:xfrm>
            <a:off x="208219" y="271146"/>
            <a:ext cx="11169445" cy="89255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b="1" dirty="0">
                <a:latin typeface="Candara" panose="020E0502030303020204" pitchFamily="34" charset="0"/>
              </a:rPr>
              <a:t>Star </a:t>
            </a:r>
            <a:r>
              <a:rPr lang="en-US" altLang="en-US" sz="3200" b="1" dirty="0" smtClean="0">
                <a:latin typeface="Candara" panose="020E0502030303020204" pitchFamily="34" charset="0"/>
              </a:rPr>
              <a:t>Schema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 smtClean="0">
                <a:latin typeface="Candara" panose="020E0502030303020204" pitchFamily="34" charset="0"/>
              </a:rPr>
              <a:t>Every Dimension table is connected to the Fact Table.</a:t>
            </a:r>
            <a:endParaRPr lang="en-US" altLang="en-US" sz="1200" dirty="0"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2784084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09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227100" y="283530"/>
            <a:ext cx="535973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latin typeface="Candara" panose="020E0502030303020204" pitchFamily="34" charset="0"/>
              </a:rPr>
              <a:t>Every Dimension table is connected to the Fact Table.</a:t>
            </a:r>
            <a:endParaRPr lang="en-US" altLang="en-US" sz="1100" dirty="0">
              <a:latin typeface="Candara" panose="020E0502030303020204" pitchFamily="34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9520" y="652862"/>
            <a:ext cx="6055360" cy="5801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2557287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9200" y="733425"/>
            <a:ext cx="9753600" cy="539115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1622656" y="821803"/>
            <a:ext cx="2189544" cy="4058331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6" name="Rectangle 5"/>
          <p:cNvSpPr/>
          <p:nvPr/>
        </p:nvSpPr>
        <p:spPr>
          <a:xfrm>
            <a:off x="8866452" y="2825881"/>
            <a:ext cx="1694033" cy="3092370"/>
          </a:xfrm>
          <a:prstGeom prst="rect">
            <a:avLst/>
          </a:prstGeom>
          <a:noFill/>
          <a:ln w="3810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7" name="Rectangle 6"/>
          <p:cNvSpPr/>
          <p:nvPr/>
        </p:nvSpPr>
        <p:spPr>
          <a:xfrm>
            <a:off x="345361" y="129167"/>
            <a:ext cx="211468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en-US" b="1" dirty="0">
                <a:latin typeface="Candara" panose="020E0502030303020204" pitchFamily="34" charset="0"/>
              </a:rPr>
              <a:t>Snowflake Schema:</a:t>
            </a:r>
            <a:endParaRPr lang="en-IN" dirty="0"/>
          </a:p>
        </p:txBody>
      </p:sp>
      <p:sp>
        <p:nvSpPr>
          <p:cNvPr id="9" name="Rectangle 8"/>
          <p:cNvSpPr/>
          <p:nvPr/>
        </p:nvSpPr>
        <p:spPr>
          <a:xfrm>
            <a:off x="3981692" y="857415"/>
            <a:ext cx="4715268" cy="4852506"/>
          </a:xfrm>
          <a:prstGeom prst="rect">
            <a:avLst/>
          </a:prstGeom>
          <a:noFill/>
          <a:ln w="3810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Rectangle 9"/>
          <p:cNvSpPr/>
          <p:nvPr/>
        </p:nvSpPr>
        <p:spPr>
          <a:xfrm>
            <a:off x="1622656" y="857414"/>
            <a:ext cx="2189544" cy="4058331"/>
          </a:xfrm>
          <a:prstGeom prst="rect">
            <a:avLst/>
          </a:prstGeom>
          <a:noFill/>
          <a:ln w="38100">
            <a:solidFill>
              <a:schemeClr val="bg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33564703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7" dur="2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9" grpId="0" animBg="1"/>
      <p:bldP spid="1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43068" y="428263"/>
            <a:ext cx="17130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Dax</a:t>
            </a:r>
            <a:endParaRPr lang="en-IN" dirty="0"/>
          </a:p>
        </p:txBody>
      </p:sp>
      <p:sp>
        <p:nvSpPr>
          <p:cNvPr id="3" name="Rectangle 1"/>
          <p:cNvSpPr>
            <a:spLocks noChangeArrowheads="1"/>
          </p:cNvSpPr>
          <p:nvPr/>
        </p:nvSpPr>
        <p:spPr bwMode="auto">
          <a:xfrm>
            <a:off x="167950" y="1149411"/>
            <a:ext cx="6279503" cy="5078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There are more than 200 DAX functions. Some </a:t>
            </a:r>
            <a:r>
              <a:rPr kumimoji="0" lang="en-US" altLang="en-US" sz="1800" b="0" i="0" u="none" strike="noStrike" cap="none" normalizeH="0" baseline="0" dirty="0" err="1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importat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as </a:t>
            </a:r>
            <a:r>
              <a:rPr lang="en-US" altLang="en-US" dirty="0" smtClean="0">
                <a:latin typeface="Candara" panose="020E0502030303020204" pitchFamily="34" charset="0"/>
              </a:rPr>
              <a:t>below. 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Aggregation functions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Aggregation functions return a scalar value applying an aggregation function to a column or to an expression evaluated by iterating a table expression.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tx1"/>
                </a:solidFill>
                <a:effectLst/>
                <a:latin typeface="Candara" panose="020E0502030303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Date and Time functions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Date and time functions help creating calculations based on dates and time.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Filter functions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Filter functions manipulate table and filter contexts.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Information functions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bg2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Information functions provide information about data type or filter context of the argument provided.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Logical functions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rgbClr val="00B0F0"/>
              </a:solidFill>
              <a:effectLst/>
              <a:latin typeface="Candara" panose="020E0502030303020204" pitchFamily="34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Logical functions act upon an expression to return information about the values or sets in the expression.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</p:txBody>
      </p:sp>
      <p:sp>
        <p:nvSpPr>
          <p:cNvPr id="4" name="Rectangle 2"/>
          <p:cNvSpPr>
            <a:spLocks noChangeArrowheads="1"/>
          </p:cNvSpPr>
          <p:nvPr/>
        </p:nvSpPr>
        <p:spPr bwMode="auto">
          <a:xfrm>
            <a:off x="6734175" y="1689627"/>
            <a:ext cx="5105400" cy="42780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Aggregation functions: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SUM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AVERAGE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MIN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MAX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COUNT</a:t>
            </a:r>
            <a:endParaRPr kumimoji="0" lang="en-US" altLang="en-US" sz="800" b="0" i="0" u="none" strike="noStrike" cap="none" normalizeH="0" baseline="0" dirty="0" smtClean="0">
              <a:ln>
                <a:noFill/>
              </a:ln>
              <a:solidFill>
                <a:schemeClr val="accent2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b="1" dirty="0"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Date and Time functions: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CALENDAR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DATEVALUE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DAY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MONTH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6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YEAR</a:t>
            </a:r>
            <a:endParaRPr kumimoji="0" lang="en-US" altLang="en-US" sz="800" b="0" i="0" u="none" strike="noStrike" cap="none" normalizeH="0" baseline="0" dirty="0" smtClean="0">
              <a:ln>
                <a:noFill/>
              </a:ln>
              <a:solidFill>
                <a:schemeClr val="accent6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b="1" dirty="0"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Filter functions: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CALCULATE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FILTER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ALL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ALLEXCEPT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RELATED</a:t>
            </a:r>
            <a:endParaRPr kumimoji="0" lang="en-US" altLang="en-US" sz="800" b="0" i="0" u="none" strike="noStrike" cap="none" normalizeH="0" baseline="0" dirty="0" smtClean="0">
              <a:ln>
                <a:noFill/>
              </a:ln>
              <a:solidFill>
                <a:schemeClr val="accent1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Information functions: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ISBLANK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ISERROR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ISNUMBER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ISTEXT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chemeClr val="bg2">
                    <a:lumMod val="60000"/>
                    <a:lumOff val="40000"/>
                  </a:schemeClr>
                </a:solidFill>
                <a:effectLst/>
                <a:latin typeface="Candara" panose="020E0502030303020204" pitchFamily="34" charset="0"/>
              </a:rPr>
              <a:t>USERNAME</a:t>
            </a:r>
            <a:endParaRPr kumimoji="0" lang="en-US" altLang="en-US" sz="800" b="0" i="0" u="none" strike="noStrike" cap="none" normalizeH="0" baseline="0" dirty="0" smtClean="0">
              <a:ln>
                <a:noFill/>
              </a:ln>
              <a:solidFill>
                <a:schemeClr val="bg2">
                  <a:lumMod val="60000"/>
                  <a:lumOff val="40000"/>
                </a:schemeClr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en-US" b="1" dirty="0"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800" b="1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Candara" panose="020E0502030303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en-US" sz="1800" b="1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Logical functions:</a:t>
            </a:r>
            <a:r>
              <a:rPr kumimoji="0" lang="en-US" altLang="en-US" sz="18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AND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OR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NOT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IF</a:t>
            </a:r>
            <a:r>
              <a:rPr kumimoji="0" lang="en-US" altLang="en-US" sz="8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, </a:t>
            </a:r>
            <a:r>
              <a:rPr kumimoji="0" lang="en-US" altLang="en-US" sz="1000" b="0" i="0" u="none" strike="noStrike" cap="none" normalizeH="0" baseline="0" dirty="0" smtClean="0">
                <a:ln>
                  <a:noFill/>
                </a:ln>
                <a:solidFill>
                  <a:srgbClr val="00B0F0"/>
                </a:solidFill>
                <a:effectLst/>
                <a:latin typeface="Candara" panose="020E0502030303020204" pitchFamily="34" charset="0"/>
              </a:rPr>
              <a:t>SWITCH</a:t>
            </a:r>
            <a:endParaRPr kumimoji="0" lang="en-US" altLang="en-US" sz="1800" b="0" i="0" u="none" strike="noStrike" cap="none" normalizeH="0" baseline="0" dirty="0" smtClean="0">
              <a:ln>
                <a:noFill/>
              </a:ln>
              <a:solidFill>
                <a:srgbClr val="00B0F0"/>
              </a:solidFill>
              <a:effectLst/>
              <a:latin typeface="Candara" panose="020E05020303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9962433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2" dur="500"/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737293" y="2159238"/>
            <a:ext cx="9051404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IN" smtClean="0">
                <a:latin typeface="Courier New" panose="02070309020205020404" pitchFamily="49" charset="0"/>
                <a:cs typeface="Courier New" panose="02070309020205020404" pitchFamily="49" charset="0"/>
              </a:rPr>
              <a:t>Total_Sales  </a:t>
            </a:r>
            <a:r>
              <a:rPr lang="en-IN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	</a:t>
            </a:r>
            <a:r>
              <a:rPr lang="en-IN" smtClean="0">
                <a:latin typeface="Courier New" panose="02070309020205020404" pitchFamily="49" charset="0"/>
                <a:cs typeface="Courier New" panose="02070309020205020404" pitchFamily="49" charset="0"/>
              </a:rPr>
              <a:t>= SUM(Sales[Amount</a:t>
            </a:r>
            <a:r>
              <a:rPr lang="en-IN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en-IN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Order_Count</a:t>
            </a:r>
            <a:r>
              <a:rPr lang="en-IN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 		</a:t>
            </a:r>
            <a:r>
              <a:rPr lang="en-IN" smtClean="0">
                <a:latin typeface="Courier New" panose="02070309020205020404" pitchFamily="49" charset="0"/>
                <a:cs typeface="Courier New" panose="02070309020205020404" pitchFamily="49" charset="0"/>
              </a:rPr>
              <a:t>= COUNT(Sales[OrderID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en-IN" dirty="0" err="1">
                <a:latin typeface="Courier New" panose="02070309020205020404" pitchFamily="49" charset="0"/>
                <a:cs typeface="Courier New" panose="02070309020205020404" pitchFamily="49" charset="0"/>
              </a:rPr>
              <a:t>Average_Price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en-IN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= </a:t>
            </a:r>
            <a:r>
              <a:rPr lang="en-IN" dirty="0">
                <a:latin typeface="Courier New" panose="02070309020205020404" pitchFamily="49" charset="0"/>
                <a:cs typeface="Courier New" panose="02070309020205020404" pitchFamily="49" charset="0"/>
              </a:rPr>
              <a:t>AVERAGE(Products[Price])</a:t>
            </a:r>
          </a:p>
          <a:p>
            <a:r>
              <a:rPr lang="en-US" dirty="0" err="1" smtClean="0">
                <a:latin typeface="Courier New" panose="02070309020205020404" pitchFamily="49" charset="0"/>
                <a:cs typeface="Courier New" panose="02070309020205020404" pitchFamily="49" charset="0"/>
              </a:rPr>
              <a:t>DistinctValue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	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DISTINCTCOUNT(Data[Beverage Brand])</a:t>
            </a:r>
          </a:p>
          <a:p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Profit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Margin % </a:t>
            </a:r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	=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DIVIDE([Profit], [Total Revenue])</a:t>
            </a:r>
          </a:p>
          <a:p>
            <a:endParaRPr lang="en-US" dirty="0" smtClean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Min</a:t>
            </a:r>
          </a:p>
          <a:p>
            <a:r>
              <a:rPr lang="en-US" dirty="0" smtClean="0">
                <a:latin typeface="Courier New" panose="02070309020205020404" pitchFamily="49" charset="0"/>
                <a:cs typeface="Courier New" panose="02070309020205020404" pitchFamily="49" charset="0"/>
              </a:rPr>
              <a:t>Max</a:t>
            </a:r>
          </a:p>
        </p:txBody>
      </p:sp>
      <p:sp>
        <p:nvSpPr>
          <p:cNvPr id="5" name="Rectangle 4"/>
          <p:cNvSpPr/>
          <p:nvPr/>
        </p:nvSpPr>
        <p:spPr>
          <a:xfrm>
            <a:off x="147484" y="636242"/>
            <a:ext cx="9370141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chemeClr val="accent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Aggregation functions</a:t>
            </a:r>
            <a:r>
              <a:rPr lang="en-US" altLang="en-US" dirty="0">
                <a:solidFill>
                  <a:schemeClr val="accent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 </a:t>
            </a: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solidFill>
                  <a:schemeClr val="accent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Aggregation functions return a scalar value applying an aggregation function to a column or to an expression evaluated by iterating a table expression.</a:t>
            </a:r>
            <a:r>
              <a:rPr lang="en-US" altLang="en-US" dirty="0">
                <a:latin typeface="Candara" panose="020E0502030303020204" pitchFamily="34" charset="0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84752123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314631" y="450277"/>
            <a:ext cx="8642555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chemeClr val="accent6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Date and Time functions</a:t>
            </a:r>
            <a:endParaRPr lang="en-US" altLang="en-US" dirty="0">
              <a:solidFill>
                <a:schemeClr val="accent6">
                  <a:lumMod val="60000"/>
                  <a:lumOff val="40000"/>
                </a:schemeClr>
              </a:solidFill>
              <a:latin typeface="Candara" panose="020E0502030303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solidFill>
                  <a:schemeClr val="accent6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Date and time functions help creating calculations based on dates and time.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4313123"/>
              </p:ext>
            </p:extLst>
          </p:nvPr>
        </p:nvGraphicFramePr>
        <p:xfrm>
          <a:off x="785196" y="1443235"/>
          <a:ext cx="8890649" cy="4526280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1641350">
                  <a:extLst>
                    <a:ext uri="{9D8B030D-6E8A-4147-A177-3AD203B41FA5}">
                      <a16:colId xmlns:a16="http://schemas.microsoft.com/office/drawing/2014/main" val="2391616480"/>
                    </a:ext>
                  </a:extLst>
                </a:gridCol>
                <a:gridCol w="7249299">
                  <a:extLst>
                    <a:ext uri="{9D8B030D-6E8A-4147-A177-3AD203B41FA5}">
                      <a16:colId xmlns:a16="http://schemas.microsoft.com/office/drawing/2014/main" val="300847146"/>
                    </a:ext>
                  </a:extLst>
                </a:gridCol>
              </a:tblGrid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DATE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TargetDate = DATE(2026, 06, 02)</a:t>
                      </a:r>
                      <a:endParaRPr lang="en-IN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216769911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DATEDIFF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DaysPassed = DATEDIFF(OrderDate, ShipDate, DAY)</a:t>
                      </a:r>
                      <a:endParaRPr lang="en-IN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38548251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DATEVALUE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ConvertedDate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DATEVALUE("2026-06-02")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886063242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DAY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DayNumber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DAY(Sales[InvoiceDate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286607805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EDATE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TwoMonthsLater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EDATE(Sales[OrderDate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], 2)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190174460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EOMONTH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MonthEnd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EOMONTH(Sales[OrderDate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], 0)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96263280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HOUR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OrderHour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HOUR(Sales[Timestamp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93279193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MINUTE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OrderMinute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MINUTE(Sales[Timestamp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148599956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MONTH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MonthNumber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MONTH(Sales[OrderDate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635810528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NOW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CurrentTimestamp = NOW()</a:t>
                      </a:r>
                      <a:endParaRPr lang="en-IN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212639838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QUARTER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CurrentQuarter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QUARTER(Sales[OrderDate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04872351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SECOND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OrderSecond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SECOND(Sales[Timestamp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106606938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ShiftStart = TIME(9, 0, 0)</a:t>
                      </a:r>
                      <a:endParaRPr lang="en-IN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93389035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TIMEVALUE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ConvertedTime = TIMEVALUE("13:30:00")</a:t>
                      </a:r>
                      <a:endParaRPr lang="en-IN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473358888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TODAY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CurrentDate = TODAY()</a:t>
                      </a:r>
                      <a:endParaRPr lang="en-IN" sz="1200" b="0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714239795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WEEKDAY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DayOfWeek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WEEKDAY(Sales[OrderDate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], 2)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889768141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WEEKNUM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WeekOfYear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WEEKNUM(Sales[OrderDate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52867244"/>
                  </a:ext>
                </a:extLst>
              </a:tr>
              <a:tr h="240790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YEAR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OrderYear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=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YEAR(Sales[OrderDate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877790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674721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8077181"/>
              </p:ext>
            </p:extLst>
          </p:nvPr>
        </p:nvGraphicFramePr>
        <p:xfrm>
          <a:off x="559414" y="1961537"/>
          <a:ext cx="10167580" cy="2905279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2960182">
                  <a:extLst>
                    <a:ext uri="{9D8B030D-6E8A-4147-A177-3AD203B41FA5}">
                      <a16:colId xmlns:a16="http://schemas.microsoft.com/office/drawing/2014/main" val="571751960"/>
                    </a:ext>
                  </a:extLst>
                </a:gridCol>
                <a:gridCol w="7207398">
                  <a:extLst>
                    <a:ext uri="{9D8B030D-6E8A-4147-A177-3AD203B41FA5}">
                      <a16:colId xmlns:a16="http://schemas.microsoft.com/office/drawing/2014/main" val="2217835914"/>
                    </a:ext>
                  </a:extLst>
                </a:gridCol>
              </a:tblGrid>
              <a:tr h="234292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ISBLANK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ISBLANK(Sales[Discount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518119593"/>
                  </a:ext>
                </a:extLst>
              </a:tr>
              <a:tr h="404686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ISERROR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ISERROR(Sales[TotalAmount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</a:t>
                      </a:r>
                      <a:r>
                        <a:rPr lang="en-IN" sz="14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 </a:t>
                      </a:r>
                      <a:r>
                        <a:rPr lang="en-IN" sz="14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Sales[Quantity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899105244"/>
                  </a:ext>
                </a:extLst>
              </a:tr>
              <a:tr h="234292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ISNUMBER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ISNUMBER(Sales[PostalCode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391129187"/>
                  </a:ext>
                </a:extLst>
              </a:tr>
              <a:tr h="234292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ISTEXT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ISTEXT(Sales[ProductCode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442217490"/>
                  </a:ext>
                </a:extLst>
              </a:tr>
              <a:tr h="280266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HASONEVALUE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HASONEVALUE(Product[Category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819111586"/>
                  </a:ext>
                </a:extLst>
              </a:tr>
              <a:tr h="404829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HASONEFILTER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HASONEFILTER(Product[</a:t>
                      </a:r>
                      <a:r>
                        <a:rPr lang="en-IN" sz="1400" u="none" strike="noStrike" dirty="0" err="1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SubCategory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461174376"/>
                  </a:ext>
                </a:extLst>
              </a:tr>
              <a:tr h="404829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NONBLANKROWCOUNT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400" u="none" strike="noStrike" dirty="0" err="1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RowCount</a:t>
                      </a:r>
                      <a:r>
                        <a:rPr lang="en-IN" sz="14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NONBLANKROWCOUNT(Customers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466788260"/>
                  </a:ext>
                </a:extLst>
              </a:tr>
              <a:tr h="234292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USERNAME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400" u="none" strike="noStrike" dirty="0" err="1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CurrentUser</a:t>
                      </a:r>
                      <a:r>
                        <a:rPr lang="en-IN" sz="14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USERNAME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00683929"/>
                  </a:ext>
                </a:extLst>
              </a:tr>
              <a:tr h="404829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USERPRINCIPALNAME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400" u="none" strike="noStrike" dirty="0" err="1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UserEmail</a:t>
                      </a:r>
                      <a:r>
                        <a:rPr lang="en-IN" sz="14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USERPRINCIPALNAME()</a:t>
                      </a:r>
                      <a:endParaRPr lang="en-IN" sz="14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4117793219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42452" y="381451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chemeClr val="bg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Information functions</a:t>
            </a:r>
            <a:endParaRPr lang="en-US" altLang="en-US" dirty="0">
              <a:solidFill>
                <a:schemeClr val="bg2">
                  <a:lumMod val="60000"/>
                  <a:lumOff val="40000"/>
                </a:schemeClr>
              </a:solidFill>
              <a:latin typeface="Candara" panose="020E0502030303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solidFill>
                  <a:schemeClr val="bg2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Information functions provide information about data type or filter context of the argument provided.</a:t>
            </a:r>
          </a:p>
        </p:txBody>
      </p:sp>
    </p:spTree>
    <p:extLst>
      <p:ext uri="{BB962C8B-B14F-4D97-AF65-F5344CB8AC3E}">
        <p14:creationId xmlns:p14="http://schemas.microsoft.com/office/powerpoint/2010/main" val="3832320156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6" presetClass="entr" presetSubtype="3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186813" y="420780"/>
            <a:ext cx="6096000" cy="923330"/>
          </a:xfrm>
          <a:prstGeom prst="rect">
            <a:avLst/>
          </a:prstGeom>
        </p:spPr>
        <p:txBody>
          <a:bodyPr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rgbClr val="00B0F0"/>
                </a:solidFill>
                <a:latin typeface="Candara" panose="020E0502030303020204" pitchFamily="34" charset="0"/>
              </a:rPr>
              <a:t>Logical functions</a:t>
            </a:r>
            <a:endParaRPr lang="en-US" altLang="en-US" dirty="0">
              <a:solidFill>
                <a:srgbClr val="00B0F0"/>
              </a:solidFill>
              <a:latin typeface="Candara" panose="020E0502030303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dirty="0">
                <a:solidFill>
                  <a:srgbClr val="00B0F0"/>
                </a:solidFill>
                <a:latin typeface="Candara" panose="020E0502030303020204" pitchFamily="34" charset="0"/>
              </a:rPr>
              <a:t>Logical functions act upon an expression to return information about the values or sets in the expression.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8664339"/>
              </p:ext>
            </p:extLst>
          </p:nvPr>
        </p:nvGraphicFramePr>
        <p:xfrm>
          <a:off x="283087" y="2013720"/>
          <a:ext cx="10394746" cy="2391204"/>
        </p:xfrm>
        <a:graphic>
          <a:graphicData uri="http://schemas.openxmlformats.org/drawingml/2006/table">
            <a:tbl>
              <a:tblPr>
                <a:tableStyleId>{9D7B26C5-4107-4FEC-AEDC-1716B250A1EF}</a:tableStyleId>
              </a:tblPr>
              <a:tblGrid>
                <a:gridCol w="1076746">
                  <a:extLst>
                    <a:ext uri="{9D8B030D-6E8A-4147-A177-3AD203B41FA5}">
                      <a16:colId xmlns:a16="http://schemas.microsoft.com/office/drawing/2014/main" val="56115187"/>
                    </a:ext>
                  </a:extLst>
                </a:gridCol>
                <a:gridCol w="9318000">
                  <a:extLst>
                    <a:ext uri="{9D8B030D-6E8A-4147-A177-3AD203B41FA5}">
                      <a16:colId xmlns:a16="http://schemas.microsoft.com/office/drawing/2014/main" val="1675222765"/>
                    </a:ext>
                  </a:extLst>
                </a:gridCol>
              </a:tblGrid>
              <a:tr h="195568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AND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AND(Sales[Amount</a:t>
                      </a:r>
                      <a:r>
                        <a:rPr lang="en-US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&gt; 100</a:t>
                      </a: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Sales[Region</a:t>
                      </a:r>
                      <a:r>
                        <a:rPr lang="en-US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= "West")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989615441"/>
                  </a:ext>
                </a:extLst>
              </a:tr>
              <a:tr h="195568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OR(Sales[Quantity</a:t>
                      </a:r>
                      <a:r>
                        <a:rPr lang="en-US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&gt; 10</a:t>
                      </a: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, </a:t>
                      </a:r>
                      <a:r>
                        <a:rPr lang="en-US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Sales[Discount</a:t>
                      </a:r>
                      <a:r>
                        <a:rPr lang="en-US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&gt; 0.1)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701279770"/>
                  </a:ext>
                </a:extLst>
              </a:tr>
              <a:tr h="193091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NOT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baseline="0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NOT(Sales[Status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= "Cancelled")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991206019"/>
                  </a:ext>
                </a:extLst>
              </a:tr>
              <a:tr h="195568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baseline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IF(Sales[Amount</a:t>
                      </a:r>
                      <a:r>
                        <a:rPr lang="en-US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&gt;= 500, "High Value", "Standard")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79078976"/>
                  </a:ext>
                </a:extLst>
              </a:tr>
              <a:tr h="379524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SWITCH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baseline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SWITCH(Sales[RegionCode</a:t>
                      </a:r>
                      <a:r>
                        <a:rPr lang="en-US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], 1, "North", 2, "South", 3, "East", 4, "West", "Unknown")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135747507"/>
                  </a:ext>
                </a:extLst>
              </a:tr>
              <a:tr h="195568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IFERROR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baseline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IFERROR(Sales[Revenue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</a:t>
                      </a:r>
                      <a:r>
                        <a:rPr lang="en-IN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/ </a:t>
                      </a:r>
                      <a:r>
                        <a:rPr lang="en-IN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Sales[Units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], 0)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158176249"/>
                  </a:ext>
                </a:extLst>
              </a:tr>
              <a:tr h="207608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COALESCE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US" sz="1200" u="none" strike="noStrike" baseline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US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COALESCE(Sales[AltPhone</a:t>
                      </a:r>
                      <a:r>
                        <a:rPr lang="en-US" sz="12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], </a:t>
                      </a:r>
                      <a:r>
                        <a:rPr lang="en-US" sz="1200" u="none" strike="noStrike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Sales[HomePhone</a:t>
                      </a:r>
                      <a:r>
                        <a:rPr lang="en-US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], "No Number")</a:t>
                      </a:r>
                      <a:endParaRPr 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383635867"/>
                  </a:ext>
                </a:extLst>
              </a:tr>
              <a:tr h="193091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FALSE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SetFalse</a:t>
                      </a:r>
                      <a:r>
                        <a:rPr lang="en-IN" sz="12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FALSE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2150343742"/>
                  </a:ext>
                </a:extLst>
              </a:tr>
              <a:tr h="193091">
                <a:tc>
                  <a:txBody>
                    <a:bodyPr/>
                    <a:lstStyle/>
                    <a:p>
                      <a:pPr algn="l" fontAlgn="b"/>
                      <a:r>
                        <a:rPr lang="en-IN" sz="1600" u="none" strike="noStrike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TRUE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tc>
                  <a:txBody>
                    <a:bodyPr/>
                    <a:lstStyle/>
                    <a:p>
                      <a:pPr algn="l" fontAlgn="b"/>
                      <a:r>
                        <a:rPr lang="en-IN" sz="12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200" u="none" strike="noStrike" dirty="0" err="1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SetTrue</a:t>
                      </a:r>
                      <a:r>
                        <a:rPr lang="en-IN" sz="12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= TRUE</a:t>
                      </a:r>
                      <a:r>
                        <a:rPr lang="en-IN" sz="12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()</a:t>
                      </a:r>
                      <a:endParaRPr lang="en-IN" sz="12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/>
                </a:tc>
                <a:extLst>
                  <a:ext uri="{0D108BD9-81ED-4DB2-BD59-A6C34878D82A}">
                    <a16:rowId xmlns:a16="http://schemas.microsoft.com/office/drawing/2014/main" val="30963506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14005082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1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5355035"/>
              </p:ext>
            </p:extLst>
          </p:nvPr>
        </p:nvGraphicFramePr>
        <p:xfrm>
          <a:off x="175134" y="1795409"/>
          <a:ext cx="11830053" cy="1925320"/>
        </p:xfrm>
        <a:graphic>
          <a:graphicData uri="http://schemas.openxmlformats.org/drawingml/2006/table">
            <a:tbl>
              <a:tblPr>
                <a:tableStyleId>{5FD0F851-EC5A-4D38-B0AD-8093EC10F338}</a:tableStyleId>
              </a:tblPr>
              <a:tblGrid>
                <a:gridCol w="1816991">
                  <a:extLst>
                    <a:ext uri="{9D8B030D-6E8A-4147-A177-3AD203B41FA5}">
                      <a16:colId xmlns:a16="http://schemas.microsoft.com/office/drawing/2014/main" val="2230006388"/>
                    </a:ext>
                  </a:extLst>
                </a:gridCol>
                <a:gridCol w="10013062">
                  <a:extLst>
                    <a:ext uri="{9D8B030D-6E8A-4147-A177-3AD203B41FA5}">
                      <a16:colId xmlns:a16="http://schemas.microsoft.com/office/drawing/2014/main" val="229815961"/>
                    </a:ext>
                  </a:extLst>
                </a:gridCol>
              </a:tblGrid>
              <a:tr h="211375"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5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CALCULATE</a:t>
                      </a:r>
                      <a:endParaRPr lang="en-IN" sz="15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CALCULATE(SUM(Orders[Amount</a:t>
                      </a:r>
                      <a:r>
                        <a:rPr lang="en-IN" sz="13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]),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Orders[Region</a:t>
                      </a:r>
                      <a:r>
                        <a:rPr lang="en-IN" sz="13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= "West")</a:t>
                      </a:r>
                      <a:endParaRPr lang="en-IN" sz="13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5163549"/>
                  </a:ext>
                </a:extLst>
              </a:tr>
              <a:tr h="211375"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5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FILTER</a:t>
                      </a:r>
                    </a:p>
                    <a:p>
                      <a:pPr algn="l" fontAlgn="b">
                        <a:spcBef>
                          <a:spcPts val="200"/>
                        </a:spcBef>
                      </a:pPr>
                      <a:endParaRPr lang="en-US" sz="1500" b="1" i="0" u="none" strike="noStrike" dirty="0" smtClean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  <a:p>
                      <a:pPr algn="l" fontAlgn="b">
                        <a:spcBef>
                          <a:spcPts val="200"/>
                        </a:spcBef>
                      </a:pPr>
                      <a:endParaRPr lang="en-IN" sz="15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300" u="none" strike="noStrike" baseline="0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FILTER(Orders, Orders[Amount</a:t>
                      </a:r>
                      <a:r>
                        <a:rPr lang="en-IN" sz="13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 &gt; 1000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)</a:t>
                      </a:r>
                    </a:p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FILTER(Orders, Orders[Category] = “</a:t>
                      </a:r>
                      <a:r>
                        <a:rPr lang="en-IN" sz="1300" u="none" strike="noStrike" dirty="0" err="1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Furntiture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”)</a:t>
                      </a:r>
                    </a:p>
                    <a:p>
                      <a:pPr algn="l" fontAlgn="b">
                        <a:spcBef>
                          <a:spcPts val="200"/>
                        </a:spcBef>
                      </a:pPr>
                      <a:endParaRPr lang="en-IN" sz="13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17229111"/>
                  </a:ext>
                </a:extLst>
              </a:tr>
              <a:tr h="211375"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5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ALL</a:t>
                      </a:r>
                      <a:endParaRPr lang="en-IN" sz="15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300" u="none" strike="noStrike" baseline="0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SUM(Orders[Amount</a:t>
                      </a:r>
                      <a:r>
                        <a:rPr lang="en-IN" sz="13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 /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CALCULATE(SUM(Orders[Amount</a:t>
                      </a:r>
                      <a:r>
                        <a:rPr lang="en-IN" sz="13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]),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ALL(Sales))</a:t>
                      </a:r>
                      <a:endParaRPr lang="en-IN" sz="13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2581001"/>
                  </a:ext>
                </a:extLst>
              </a:tr>
              <a:tr h="211375"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5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ALLEXCEPT</a:t>
                      </a:r>
                      <a:endParaRPr lang="en-IN" sz="15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300" u="none" strike="noStrike" baseline="0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CALCULATE(SUM(Orders[Amount</a:t>
                      </a:r>
                      <a:r>
                        <a:rPr lang="en-IN" sz="13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]), ALLEXCEPT(Geography, Geography[State]))</a:t>
                      </a:r>
                      <a:endParaRPr lang="en-IN" sz="13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8910001"/>
                  </a:ext>
                </a:extLst>
              </a:tr>
              <a:tr h="211375"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5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ALLSELECTED</a:t>
                      </a:r>
                      <a:endParaRPr lang="en-IN" sz="15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300" u="none" strike="noStrike" baseline="0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CALCULATE(SUM(Orders[Amount</a:t>
                      </a:r>
                      <a:r>
                        <a:rPr lang="en-IN" sz="13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]),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ALLSELECTED(Orders))</a:t>
                      </a:r>
                      <a:endParaRPr lang="en-IN" sz="13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26821517"/>
                  </a:ext>
                </a:extLst>
              </a:tr>
              <a:tr h="211375"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5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RELATED</a:t>
                      </a:r>
                      <a:endParaRPr lang="en-IN" sz="1500" b="1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l" fontAlgn="b">
                        <a:spcBef>
                          <a:spcPts val="200"/>
                        </a:spcBef>
                      </a:pPr>
                      <a:r>
                        <a:rPr lang="en-IN" sz="1300" u="none" strike="noStrike" baseline="0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 </a:t>
                      </a:r>
                      <a:r>
                        <a:rPr lang="en-IN" sz="1300" u="none" strike="noStrike" dirty="0" smtClean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RELATED(Product[Price</a:t>
                      </a:r>
                      <a:r>
                        <a:rPr lang="en-IN" sz="1300" u="none" strike="noStrike" dirty="0">
                          <a:effectLst/>
                          <a:latin typeface="Courier New" panose="02070309020205020404" pitchFamily="49" charset="0"/>
                          <a:cs typeface="Courier New" panose="02070309020205020404" pitchFamily="49" charset="0"/>
                        </a:rPr>
                        <a:t>])</a:t>
                      </a:r>
                      <a:endParaRPr lang="en-IN" sz="1300" b="0" i="0" u="none" strike="noStrike" dirty="0">
                        <a:solidFill>
                          <a:srgbClr val="000000"/>
                        </a:solidFill>
                        <a:effectLst/>
                        <a:latin typeface="Courier New" panose="02070309020205020404" pitchFamily="49" charset="0"/>
                        <a:cs typeface="Courier New" panose="02070309020205020404" pitchFamily="49" charset="0"/>
                      </a:endParaRPr>
                    </a:p>
                  </a:txBody>
                  <a:tcPr marL="7620" marR="7620" marT="7620" marB="0" anchor="b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843789993"/>
                  </a:ext>
                </a:extLst>
              </a:tr>
            </a:tbl>
          </a:graphicData>
        </a:graphic>
      </p:graphicFrame>
      <p:sp>
        <p:nvSpPr>
          <p:cNvPr id="3" name="Rectangle 2"/>
          <p:cNvSpPr/>
          <p:nvPr/>
        </p:nvSpPr>
        <p:spPr>
          <a:xfrm>
            <a:off x="344129" y="411796"/>
            <a:ext cx="6096000" cy="646331"/>
          </a:xfrm>
          <a:prstGeom prst="rect">
            <a:avLst/>
          </a:prstGeom>
        </p:spPr>
        <p:txBody>
          <a:bodyPr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b="1" dirty="0">
                <a:solidFill>
                  <a:schemeClr val="accent1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Filter </a:t>
            </a:r>
            <a:r>
              <a:rPr lang="en-US" altLang="en-US" b="1" dirty="0" smtClean="0">
                <a:solidFill>
                  <a:schemeClr val="accent1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&amp; Calculate functions</a:t>
            </a:r>
            <a:endParaRPr lang="en-US" altLang="en-US" dirty="0">
              <a:solidFill>
                <a:schemeClr val="accent1">
                  <a:lumMod val="60000"/>
                  <a:lumOff val="40000"/>
                </a:schemeClr>
              </a:solidFill>
              <a:latin typeface="Candara" panose="020E0502030303020204" pitchFamily="34" charset="0"/>
            </a:endParaRPr>
          </a:p>
          <a:p>
            <a:pPr lvl="1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dirty="0">
                <a:solidFill>
                  <a:schemeClr val="accent1">
                    <a:lumMod val="60000"/>
                    <a:lumOff val="40000"/>
                  </a:schemeClr>
                </a:solidFill>
                <a:latin typeface="Candara" panose="020E0502030303020204" pitchFamily="34" charset="0"/>
              </a:rPr>
              <a:t>Filter functions manipulate table and filter contexts.</a:t>
            </a:r>
          </a:p>
        </p:txBody>
      </p:sp>
    </p:spTree>
    <p:extLst>
      <p:ext uri="{BB962C8B-B14F-4D97-AF65-F5344CB8AC3E}">
        <p14:creationId xmlns:p14="http://schemas.microsoft.com/office/powerpoint/2010/main" val="2206240905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022546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2112978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38299917"/>
      </p:ext>
    </p:extLst>
  </p:cSld>
  <p:clrMapOvr>
    <a:masterClrMapping/>
  </p:clrMapOvr>
  <p:transition spd="slow">
    <p:randomBar dir="vert"/>
  </p:transition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">
  <a:themeElements>
    <a:clrScheme name="Ion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Ion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3097</TotalTime>
  <Words>907</Words>
  <Application>Microsoft Office PowerPoint</Application>
  <PresentationFormat>Widescreen</PresentationFormat>
  <Paragraphs>185</Paragraphs>
  <Slides>33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0" baseType="lpstr">
      <vt:lpstr>Arial</vt:lpstr>
      <vt:lpstr>Calibri</vt:lpstr>
      <vt:lpstr>Candara</vt:lpstr>
      <vt:lpstr>Century Gothic</vt:lpstr>
      <vt:lpstr>Courier New</vt:lpstr>
      <vt:lpstr>Wingdings 3</vt:lpstr>
      <vt:lpstr>Ion</vt:lpstr>
      <vt:lpstr>Power bi is Business Intelligence tool</vt:lpstr>
      <vt:lpstr>PowerPoint Presentation</vt:lpstr>
      <vt:lpstr>PowerPoint Presentation</vt:lpstr>
      <vt:lpstr>Features Cost is cheapest Data connectivity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SHIVRAJ SHINDE</dc:creator>
  <cp:lastModifiedBy>SHIVRAJ SHINDE</cp:lastModifiedBy>
  <cp:revision>62</cp:revision>
  <dcterms:created xsi:type="dcterms:W3CDTF">2026-05-12T10:34:27Z</dcterms:created>
  <dcterms:modified xsi:type="dcterms:W3CDTF">2026-08-06T07:07:00Z</dcterms:modified>
</cp:coreProperties>
</file>