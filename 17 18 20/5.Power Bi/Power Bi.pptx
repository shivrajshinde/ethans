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91" r:id="rId2"/>
    <p:sldId id="256" r:id="rId3"/>
    <p:sldId id="285" r:id="rId4"/>
    <p:sldId id="292" r:id="rId5"/>
    <p:sldId id="257" r:id="rId6"/>
    <p:sldId id="259" r:id="rId7"/>
    <p:sldId id="258" r:id="rId8"/>
    <p:sldId id="260" r:id="rId9"/>
    <p:sldId id="261" r:id="rId10"/>
    <p:sldId id="263" r:id="rId11"/>
    <p:sldId id="264" r:id="rId12"/>
    <p:sldId id="265" r:id="rId13"/>
    <p:sldId id="266" r:id="rId14"/>
    <p:sldId id="284" r:id="rId15"/>
    <p:sldId id="267" r:id="rId16"/>
    <p:sldId id="268" r:id="rId17"/>
    <p:sldId id="274" r:id="rId18"/>
    <p:sldId id="275" r:id="rId19"/>
    <p:sldId id="276" r:id="rId20"/>
    <p:sldId id="286" r:id="rId21"/>
    <p:sldId id="277" r:id="rId22"/>
    <p:sldId id="278" r:id="rId23"/>
    <p:sldId id="279" r:id="rId24"/>
    <p:sldId id="280" r:id="rId25"/>
    <p:sldId id="281" r:id="rId26"/>
    <p:sldId id="287" r:id="rId27"/>
    <p:sldId id="288" r:id="rId28"/>
    <p:sldId id="289" r:id="rId29"/>
    <p:sldId id="290" r:id="rId30"/>
    <p:sldId id="270" r:id="rId31"/>
    <p:sldId id="271" r:id="rId32"/>
    <p:sldId id="272" r:id="rId33"/>
    <p:sldId id="27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2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19E2E-A086-4A91-BA90-9CB5CDABE96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51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bi is </a:t>
            </a:r>
            <a:r>
              <a:rPr lang="en-US" sz="2400" dirty="0" smtClean="0"/>
              <a:t>Business Intelligence tool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099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94938" y="513288"/>
            <a:ext cx="56450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 Query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PowerPivot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 View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Power BI Service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6658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Power BI and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01" y="1542208"/>
            <a:ext cx="10770571" cy="444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3812" y="447869"/>
            <a:ext cx="13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3626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3316849"/>
          </a:xfrm>
        </p:spPr>
        <p:txBody>
          <a:bodyPr/>
          <a:lstStyle/>
          <a:p>
            <a:r>
              <a:rPr lang="en-US" dirty="0" smtClean="0"/>
              <a:t>Features</a:t>
            </a:r>
            <a:br>
              <a:rPr lang="en-US" dirty="0" smtClean="0"/>
            </a:br>
            <a:r>
              <a:rPr lang="en-US" dirty="0" smtClean="0"/>
              <a:t>Cost is cheapest</a:t>
            </a:r>
            <a:br>
              <a:rPr lang="en-US" dirty="0" smtClean="0"/>
            </a:br>
            <a:r>
              <a:rPr lang="en-US" dirty="0" smtClean="0"/>
              <a:t>Data connectivity</a:t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23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152" y="4226767"/>
            <a:ext cx="54868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Power Bi </a:t>
            </a:r>
            <a:r>
              <a:rPr lang="en-US" dirty="0" smtClean="0">
                <a:latin typeface="Candara" panose="020E0502030303020204" pitchFamily="34" charset="0"/>
              </a:rPr>
              <a:t>Desktop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Report view(VIEW)</a:t>
            </a:r>
            <a:endParaRPr lang="en-US" dirty="0" smtClean="0">
              <a:latin typeface="Candara" panose="020E0502030303020204" pitchFamily="34" charset="0"/>
            </a:endParaRP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Table View</a:t>
            </a:r>
            <a:endParaRPr lang="en-US" dirty="0" smtClean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	Power query(Transformation)</a:t>
            </a:r>
            <a:endParaRPr lang="en-US" dirty="0" smtClean="0">
              <a:latin typeface="Candara" panose="020E0502030303020204" pitchFamily="34" charset="0"/>
            </a:endParaRP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Modelling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DAX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endParaRPr lang="en-US" dirty="0" smtClean="0">
              <a:latin typeface="Candara" panose="020E0502030303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286" y="488302"/>
            <a:ext cx="3554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Power Bi </a:t>
            </a:r>
            <a:r>
              <a:rPr lang="en-US" dirty="0" smtClean="0">
                <a:latin typeface="Candara" panose="020E0502030303020204" pitchFamily="34" charset="0"/>
              </a:rPr>
              <a:t>Desktop</a:t>
            </a:r>
          </a:p>
          <a:p>
            <a:r>
              <a:rPr lang="en-US" dirty="0">
                <a:latin typeface="Candara" panose="020E0502030303020204" pitchFamily="34" charset="0"/>
              </a:rPr>
              <a:t>	</a:t>
            </a:r>
            <a:r>
              <a:rPr lang="en-US" dirty="0" smtClean="0">
                <a:latin typeface="Candara" panose="020E0502030303020204" pitchFamily="34" charset="0"/>
              </a:rPr>
              <a:t>Developer Application</a:t>
            </a:r>
            <a:endParaRPr lang="en-US" dirty="0" smtClean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Power </a:t>
            </a:r>
            <a:r>
              <a:rPr lang="en-US" dirty="0" smtClean="0">
                <a:latin typeface="Candara" panose="020E0502030303020204" pitchFamily="34" charset="0"/>
              </a:rPr>
              <a:t>Bi Services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	Deploy the reports</a:t>
            </a:r>
            <a:endParaRPr lang="en-US" dirty="0" smtClean="0">
              <a:latin typeface="Candara" panose="020E0502030303020204" pitchFamily="34" charset="0"/>
            </a:endParaRPr>
          </a:p>
          <a:p>
            <a:endParaRPr lang="en-US" dirty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Power </a:t>
            </a:r>
            <a:r>
              <a:rPr lang="en-US" dirty="0" smtClean="0">
                <a:latin typeface="Candara" panose="020E0502030303020204" pitchFamily="34" charset="0"/>
              </a:rPr>
              <a:t>Bi </a:t>
            </a:r>
            <a:r>
              <a:rPr lang="en-US" dirty="0" smtClean="0">
                <a:latin typeface="Candara" panose="020E0502030303020204" pitchFamily="34" charset="0"/>
              </a:rPr>
              <a:t>Mobile</a:t>
            </a:r>
          </a:p>
          <a:p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3056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43" y="243840"/>
            <a:ext cx="11796793" cy="6244810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5334" y="1162629"/>
            <a:ext cx="109541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Report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(Bar chart icon): Used to create and view your report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Table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(Grid icon): Used to view and manage the data within your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Model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(Relationship diagram icon): Used to manage relationships between different data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DAX Query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(Document icon with "DAX"): Used to write and run DAX (Data Analysis Expressions)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TMDL View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ndara" panose="020E0502030303020204" pitchFamily="34" charset="0"/>
              </a:rPr>
              <a:t> (Document icon with "TMDL"): Used for working with Tabular Model Definition Language files.</a:t>
            </a:r>
          </a:p>
        </p:txBody>
      </p:sp>
    </p:spTree>
    <p:extLst>
      <p:ext uri="{BB962C8B-B14F-4D97-AF65-F5344CB8AC3E}">
        <p14:creationId xmlns:p14="http://schemas.microsoft.com/office/powerpoint/2010/main" val="33704713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2" y="251926"/>
            <a:ext cx="10470520" cy="3444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62" y="2996812"/>
            <a:ext cx="7535258" cy="32686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1133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1" y="105312"/>
            <a:ext cx="9871787" cy="6457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33416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345232"/>
            <a:ext cx="13427604" cy="5768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61559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64" y="712060"/>
            <a:ext cx="11347673" cy="5931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70588" y="16795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Model View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438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662473"/>
            <a:ext cx="11796782" cy="7376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33265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Data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904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2" y="653143"/>
            <a:ext cx="11829127" cy="6137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7722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DAX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753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3" y="780243"/>
            <a:ext cx="14616427" cy="42447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287722" y="134521"/>
            <a:ext cx="219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ndara" panose="020E0502030303020204" pitchFamily="34" charset="0"/>
              </a:rPr>
              <a:t>Transform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725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7812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7" y="810212"/>
            <a:ext cx="14364945" cy="3520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251927" y="177282"/>
            <a:ext cx="151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57053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86" y="475861"/>
            <a:ext cx="31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Modelling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1886" y="1583956"/>
            <a:ext cx="8265518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Relationships</a:t>
            </a:r>
            <a:r>
              <a:rPr lang="en-US" altLang="en-US" b="1" dirty="0">
                <a:latin typeface="Candara" panose="020E0502030303020204" pitchFamily="34" charset="0"/>
              </a:rPr>
              <a:t> Cardinality &amp; Cross Filter Direction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Star Schema vs. Snowflake Schema: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Structural organization of Fact and Dimension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Creating &amp; Managing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Active vs. inactive relationship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Date Table Creation: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Generating continuous calendar dimensions for Time Intelligence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Hierarchies: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Parent-child drill-down paths (e.g., Year &gt; Quarter &gt; Month &gt; Day).</a:t>
            </a:r>
          </a:p>
        </p:txBody>
      </p:sp>
    </p:spTree>
    <p:extLst>
      <p:ext uri="{BB962C8B-B14F-4D97-AF65-F5344CB8AC3E}">
        <p14:creationId xmlns:p14="http://schemas.microsoft.com/office/powerpoint/2010/main" val="31707091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793" y="1758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ndara" panose="020E0502030303020204" pitchFamily="34" charset="0"/>
              </a:rPr>
              <a:t>Relationships</a:t>
            </a:r>
            <a:r>
              <a:rPr lang="en-US" altLang="en-US" b="1" dirty="0" smtClean="0">
                <a:latin typeface="Candara" panose="020E0502030303020204" pitchFamily="34" charset="0"/>
              </a:rPr>
              <a:t>: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823" y="750011"/>
            <a:ext cx="15824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One-to-many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One to One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88" y="1211676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19823" y="265439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One-to-many</a:t>
            </a:r>
          </a:p>
        </p:txBody>
      </p:sp>
    </p:spTree>
    <p:extLst>
      <p:ext uri="{BB962C8B-B14F-4D97-AF65-F5344CB8AC3E}">
        <p14:creationId xmlns:p14="http://schemas.microsoft.com/office/powerpoint/2010/main" val="36812021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4" y="1280501"/>
            <a:ext cx="9412617" cy="3822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4352" y="37331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One-to-One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00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07"/>
          <a:stretch/>
        </p:blipFill>
        <p:spPr>
          <a:xfrm>
            <a:off x="2143433" y="1392032"/>
            <a:ext cx="9674942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27958" y="225831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9451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6644" y="1896468"/>
            <a:ext cx="111694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Schema vs. Snowflake Schema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Candara" panose="020E0502030303020204" pitchFamily="34" charset="0"/>
              </a:rPr>
              <a:t>Before we go for </a:t>
            </a:r>
            <a:r>
              <a:rPr lang="en-US" altLang="en-US" dirty="0">
                <a:latin typeface="Candara" panose="020E0502030303020204" pitchFamily="34" charset="0"/>
              </a:rPr>
              <a:t>Star Schema </a:t>
            </a:r>
            <a:r>
              <a:rPr lang="en-US" altLang="en-US" dirty="0" smtClean="0">
                <a:latin typeface="Candara" panose="020E0502030303020204" pitchFamily="34" charset="0"/>
              </a:rPr>
              <a:t>and  </a:t>
            </a:r>
            <a:r>
              <a:rPr lang="en-US" altLang="en-US" dirty="0">
                <a:latin typeface="Candara" panose="020E0502030303020204" pitchFamily="34" charset="0"/>
              </a:rPr>
              <a:t>Snowflake </a:t>
            </a:r>
            <a:r>
              <a:rPr lang="en-US" altLang="en-US" dirty="0" smtClean="0">
                <a:latin typeface="Candara" panose="020E0502030303020204" pitchFamily="34" charset="0"/>
              </a:rPr>
              <a:t>Schema 1</a:t>
            </a:r>
            <a:r>
              <a:rPr lang="en-US" altLang="en-US" baseline="30000" dirty="0" smtClean="0">
                <a:latin typeface="Candara" panose="020E0502030303020204" pitchFamily="34" charset="0"/>
              </a:rPr>
              <a:t>st</a:t>
            </a:r>
            <a:r>
              <a:rPr lang="en-US" altLang="en-US" dirty="0" smtClean="0">
                <a:latin typeface="Candara" panose="020E0502030303020204" pitchFamily="34" charset="0"/>
              </a:rPr>
              <a:t> we need to understand what is Fact Table and Dimension Table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9652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72" y="156919"/>
            <a:ext cx="11513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Fact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quantitative, measurable metrics and foreign keys, recording specific business events or transactions (e.g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., sales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revenue, quantity sold).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descriptive attributes and context about the facts, allowing users to filter, group, and label data (e.g., customer names, product categories, dates).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8" y="1674473"/>
            <a:ext cx="10599272" cy="48407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61052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ar Schema Still Matters | Modern Data Mode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69" y="1314169"/>
            <a:ext cx="66294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219" y="271146"/>
            <a:ext cx="1116944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Schema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840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100" y="283530"/>
            <a:ext cx="5359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100" dirty="0">
              <a:latin typeface="Candara" panose="020E05020303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652862"/>
            <a:ext cx="6055360" cy="580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572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22656" y="821803"/>
            <a:ext cx="2189544" cy="4058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66452" y="2825881"/>
            <a:ext cx="1694033" cy="3092370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5361" y="129167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81692" y="857415"/>
            <a:ext cx="4715268" cy="4852506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622656" y="857414"/>
            <a:ext cx="2189544" cy="4058331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5647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68" y="428263"/>
            <a:ext cx="171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Dax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950" y="1149411"/>
            <a:ext cx="62795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There are more than 200 DAX functions. Some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importat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as </a:t>
            </a:r>
            <a:r>
              <a:rPr lang="en-US" altLang="en-US" dirty="0" smtClean="0">
                <a:latin typeface="Candara" panose="020E0502030303020204" pitchFamily="34" charset="0"/>
              </a:rPr>
              <a:t>below.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 help creating calculations based on dates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 manipulate table and filter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34175" y="1689627"/>
            <a:ext cx="5105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SUM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AVERAGE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MAX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COUNT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CALENDAR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DATEVALUE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DAY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MONTH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YEAR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CALCULATE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ALLEXCEPT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RELATED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ISBLANK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ISERROR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ISTEXT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USERNAME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AND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NOT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IF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SWITCH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24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93" y="2159238"/>
            <a:ext cx="90514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Total_Sales 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= SUM(Sales[Amount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IN" smtClean="0">
                <a:latin typeface="Courier New" panose="02070309020205020404" pitchFamily="49" charset="0"/>
                <a:cs typeface="Courier New" panose="02070309020205020404" pitchFamily="49" charset="0"/>
              </a:rPr>
              <a:t>= COUNT(Sales[OrderID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Average_Price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AVERAGE(Products[Price])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DISTINCTCOUNT(Data[Beverage Brand])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Profit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Margin %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DIVIDE([Profit], [Total Revenue])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484" y="636242"/>
            <a:ext cx="93701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521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631" y="450277"/>
            <a:ext cx="864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 help creating calculations based on dates and time.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13123"/>
              </p:ext>
            </p:extLst>
          </p:nvPr>
        </p:nvGraphicFramePr>
        <p:xfrm>
          <a:off x="785196" y="1443235"/>
          <a:ext cx="8890649" cy="4526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41350">
                  <a:extLst>
                    <a:ext uri="{9D8B030D-6E8A-4147-A177-3AD203B41FA5}">
                      <a16:colId xmlns:a16="http://schemas.microsoft.com/office/drawing/2014/main" val="2391616480"/>
                    </a:ext>
                  </a:extLst>
                </a:gridCol>
                <a:gridCol w="7249299">
                  <a:extLst>
                    <a:ext uri="{9D8B030D-6E8A-4147-A177-3AD203B41FA5}">
                      <a16:colId xmlns:a16="http://schemas.microsoft.com/office/drawing/2014/main" val="300847146"/>
                    </a:ext>
                  </a:extLst>
                </a:gridCol>
              </a:tblGrid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TargetDate = DATE(2026, 06, 02)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6991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DATEDIFF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DaysPassed = DATEDIFF(OrderDate, ShipDate, DAY)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5482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ConvertedDate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DATEVALUE("2026-06-02")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6063242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DAY(Sales[InvoiceDate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660780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TwoMonthsLater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17446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MonthEnd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626328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OrderHour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279193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OrderMinute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8599956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81052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CurrentTimestamp = NOW()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26398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CurrentQuarter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48723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OrderSecond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66069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ShiftStart = TIME(9, 0, 0)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8903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ConvertedTime = TIMEVALUE("13:30:00")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35888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CurrentDate = TODAY()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423979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976814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WeekOfYear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2867244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7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747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77181"/>
              </p:ext>
            </p:extLst>
          </p:nvPr>
        </p:nvGraphicFramePr>
        <p:xfrm>
          <a:off x="559414" y="1961537"/>
          <a:ext cx="10167580" cy="29052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60182">
                  <a:extLst>
                    <a:ext uri="{9D8B030D-6E8A-4147-A177-3AD203B41FA5}">
                      <a16:colId xmlns:a16="http://schemas.microsoft.com/office/drawing/2014/main" val="571751960"/>
                    </a:ext>
                  </a:extLst>
                </a:gridCol>
                <a:gridCol w="7207398">
                  <a:extLst>
                    <a:ext uri="{9D8B030D-6E8A-4147-A177-3AD203B41FA5}">
                      <a16:colId xmlns:a16="http://schemas.microsoft.com/office/drawing/2014/main" val="2217835914"/>
                    </a:ext>
                  </a:extLst>
                </a:gridCol>
              </a:tblGrid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ISBLANK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ISBLANK(Sales[Discount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119593"/>
                  </a:ext>
                </a:extLst>
              </a:tr>
              <a:tr h="40468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ISERROR(Sales[TotalAmount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Sales[Quantity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05244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ISNUMBER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ISNUMBER(Sales[PostalCode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1129187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ISTEXT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ISTEXT(Sales[ProductCode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2217490"/>
                  </a:ext>
                </a:extLst>
              </a:tr>
              <a:tr h="28026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HASONEVALUE(Product[Category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911158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HASONEFILTER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HASONEFILTER(Product[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117437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NONBLANKROWCOUNT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RowCount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NONBLANKROWCOUNT(Customers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88260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CurrentUser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USERNAME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83929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USERPRINCIPALNAME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UserEmail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USERPRINCIPALNAME()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779321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2452" y="381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</a:t>
            </a:r>
            <a:endParaRPr lang="en-US" altLang="en-US" dirty="0">
              <a:solidFill>
                <a:schemeClr val="bg2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</p:txBody>
      </p:sp>
    </p:spTree>
    <p:extLst>
      <p:ext uri="{BB962C8B-B14F-4D97-AF65-F5344CB8AC3E}">
        <p14:creationId xmlns:p14="http://schemas.microsoft.com/office/powerpoint/2010/main" val="38323201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13" y="4207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</a:t>
            </a:r>
            <a:endParaRPr lang="en-US" altLang="en-US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4339"/>
              </p:ext>
            </p:extLst>
          </p:nvPr>
        </p:nvGraphicFramePr>
        <p:xfrm>
          <a:off x="283087" y="2013720"/>
          <a:ext cx="10394746" cy="2391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76746">
                  <a:extLst>
                    <a:ext uri="{9D8B030D-6E8A-4147-A177-3AD203B41FA5}">
                      <a16:colId xmlns:a16="http://schemas.microsoft.com/office/drawing/2014/main" val="56115187"/>
                    </a:ext>
                  </a:extLst>
                </a:gridCol>
                <a:gridCol w="9318000">
                  <a:extLst>
                    <a:ext uri="{9D8B030D-6E8A-4147-A177-3AD203B41FA5}">
                      <a16:colId xmlns:a16="http://schemas.microsoft.com/office/drawing/2014/main" val="1675222765"/>
                    </a:ext>
                  </a:extLst>
                </a:gridCol>
              </a:tblGrid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Sales[Region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615441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OR(Sales[Quantity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Sales[Discount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0.1)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279770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NOT(Sales[Status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"Cancelled")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1206019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&gt;= 500, "High Value", "Standard")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078976"/>
                  </a:ext>
                </a:extLst>
              </a:tr>
              <a:tr h="3795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SWITCH(Sales[RegionCode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1, "North", 2, "South", 3, "East", 4, "West", "Unknown")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47507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IFERROR(Sales[Revenue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Sales[Units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176249"/>
                  </a:ext>
                </a:extLst>
              </a:tr>
              <a:tr h="20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COALESCE(Sales[AltPhone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Sales[HomePhone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"No Number")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635867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SetFalse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FALSE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343742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SetTrue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TRUE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35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050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55035"/>
              </p:ext>
            </p:extLst>
          </p:nvPr>
        </p:nvGraphicFramePr>
        <p:xfrm>
          <a:off x="175134" y="1795409"/>
          <a:ext cx="11830053" cy="1925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16991">
                  <a:extLst>
                    <a:ext uri="{9D8B030D-6E8A-4147-A177-3AD203B41FA5}">
                      <a16:colId xmlns:a16="http://schemas.microsoft.com/office/drawing/2014/main" val="2230006388"/>
                    </a:ext>
                  </a:extLst>
                </a:gridCol>
                <a:gridCol w="10013062">
                  <a:extLst>
                    <a:ext uri="{9D8B030D-6E8A-4147-A177-3AD203B41FA5}">
                      <a16:colId xmlns:a16="http://schemas.microsoft.com/office/drawing/2014/main" val="229815961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Orders[Region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3549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US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FILTER(Orders, 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1000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FILTER(Orders, Orders[Category] = “</a:t>
                      </a:r>
                      <a:r>
                        <a:rPr lang="en-IN" sz="13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Furntiture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2911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/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ALL(Sales))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81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ALLEXCEPT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ALLEXCEPT(Geography, Geography[State]))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910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ALLSELECTED(Orders))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821517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RELATED(Product[Price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378999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44129" y="4117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</a:t>
            </a:r>
            <a:r>
              <a:rPr lang="en-US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&amp; Calculate functions</a:t>
            </a: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functions manipulate table and filter contexts.</a:t>
            </a:r>
          </a:p>
        </p:txBody>
      </p:sp>
    </p:spTree>
    <p:extLst>
      <p:ext uri="{BB962C8B-B14F-4D97-AF65-F5344CB8AC3E}">
        <p14:creationId xmlns:p14="http://schemas.microsoft.com/office/powerpoint/2010/main" val="22062409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225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129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999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2989</TotalTime>
  <Words>907</Words>
  <Application>Microsoft Office PowerPoint</Application>
  <PresentationFormat>Widescreen</PresentationFormat>
  <Paragraphs>185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Candara</vt:lpstr>
      <vt:lpstr>Century Gothic</vt:lpstr>
      <vt:lpstr>Courier New</vt:lpstr>
      <vt:lpstr>Wingdings 3</vt:lpstr>
      <vt:lpstr>Ion</vt:lpstr>
      <vt:lpstr>Power bi is Business Intelligence tool</vt:lpstr>
      <vt:lpstr>PowerPoint Presentation</vt:lpstr>
      <vt:lpstr>PowerPoint Presentation</vt:lpstr>
      <vt:lpstr>Features Cost is cheapest Data connectivity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60</cp:revision>
  <dcterms:created xsi:type="dcterms:W3CDTF">2026-05-12T10:34:27Z</dcterms:created>
  <dcterms:modified xsi:type="dcterms:W3CDTF">2026-08-04T10:56:48Z</dcterms:modified>
</cp:coreProperties>
</file>