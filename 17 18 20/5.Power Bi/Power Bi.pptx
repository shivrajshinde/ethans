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6"/>
  </p:notesMasterIdLst>
  <p:sldIdLst>
    <p:sldId id="291" r:id="rId2"/>
    <p:sldId id="256" r:id="rId3"/>
    <p:sldId id="285" r:id="rId4"/>
    <p:sldId id="292" r:id="rId5"/>
    <p:sldId id="257" r:id="rId6"/>
    <p:sldId id="259" r:id="rId7"/>
    <p:sldId id="258" r:id="rId8"/>
    <p:sldId id="260" r:id="rId9"/>
    <p:sldId id="261" r:id="rId10"/>
    <p:sldId id="263" r:id="rId11"/>
    <p:sldId id="264" r:id="rId12"/>
    <p:sldId id="265" r:id="rId13"/>
    <p:sldId id="266" r:id="rId14"/>
    <p:sldId id="284" r:id="rId15"/>
    <p:sldId id="267" r:id="rId16"/>
    <p:sldId id="268" r:id="rId17"/>
    <p:sldId id="274" r:id="rId18"/>
    <p:sldId id="275" r:id="rId19"/>
    <p:sldId id="276" r:id="rId20"/>
    <p:sldId id="28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7773B0-9C71-4C42-839B-CED3341CD232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F19E2E-A086-4A91-BA90-9CB5CDABE96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309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F19E2E-A086-4A91-BA90-9CB5CDABE961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9951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1173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3819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5781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62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1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433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882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57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9363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824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30440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04701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759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8389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3539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2120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4184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43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Power bi is </a:t>
            </a:r>
            <a:r>
              <a:rPr lang="en-US" sz="2400" dirty="0" smtClean="0"/>
              <a:t>Business Intelligence tool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90990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494938" y="513288"/>
            <a:ext cx="564502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Query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PowerPivot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View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BI Service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66580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fference Between Power BI and Tableau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501" y="1542208"/>
            <a:ext cx="10770571" cy="4441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643812" y="447869"/>
            <a:ext cx="139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Growth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136260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111" y="452717"/>
            <a:ext cx="9404723" cy="3316849"/>
          </a:xfrm>
        </p:spPr>
        <p:txBody>
          <a:bodyPr/>
          <a:lstStyle/>
          <a:p>
            <a:r>
              <a:rPr lang="en-US" dirty="0" smtClean="0"/>
              <a:t>Features</a:t>
            </a:r>
            <a:br>
              <a:rPr lang="en-US" dirty="0" smtClean="0"/>
            </a:br>
            <a:r>
              <a:rPr lang="en-US" dirty="0" smtClean="0"/>
              <a:t>Cost is cheapest</a:t>
            </a:r>
            <a:br>
              <a:rPr lang="en-US" dirty="0" smtClean="0"/>
            </a:br>
            <a:r>
              <a:rPr lang="en-US" dirty="0" smtClean="0"/>
              <a:t>Data connectivity</a:t>
            </a:r>
            <a:br>
              <a:rPr lang="en-US" dirty="0" smtClean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6235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5152" y="4226767"/>
            <a:ext cx="54868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Power Bi Desktop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Report view(VIEW)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Table View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	Power query(Transformation)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Modelling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DAX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endParaRPr lang="en-US" dirty="0" smtClean="0">
              <a:latin typeface="Candara" panose="020E0502030303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4286" y="488302"/>
            <a:ext cx="3554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Power Bi Desktop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Developer Application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Power Bi Services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	Deploy the reports</a:t>
            </a:r>
          </a:p>
          <a:p>
            <a:endParaRPr lang="en-US" dirty="0">
              <a:latin typeface="Candara" panose="020E0502030303020204" pitchFamily="34" charset="0"/>
            </a:endParaRPr>
          </a:p>
          <a:p>
            <a:r>
              <a:rPr lang="en-US" dirty="0" smtClean="0">
                <a:latin typeface="Candara" panose="020E0502030303020204" pitchFamily="34" charset="0"/>
              </a:rPr>
              <a:t>Power Bi Mobile</a:t>
            </a:r>
          </a:p>
          <a:p>
            <a:endParaRPr lang="en-IN" dirty="0">
              <a:latin typeface="Candara" panose="020E0502030303020204" pitchFamily="34" charset="0"/>
            </a:endParaRPr>
          </a:p>
        </p:txBody>
      </p:sp>
      <p:pic>
        <p:nvPicPr>
          <p:cNvPr id="1026" name="Picture 2" descr="Managing Active vs. Inactive Relationships | Power BI - GeeksforGeek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9746" y="1257235"/>
            <a:ext cx="6635297" cy="3467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130569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43" y="243840"/>
            <a:ext cx="11796793" cy="6244810"/>
          </a:xfrm>
          <a:prstGeom prst="rect">
            <a:avLst/>
          </a:prstGeom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455334" y="1162629"/>
            <a:ext cx="10954139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Report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(Bar chart icon): Used to create and view your report visualizations.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Table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(Grid icon): Used to view and manage the data within your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Model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(Relationship diagram icon): Used to manage relationships between different data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DAX Query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(Document icon with "DAX"): Used to write and run DAX (Data Analysis Expressions) queries.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TMDL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(Document icon with "TMDL"): Used for working with Tabular Model Definition Language files.</a:t>
            </a:r>
          </a:p>
        </p:txBody>
      </p:sp>
    </p:spTree>
    <p:extLst>
      <p:ext uri="{BB962C8B-B14F-4D97-AF65-F5344CB8AC3E}">
        <p14:creationId xmlns:p14="http://schemas.microsoft.com/office/powerpoint/2010/main" val="337047136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2" y="251926"/>
            <a:ext cx="10470520" cy="344468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262" y="2996812"/>
            <a:ext cx="7535258" cy="326868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611333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21" y="105312"/>
            <a:ext cx="9871787" cy="64578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334161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65" y="345232"/>
            <a:ext cx="13427604" cy="57688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7615594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64" y="712060"/>
            <a:ext cx="11347673" cy="593133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270588" y="16795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Model View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544380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65" y="662473"/>
            <a:ext cx="11796782" cy="737679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233265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Data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9043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22" y="653143"/>
            <a:ext cx="11829127" cy="61377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7722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DAX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67530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33" y="780243"/>
            <a:ext cx="14616427" cy="42447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287722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Transform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47257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578123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27" y="810212"/>
            <a:ext cx="14364945" cy="352074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251927" y="177282"/>
            <a:ext cx="151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Power Query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457053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1886" y="475861"/>
            <a:ext cx="311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Data Modelling</a:t>
            </a:r>
            <a:endParaRPr lang="en-IN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91886" y="1168459"/>
            <a:ext cx="8265518" cy="28161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Relationships</a:t>
            </a:r>
            <a:r>
              <a:rPr lang="en-US" altLang="en-US" b="1" dirty="0">
                <a:latin typeface="Candara" panose="020E0502030303020204" pitchFamily="34" charset="0"/>
              </a:rPr>
              <a:t> Cardinality &amp; Cross Filter Direction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: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	Star Schema vs. Snowflake Schema: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Structural organization of Fact and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Dimension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	Creating &amp; Managing Relationships: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Active vs. inactive relationship paths.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	Date Table Creation: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Generating continuous calendar dimensions for Time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Intelligence functions.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Hierarchies: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Parent-child drill-down paths (e.g., Year &gt; Quarter &gt; Month &gt; Day).</a:t>
            </a:r>
          </a:p>
        </p:txBody>
      </p:sp>
    </p:spTree>
    <p:extLst>
      <p:ext uri="{BB962C8B-B14F-4D97-AF65-F5344CB8AC3E}">
        <p14:creationId xmlns:p14="http://schemas.microsoft.com/office/powerpoint/2010/main" val="317070919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3793" y="175823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Candara" panose="020E0502030303020204" pitchFamily="34" charset="0"/>
              </a:rPr>
              <a:t>Relationships</a:t>
            </a:r>
            <a:r>
              <a:rPr lang="en-US" altLang="en-US" b="1" dirty="0" smtClean="0">
                <a:latin typeface="Candara" panose="020E0502030303020204" pitchFamily="34" charset="0"/>
              </a:rPr>
              <a:t>:</a:t>
            </a:r>
            <a:endParaRPr lang="en-US" altLang="en-US" dirty="0">
              <a:latin typeface="Candara" panose="020E0502030303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19823" y="750011"/>
            <a:ext cx="15824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 smtClean="0">
                <a:latin typeface="Candara" panose="020E0502030303020204" pitchFamily="34" charset="0"/>
              </a:rPr>
              <a:t>One-to-many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One to One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Many to Many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488" y="1211676"/>
            <a:ext cx="6696269" cy="34258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719823" y="2654398"/>
            <a:ext cx="1451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latin typeface="Candara" panose="020E0502030303020204" pitchFamily="34" charset="0"/>
              </a:rPr>
              <a:t>One-to-many</a:t>
            </a:r>
          </a:p>
        </p:txBody>
      </p:sp>
    </p:spTree>
    <p:extLst>
      <p:ext uri="{BB962C8B-B14F-4D97-AF65-F5344CB8AC3E}">
        <p14:creationId xmlns:p14="http://schemas.microsoft.com/office/powerpoint/2010/main" val="368120211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954" y="1280501"/>
            <a:ext cx="9412617" cy="38224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Rectangle 2"/>
          <p:cNvSpPr/>
          <p:nvPr/>
        </p:nvSpPr>
        <p:spPr>
          <a:xfrm>
            <a:off x="454352" y="373314"/>
            <a:ext cx="13195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 smtClean="0">
                <a:latin typeface="Candara" panose="020E0502030303020204" pitchFamily="34" charset="0"/>
              </a:rPr>
              <a:t>One-to-One</a:t>
            </a:r>
            <a:endParaRPr lang="en-US" alt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702006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l="807"/>
          <a:stretch/>
        </p:blipFill>
        <p:spPr>
          <a:xfrm>
            <a:off x="2143433" y="1392032"/>
            <a:ext cx="9674942" cy="507682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Rectangle 3"/>
          <p:cNvSpPr/>
          <p:nvPr/>
        </p:nvSpPr>
        <p:spPr>
          <a:xfrm>
            <a:off x="427958" y="225831"/>
            <a:ext cx="15824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ndara" panose="020E0502030303020204" pitchFamily="34" charset="0"/>
              </a:rPr>
              <a:t>Many to Many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994514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96644" y="1896468"/>
            <a:ext cx="11169445" cy="11387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b="1" dirty="0">
                <a:latin typeface="Candara" panose="020E0502030303020204" pitchFamily="34" charset="0"/>
              </a:rPr>
              <a:t>Star Schema vs. Snowflake Schema</a:t>
            </a:r>
            <a:r>
              <a:rPr lang="en-US" altLang="en-US" sz="3200" b="1" dirty="0" smtClean="0">
                <a:latin typeface="Candara" panose="020E0502030303020204" pitchFamily="34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 smtClean="0">
                <a:latin typeface="Candara" panose="020E0502030303020204" pitchFamily="34" charset="0"/>
              </a:rPr>
              <a:t>Before we go for </a:t>
            </a:r>
            <a:r>
              <a:rPr lang="en-US" altLang="en-US" dirty="0">
                <a:latin typeface="Candara" panose="020E0502030303020204" pitchFamily="34" charset="0"/>
              </a:rPr>
              <a:t>Star Schema </a:t>
            </a:r>
            <a:r>
              <a:rPr lang="en-US" altLang="en-US" dirty="0" smtClean="0">
                <a:latin typeface="Candara" panose="020E0502030303020204" pitchFamily="34" charset="0"/>
              </a:rPr>
              <a:t>and  </a:t>
            </a:r>
            <a:r>
              <a:rPr lang="en-US" altLang="en-US" dirty="0">
                <a:latin typeface="Candara" panose="020E0502030303020204" pitchFamily="34" charset="0"/>
              </a:rPr>
              <a:t>Snowflake </a:t>
            </a:r>
            <a:r>
              <a:rPr lang="en-US" altLang="en-US" dirty="0" smtClean="0">
                <a:latin typeface="Candara" panose="020E0502030303020204" pitchFamily="34" charset="0"/>
              </a:rPr>
              <a:t>Schema 1</a:t>
            </a:r>
            <a:r>
              <a:rPr lang="en-US" altLang="en-US" baseline="30000" dirty="0" smtClean="0">
                <a:latin typeface="Candara" panose="020E0502030303020204" pitchFamily="34" charset="0"/>
              </a:rPr>
              <a:t>st</a:t>
            </a:r>
            <a:r>
              <a:rPr lang="en-US" altLang="en-US" dirty="0" smtClean="0">
                <a:latin typeface="Candara" panose="020E0502030303020204" pitchFamily="34" charset="0"/>
              </a:rPr>
              <a:t> we need to understand what is Fact Table and Dimension Table</a:t>
            </a:r>
            <a:endParaRPr lang="en-US" alt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196528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98372" y="156919"/>
            <a:ext cx="1151352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Fact Table: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Stores quantitative, measurable metrics and foreign keys, recording specific business events or transactions (e.g</a:t>
            </a:r>
            <a:r>
              <a:rPr kumimoji="0" lang="en-US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., sales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revenue, quantity sold).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Dimension Table: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Stores descriptive attributes and context about the facts, allowing users to filter, group, and label data (e.g., customer names, product categories, dates).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28" y="1674473"/>
            <a:ext cx="10599272" cy="48407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610523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tar Schema Still Matters | Modern Data Modeli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4669" y="1314169"/>
            <a:ext cx="6629400" cy="537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208219" y="271146"/>
            <a:ext cx="11169445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b="1" dirty="0">
                <a:latin typeface="Candara" panose="020E0502030303020204" pitchFamily="34" charset="0"/>
              </a:rPr>
              <a:t>Star </a:t>
            </a:r>
            <a:r>
              <a:rPr lang="en-US" altLang="en-US" sz="3200" b="1" dirty="0" smtClean="0">
                <a:latin typeface="Candara" panose="020E0502030303020204" pitchFamily="34" charset="0"/>
              </a:rPr>
              <a:t>Schema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 smtClean="0">
                <a:latin typeface="Candara" panose="020E0502030303020204" pitchFamily="34" charset="0"/>
              </a:rPr>
              <a:t>Every Dimension table is connected to the Fact Table.</a:t>
            </a:r>
            <a:endParaRPr lang="en-US" altLang="en-US" sz="1200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278408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7100" y="283530"/>
            <a:ext cx="53597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andara" panose="020E0502030303020204" pitchFamily="34" charset="0"/>
              </a:rPr>
              <a:t>Every Dimension table is connected to the Fact Table.</a:t>
            </a:r>
            <a:endParaRPr lang="en-US" altLang="en-US" sz="1100" dirty="0">
              <a:latin typeface="Candara" panose="020E0502030303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520" y="652862"/>
            <a:ext cx="6055360" cy="580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55728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33425"/>
            <a:ext cx="9753600" cy="53911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22656" y="821803"/>
            <a:ext cx="2189544" cy="405833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8866452" y="2825881"/>
            <a:ext cx="1694033" cy="3092370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345361" y="129167"/>
            <a:ext cx="2114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b="1" dirty="0">
                <a:latin typeface="Candara" panose="020E0502030303020204" pitchFamily="34" charset="0"/>
              </a:rPr>
              <a:t>Snowflake Schema:</a:t>
            </a:r>
            <a:endParaRPr lang="en-IN" dirty="0"/>
          </a:p>
        </p:txBody>
      </p:sp>
      <p:sp>
        <p:nvSpPr>
          <p:cNvPr id="9" name="Rectangle 8"/>
          <p:cNvSpPr/>
          <p:nvPr/>
        </p:nvSpPr>
        <p:spPr>
          <a:xfrm>
            <a:off x="3981692" y="857415"/>
            <a:ext cx="4715268" cy="4852506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1622656" y="857414"/>
            <a:ext cx="2189544" cy="405833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356470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10" grpId="0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3100</TotalTime>
  <Words>257</Words>
  <Application>Microsoft Office PowerPoint</Application>
  <PresentationFormat>Widescreen</PresentationFormat>
  <Paragraphs>61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Candara</vt:lpstr>
      <vt:lpstr>Century Gothic</vt:lpstr>
      <vt:lpstr>Wingdings 3</vt:lpstr>
      <vt:lpstr>Ion</vt:lpstr>
      <vt:lpstr>Power bi is Business Intelligence tool</vt:lpstr>
      <vt:lpstr>PowerPoint Presentation</vt:lpstr>
      <vt:lpstr>PowerPoint Presentation</vt:lpstr>
      <vt:lpstr>Features Cost is cheapest Data connectivity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SHIVRAJ SHINDE</dc:creator>
  <cp:lastModifiedBy>SHIVRAJ SHINDE</cp:lastModifiedBy>
  <cp:revision>66</cp:revision>
  <dcterms:created xsi:type="dcterms:W3CDTF">2026-05-12T10:34:27Z</dcterms:created>
  <dcterms:modified xsi:type="dcterms:W3CDTF">2026-08-18T10:25:17Z</dcterms:modified>
</cp:coreProperties>
</file>